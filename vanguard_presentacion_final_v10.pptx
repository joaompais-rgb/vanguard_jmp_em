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l reto" id="{58f64df7-50f4-004f-6ecb-b0b2aede7724}">
          <p14:sldIdLst>
            <p14:sldId id="256"/>
            <p14:sldId id="257"/>
            <p14:sldId id="258"/>
            <p14:sldId id="259"/>
            <p14:sldId id="260"/>
          </p14:sldIdLst>
        </p14:section>
        <p14:section name="Los datos" id="{92a247bb-bdb5-aee4-576d-a4ecdccdc128}">
          <p14:sldIdLst>
            <p14:sldId id="261"/>
            <p14:sldId id="262"/>
            <p14:sldId id="263"/>
          </p14:sldIdLst>
        </p14:section>
        <p14:section name="Qué pasó" id="{30c04ee6-069e-0300-7329-c1e384103c28}">
          <p14:sldIdLst>
            <p14:sldId id="264"/>
            <p14:sldId id="265"/>
            <p14:sldId id="266"/>
          </p14:sldIdLst>
        </p14:section>
        <p14:section name="¿Es real?" id="{a625f3fa-2015-68f5-32a2-4f397966ed8a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Qué hacer" id="{d7ba3bfb-717d-7c53-aaca-f3cf3646f602}">
          <p14:sldIdLst>
            <p14:sldId id="275"/>
            <p14:sldId id="276"/>
            <p14:sldId id="277"/>
            <p14:sldId id="278"/>
            <p14:sldId id="279"/>
          </p14:sldIdLst>
        </p14:section>
        <p14:section name="Anexos" id="{d0e33ad6-4470-3c53-72ce-56ff3735aced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6C9BD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5F7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start</c:v>
                  </c:pt>
                  <c:pt idx="1">
                    <c:v>step_1</c:v>
                  </c:pt>
                  <c:pt idx="2">
                    <c:v>step_2</c:v>
                  </c:pt>
                  <c:pt idx="3">
                    <c:v>step_3</c:v>
                  </c:pt>
                  <c:pt idx="4">
                    <c:v>confirm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99.4</c:v>
                </c:pt>
                <c:pt idx="1">
                  <c:v>85.6</c:v>
                </c:pt>
                <c:pt idx="2">
                  <c:v>79.2</c:v>
                </c:pt>
                <c:pt idx="3">
                  <c:v>74</c:v>
                </c:pt>
                <c:pt idx="4">
                  <c:v>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5F7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start</c:v>
                  </c:pt>
                  <c:pt idx="1">
                    <c:v>step_1</c:v>
                  </c:pt>
                  <c:pt idx="2">
                    <c:v>step_2</c:v>
                  </c:pt>
                  <c:pt idx="3">
                    <c:v>step_3</c:v>
                  </c:pt>
                  <c:pt idx="4">
                    <c:v>confirm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98.9</c:v>
                </c:pt>
                <c:pt idx="1">
                  <c:v>90</c:v>
                </c:pt>
                <c:pt idx="2">
                  <c:v>82.5</c:v>
                </c:pt>
                <c:pt idx="3">
                  <c:v>77.4</c:v>
                </c:pt>
                <c:pt idx="4">
                  <c:v>69.3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F5F7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B57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AA8B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1E2E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9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F5F7F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F28E2B"/>
            </a:solidFill>
            <a:ln w="381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5F7F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13/03</c:v>
                  </c:pt>
                  <c:pt idx="1">
                    <c:v>20/03</c:v>
                  </c:pt>
                  <c:pt idx="2">
                    <c:v>27/03</c:v>
                  </c:pt>
                  <c:pt idx="3">
                    <c:v>03/04</c:v>
                  </c:pt>
                  <c:pt idx="4">
                    <c:v>10/04</c:v>
                  </c:pt>
                  <c:pt idx="5">
                    <c:v>17/04</c:v>
                  </c:pt>
                  <c:pt idx="6">
                    <c:v>24/04</c:v>
                  </c:pt>
                  <c:pt idx="7">
                    <c:v>01/05</c:v>
                  </c:pt>
                  <c:pt idx="8">
                    <c:v>08/05</c:v>
                  </c:pt>
                  <c:pt idx="9">
                    <c:v>15/05</c:v>
                  </c:pt>
                  <c:pt idx="10">
                    <c:v>22/05</c:v>
                  </c:pt>
                  <c:pt idx="11">
                    <c:v>29/05</c:v>
                  </c:pt>
                  <c:pt idx="12">
                    <c:v>05/06</c:v>
                  </c:pt>
                  <c:pt idx="13">
                    <c:v>12/06</c:v>
                  </c:pt>
                  <c:pt idx="14">
                    <c:v>19/06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54.4</c:v>
                </c:pt>
                <c:pt idx="1">
                  <c:v>54.8</c:v>
                </c:pt>
                <c:pt idx="2">
                  <c:v>55.5</c:v>
                </c:pt>
                <c:pt idx="3">
                  <c:v>53</c:v>
                </c:pt>
                <c:pt idx="4">
                  <c:v>56.5</c:v>
                </c:pt>
                <c:pt idx="5">
                  <c:v>56.5</c:v>
                </c:pt>
                <c:pt idx="6">
                  <c:v>56.3</c:v>
                </c:pt>
                <c:pt idx="7">
                  <c:v>57.9</c:v>
                </c:pt>
                <c:pt idx="8">
                  <c:v>49.3</c:v>
                </c:pt>
                <c:pt idx="9">
                  <c:v>45.3</c:v>
                </c:pt>
                <c:pt idx="10">
                  <c:v>45.3</c:v>
                </c:pt>
                <c:pt idx="11">
                  <c:v>47.7</c:v>
                </c:pt>
                <c:pt idx="12">
                  <c:v>48.2</c:v>
                </c:pt>
                <c:pt idx="13">
                  <c:v>45.4</c:v>
                </c:pt>
                <c:pt idx="14">
                  <c:v>44.3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6C9BD2"/>
            </a:solidFill>
            <a:ln w="38100" cap="flat">
              <a:solidFill>
                <a:srgbClr val="6C9BD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5F7F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C9BD2"/>
              </a:solidFill>
              <a:ln w="9525" cap="flat">
                <a:solidFill>
                  <a:srgbClr val="6C9BD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13/03</c:v>
                  </c:pt>
                  <c:pt idx="1">
                    <c:v>20/03</c:v>
                  </c:pt>
                  <c:pt idx="2">
                    <c:v>27/03</c:v>
                  </c:pt>
                  <c:pt idx="3">
                    <c:v>03/04</c:v>
                  </c:pt>
                  <c:pt idx="4">
                    <c:v>10/04</c:v>
                  </c:pt>
                  <c:pt idx="5">
                    <c:v>17/04</c:v>
                  </c:pt>
                  <c:pt idx="6">
                    <c:v>24/04</c:v>
                  </c:pt>
                  <c:pt idx="7">
                    <c:v>01/05</c:v>
                  </c:pt>
                  <c:pt idx="8">
                    <c:v>08/05</c:v>
                  </c:pt>
                  <c:pt idx="9">
                    <c:v>15/05</c:v>
                  </c:pt>
                  <c:pt idx="10">
                    <c:v>22/05</c:v>
                  </c:pt>
                  <c:pt idx="11">
                    <c:v>29/05</c:v>
                  </c:pt>
                  <c:pt idx="12">
                    <c:v>05/06</c:v>
                  </c:pt>
                  <c:pt idx="13">
                    <c:v>12/06</c:v>
                  </c:pt>
                  <c:pt idx="14">
                    <c:v>19/06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45.6</c:v>
                </c:pt>
                <c:pt idx="1">
                  <c:v>45.2</c:v>
                </c:pt>
                <c:pt idx="2">
                  <c:v>44.5</c:v>
                </c:pt>
                <c:pt idx="3">
                  <c:v>47</c:v>
                </c:pt>
                <c:pt idx="4">
                  <c:v>43.5</c:v>
                </c:pt>
                <c:pt idx="5">
                  <c:v>43.5</c:v>
                </c:pt>
                <c:pt idx="6">
                  <c:v>43.7</c:v>
                </c:pt>
                <c:pt idx="7">
                  <c:v>42.1</c:v>
                </c:pt>
                <c:pt idx="8">
                  <c:v>50.7</c:v>
                </c:pt>
                <c:pt idx="9">
                  <c:v>54.7</c:v>
                </c:pt>
                <c:pt idx="10">
                  <c:v>54.7</c:v>
                </c:pt>
                <c:pt idx="11">
                  <c:v>52.3</c:v>
                </c:pt>
                <c:pt idx="12">
                  <c:v>51.8</c:v>
                </c:pt>
                <c:pt idx="13">
                  <c:v>54.6</c:v>
                </c:pt>
                <c:pt idx="14">
                  <c:v>55.7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F5F7F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B5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8B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40"/>
        </c:scaling>
        <c:delete val="0"/>
        <c:axPos val="l"/>
        <c:majorGridlines>
          <c:spPr>
            <a:ln w="9525" cap="flat">
              <a:solidFill>
                <a:srgbClr val="1E2E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9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F5F7F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0:20
QUÉ DECIR: «Vanguard cambió el diseño de su proceso online y lo probó con un test A/B con más de 50.000 clientes. Nuestra pregunta es sencilla: ¿el nuevo diseño vale lo que cuesta? En diez minutos os damos la respuesta y lo que recomendamos hacer.»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0:15
QUÉ DECIR: «Con el diseño antiguo, uno de cada tres clientes que empezaba el proceso online no llegaba al final. Vanguard lo rediseñó y lo probó con un test A/B. La pregunta es: ¿funcionó, y lo suficiente como para pagar lo que cuesta?»
DATO: en el grupo Control completa el 65,6 %, así que no completa el 34,4 %.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0:35
QUÉ DECIR: «Todos los clientes pasan por los mismos cinco pasos, de start a confirm. El grupo Control vio el diseño antiguo y el grupo Test, el nuevo, que es más moderno y da avisos dentro de cada paso. Vanguard solo lo considera rentable si la tasa de finalización sube al menos un 5 %. Esa es la vara de medir de toda la presentación.»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0:30
QUÉ DECIR: «Vanguard nos hacía cuatro preguntas: quiénes son sus clientes, si el nuevo diseño hace que completen más, si lo bastante como para que compense, y si el experimento estaba bien hecho. Con la exploración de los datos formulamos estas hipótesis. Al final de la presentación volveremos a esta lista para ver cuáles se confirmaron.»
DE DÓNDE SALEN: las preguntas, del enunciado; las hipótesis, de preguntas.md (H1, H2 del enunciado; H3, H5, H6 y H7 de lo que vimos en las Partes 1 a 3; E de la evaluación del experimento).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0:40
QUÉ DECIR: «Esta es la respuesta en tres números. Uno: el nuevo diseño hace que terminen 3,7 puntos más de clientes, y no es casualidad. Dos: Vanguard pedía un 5 % para que compense, y eso no lo podemos afirmar. Tres: el nuevo diseño provoca más errores: un tercio de sus clientes vuelve atrás alguna vez. El resto de la presentación explica de dónde sale cada número.»
SI PREGUNTAN «¿qué es un error?»: un paso hacia atrás dentro de la misma visita, que es la definición del enunciado.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0:03
Separador: pasar sin detenerse.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0:30
QUÉ DECIR: «Trabajamos con tres tablas: el perfil de cada cliente, el grupo al que pertenece y cada clic en la web. Encontramos trece problemas de calidad y documentamos qué hicimos con cada uno. Los más importantes: 20.109 clientes no tenían grupo, así que no participaron en el test; había 10.764 clics repetidos; y dos columnas repetían información. Al final quedan 50.488 clientes y 317.135 clics.»
SI PREGUNTAN «¿por qué no rellenasteis el género que falta?»: no hay ninguna variable que lo explique; inventarlo metería un sesgo. Se deja como «Desconocido».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0:30
QUÉ DECIR: «¿Quién usa este proceso? Clientes de mediana edad y muy fieles: la mitad tiene más de 48 años y lleva más de 11 años en Vanguard. Esto importa, porque más adelante veremos que el nuevo diseño les cuesta más a los mayores. Tres de cada cuatro lo hacen en una sola visita, y el uso se concentra los miércoles por la mañana.»
DATO EXTRA: un 34 % de los clientes no tiene el género registrado; se cita como limitación.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0:03
Separador: pasar sin detenerse.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0:45
QUÉ DECIR: «Para medir si el diseño funciona elegimos tres KPI. Uno, la tasa de finalización: los clientes que llegan a confirm entre todos los del grupo. El Test gana: 69,3 % frente a 65,6 %, y el gráfico enseña que la ventaja nace en la primera pantalla: 4 puntos más pasan de start a step_1. Dos, el tiempo en cada paso: el Test es más rápido en todos los pasos menos en step_1. Tres, la tasa de errores, los pasos hacia atrás: aquí gana el Control, 7 % frente a 9 %.»
DEFINICIONES: un cliente completa si llega a confirm al menos una vez (D1); el tiempo es la mediana sin pausas de más de 30 minutos; un error es un paso hacia atrás dentro de la misma visita (fórmula del enunciado). Números exactos: errores 6,7 % frente a 9,2 %; en step_1, 90,0 % frente a 85,6 %.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0:45
QUÉ DECIR: «Este es el mapa de las vueltas atrás. Los cinco pasos están en el centro; cada arco es un cliente que vuelve de un paso a otro anterior, y cuanto más grueso, más veces pasa. Arriba, el diseño antiguo; abajo, el nuevo. Mirad el primer arco: de step_1 a start. Con el diseño nuevo se vuelve 6.372 veces, frente a 2.483: 2,6 veces más. Y step_1 es el único paso en el que el Test tarda más, 27 segundos frente a 20. En conjunto el nuevo diseño es más rápido, pero en step_1 algo confunde.»
CÓMO SE HIZO: un error es un paso hacia atrás dentro de la misma visita (definición del enunciado); el cruce «desde qué paso → a qué paso» sale de la Parte 3 (pd.crosstab).
— Aquí entra Emmanuel. 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0:03
Separador: aquí empieza Emmanuel.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1:10
QUÉ DECIR: «Ahora, la estadística. El punto naranja es la mejora que vimos: 3,7 puntos. La barra es su margen de error: con otros clientes podría salir entre 2,9 y 4,5. Tres preguntas.
H1: ¿el nuevo diseño completa más? Todo el margen está muy lejos del cero: sí, y no es casualidad, p menor que 0,0001.
H2: el enunciado no dice si el 5 % son puntos o relativo, así que hicimos las dos. Si es un 5 % relativo, el listón está en 3,3 puntos: lo superamos en la muestra, pero el margen lo cruza, así que no lo podemos afirmar (p = 0,16). Si son 5 puntos, todo el margen queda por debajo: no llega (p = 0,999).»
CÓMO SE HIZO: t de Welch (st.ttest_ind con equal_var=False) sobre una columna de 0 y 100 por cliente; también chi-cuadrado (V de Cramér 0,04: efecto real pero pequeño). Emmanuel lo planteó con un z de proporciones y da lo mismo: z = 8,89, t = 8,88.
SI PREGUNTAN «¿no rechazar H0 quiere decir que no funciona?»: no; quiere decir que no hemos demostrado que supere el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0:45
QUÉ DECIR: «¿A quién ayuda el nuevo diseño? Cada círculo es un tramo de edad. A la derecha, los que más mejoran en finalización; arriba, los que más se equivocan. Los menores de 30 están abajo a la derecha: ganan mucho, casi 7 puntos, sin perderse. Los de 45 a 59 están arriba a la izquierda: ganan poco y se pierden mucho. Y los de 60 o más ganan, pero son los que más errores tienen. El problema: los mayores de 45 son más de la mitad de los clientes de Vanguard.»
CÓMO SE HIZO: t de Welch dentro de cada tramo (H3 para la finalización, H7 para los clientes con algún error); todas significativas. Eje horizontal: Test − Control en % que completa; eje vertical: Test − Control en % de clientes con algún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0:35
QUÉ DECIR: «Para verlo con caras: Lucía tiene 28 años. Con el diseño nuevo completa el proceso el 74 % de las veces, casi 7 puntos más, y apenas se equivoca más. Antonio tiene 64. También termina más, del 60 al 65 %, pero los clientes como él con algún error pasan del 28 al 39 %, y sus pasos hacia atrás, del 7,6 al 11,4 %. El mismo diseño, dos experiencias muy distintas.»
IMPORTANTE: Lucía y Antonio son personas ilustrativas; los números son los reales de su tramo de edad (Parte 2 y Parte 3 del análisis).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0:45
QUÉ DECIR: «¿La ventaja se mantiene en el tiempo? No del todo. A la derecha: los clientes que entraron en marzo completan 5,2 puntos más con el nuevo diseño; los de junio, solo 0,5. Y la gráfica enseña algo más: en un buen test A/B, el reparto entre grupos es estable. Aquí, hasta el 1 de mayo el Test tenía más clientes, del 53 al 58 %, y desde el 8 de mayo las líneas se cruzan y pasa a tener menos. Como al principio todos completaban más, parte de la ventaja del Test puede venir del calendario. Por eso separamos por periodo: antes del 8 de mayo, +3,3 puntos; después, +1,7, que ya no es significativo.»
NOTA: junio tiene pocos clientes (3.707) y menos días para terminar antes del 20/6: no prueba un «efecto novedad», pero pide prudencia.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0:45
QUÉ DECIR: «¿Estaba bien hecho el experimento? En lo básico, sí. La aleatorización funcionó en lo importante: los dos grupos se parecen en edad, saldo, antigüedad y género. Pero el reparto fue 53/47. La duración: tres meses bastan para medir la diferencia con mucha precisión, pero no para saber si la ventaja dura, porque baja mes a mes. El sesgo más importante es que el reparto cambió el 8 de mayo. Y para decidir mejor nos faltan datos: cuánto vale cada proceso completado, el dispositivo, los mensajes de error reales y las campañas.»
DATOS: binomial para el 50/50 (53,4 % en el Test, p &lt; 0,0001); chi-cuadrado para el reparto semanal (p &lt; 0,0001); t de Welch para el perfil (E3). Margen de ±0,8 puntos = 2 errores típicos de 0,42.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0:35
QUÉ DECIR: «Volvemos a las hipótesis del principio. Se confirma lo importante: el nuevo diseño hace que más clientes terminen, ayuda más a unas edades que a otras, provoca más errores y les cuesta más a los mayores. Pero no podemos afirmar que llegue al 5 %, la ventaja no se mantiene en el tiempo y el reparto del experimento no fue el ideal. El experimento tiene cosas buenas, los dos grupos tienen el mismo perfil y las muestras son muy grandes, pero esa letra pequeña obliga a ser prudentes.»
CÓMO SE CONTRASTÓ: t de Welch para medias (H1, H2, H3, H5, H6, H7), binomial para el 50/50 y chi-cuadrado para el reparto semanal (E). Todas con α = 0,05; la tabla completa está en el anexo.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Emmanuel · 0:40
QUÉ DECIR: «Con Tableau miramos el test por grupo. A la izquierda, el embudo: las barras del Test son más altas porque ese grupo es más grande, así que lo que importa es el porcentaje que llega al final. En el centro y a la derecha, el perfil: los dos grupos se reparten igual por edad y por género, así que la comparación es justa. Abajo, los dos KPI calculados en Tableau: terminan el 66 % del Control y el 70 % del Test, pero el Test también tiene más errores, un 9 % frente a un 7 %.»
SI PREGUNTAN POR EL 70 %: en Tableau la tasa se divide entre los clientes que empiezan (65,96 % y 70,04 %); en Python, entre todos los clientes del grupo (65,6 % y 69,3 %). La diferencia entre grupos es la misma, unos 4 puntos.
DATOS: embudo = CONT de clientes por process_step y Grupo; edad y género = CONTD(client_id); Tasa finalización = CONTD(confirm) / CONTD(start); Porcentaje_error = SUMA(es_error) / CONT.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0:03
Separador: vuelve João.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0:40
QUÉ DECIR: «¿Qué significan 3,7 puntos en el mundo real? Durante el test, unos mil clientes más terminaron el proceso gracias al nuevo diseño. A escala, son 3.700 procesos más por cada 100.000 clientes. Así que la decisión es una cuenta: si cada proceso completado vale V euros para Vanguard, el rediseño se paga si cuesta menos de 3.700 por V. No tenemos V en los datos, y es lo primero que le preguntaríamos a Vanguard.»
CÁLCULO: 26.961 × (69,29 % − 65,58 %) = 1.001 clientes; 100.000 × 3,71 % = 3.713. Supone que la ventaja observada se mantiene, y vimos que baja con el tiempo: es una cota optimista.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0:45
QUÉ DECIR: «Nuestra recomendación: no lanzar el diseño tal cual. Funciona mejor que el antiguo, pero no hemos demostrado que compense. Proponemos cuatro pasos. Uno: arreglar step_1, que es donde se pierden. Dos: pensar en los clientes mayores, que son la mayoría. Tres: acordar con Vanguard qué significa el 5 % y cuánto vale cada proceso completado. Y cuatro: repetir un test corto, con un reparto 50/50 estable, para ver si la ventaja dura.»
IDEA EXTRA (no contrastada): recordar el proceso a medias a quien no termina en la primera visita, porque quien vuelve completa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0:40
QUÉ DECIR: «Sobre cómo trabajamos: Emmanuel hizo la base de la prueba de hipótesis, la primera evaluación y el Tableau; yo, la limpieza, la exploración, los KPI y los contrastes ampliados. Cada uno hizo una parte, lo juntamos todo en un solo notebook y nos explicamos el uno al otro lo que hacía cada uno. Los tres retos más grandes: el umbral del 5 % era ambiguo, y contrastamos las dos lecturas; el reparto cambió a mitad del test, y separamos por periodo; y la primera prueba usaba una librería que no vimos en clase, así que la rehicimos con lo visto en clase y comprobamos que da lo mismo. Lo que más aprendimos: que un resultado significativo no es lo mismo que uno suficiente.»
ANTES DE PRESENTAR: revisar el reparto de tareas con Emmanuel.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QUIÉN: João · 0:10
QUÉ DECIR: «En resumen: el nuevo diseño consigue 3,7 puntos reales. Para que pague lo que cuesta, hay que arreglar step_1 y volver a medir. Gracias, ¿preguntas?»
PREGUNTAS PROBABLES:
- ¿Por qué la t de Welch y no el z-test? Emmanuel usó el z en la base; la t de Welch es lo que vimos en clase. Con muestras tan grandes dan lo mismo: z = 8,89, t = 8,88.
- ¿Por qué la mediana del tiempo? Hay pausas de horas que disparan la media.
- ¿Lanzaríais el diseño? No tal cual: primero corregir step_1 y repetir un test corto.
- ¿Qué haríais con más tiempo? Calcular el tamaño de muestra necesario y poner el umbral en dinero.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reserva para preguntas. Cada fila está en la Parte 4 de vanguard_analisis.ipynb y resumida en preguntas.md.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reserva. Responde a la pregunta del enunciado sobre qué datos faltan para decidir mejor.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ITULO">
    <p:bg>
      <p:bgPr>
        <a:solidFill>
          <a:srgbClr val="F28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B1424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Tab1" Type="http://schemas.openxmlformats.org/officeDocument/2006/relationships/image" Target="../media/tableau_embudo.png"/><Relationship Id="rIdTab2" Type="http://schemas.openxmlformats.org/officeDocument/2006/relationships/image" Target="../media/tableau_edad.png"/><Relationship Id="rIdTab3" Type="http://schemas.openxmlformats.org/officeDocument/2006/relationships/image" Target="../media/tableau_genero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1463040"/>
            <a:ext cx="6949440" cy="6949440"/>
          </a:xfrm>
          <a:prstGeom prst="ellipse">
            <a:avLst/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" name="a3_sol"/>
          <p:cNvSpPr/>
          <p:nvPr/>
        </p:nvSpPr>
        <p:spPr>
          <a:xfrm>
            <a:off x="8275320" y="685800"/>
            <a:ext cx="3291840" cy="329184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4" name="a3_ab"/>
          <p:cNvSpPr txBox="1"/>
          <p:nvPr/>
        </p:nvSpPr>
        <p:spPr>
          <a:xfrm>
            <a:off x="8275320" y="6858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8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A/B</a:t>
            </a:r>
            <a:endParaRPr lang="es-ES" sz="8000" dirty="0"/>
          </a:p>
        </p:txBody>
      </p:sp>
      <p:sp>
        <p:nvSpPr>
          <p:cNvPr id="5" name="a1_eti"/>
          <p:cNvSpPr txBox="1"/>
          <p:nvPr/>
        </p:nvSpPr>
        <p:spPr>
          <a:xfrm>
            <a:off x="548640" y="1097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spc="4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VANGUARD · PROYECTO 2</a:t>
            </a:r>
            <a:endParaRPr lang="es-ES" sz="1400" dirty="0"/>
          </a:p>
        </p:txBody>
      </p:sp>
      <p:sp>
        <p:nvSpPr>
          <p:cNvPr id="6" name="a1_tit"/>
          <p:cNvSpPr txBox="1"/>
          <p:nvPr/>
        </p:nvSpPr>
        <p:spPr>
          <a:xfrm>
            <a:off x="548640" y="1508760"/>
            <a:ext cx="7772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ES" sz="8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¿Vale lo</a:t>
            </a:r>
            <a:endParaRPr lang="es-ES" sz="8000" dirty="0"/>
          </a:p>
          <a:p>
            <a:pPr indent="0" marL="0">
              <a:lnSpc>
                <a:spcPct val="90000"/>
              </a:lnSpc>
              <a:buNone/>
            </a:pPr>
            <a:r>
              <a:rPr lang="es-ES" sz="8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</a:t>
            </a:r>
            <a:pPr indent="0" marL="0">
              <a:lnSpc>
                <a:spcPct val="90000"/>
              </a:lnSpc>
              <a:buNone/>
            </a:pPr>
            <a:r>
              <a:rPr lang="es-ES" sz="8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cuesta</a:t>
            </a:r>
            <a:pPr indent="0" marL="0">
              <a:lnSpc>
                <a:spcPct val="90000"/>
              </a:lnSpc>
              <a:buNone/>
            </a:pPr>
            <a:r>
              <a:rPr lang="es-ES" sz="8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8000" dirty="0"/>
          </a:p>
        </p:txBody>
      </p:sp>
      <p:sp>
        <p:nvSpPr>
          <p:cNvPr id="7" name="a2_sub"/>
          <p:cNvSpPr txBox="1"/>
          <p:nvPr/>
        </p:nvSpPr>
        <p:spPr>
          <a:xfrm>
            <a:off x="548640" y="4343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0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nuevo proceso online de Vanguard, puesto a prueba con más de 50.000 clientes</a:t>
            </a:r>
            <a:endParaRPr lang="es-ES" sz="2000" dirty="0"/>
          </a:p>
        </p:txBody>
      </p:sp>
      <p:sp>
        <p:nvSpPr>
          <p:cNvPr id="8" name="a4_av0"/>
          <p:cNvSpPr/>
          <p:nvPr/>
        </p:nvSpPr>
        <p:spPr>
          <a:xfrm>
            <a:off x="548640" y="5669280"/>
            <a:ext cx="457200" cy="45720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a4_ini0"/>
          <p:cNvSpPr txBox="1"/>
          <p:nvPr/>
        </p:nvSpPr>
        <p:spPr>
          <a:xfrm>
            <a:off x="54864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6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</a:t>
            </a:r>
            <a:endParaRPr lang="es-ES" sz="1600" dirty="0"/>
          </a:p>
        </p:txBody>
      </p:sp>
      <p:sp>
        <p:nvSpPr>
          <p:cNvPr id="10" name="a4_nom0"/>
          <p:cNvSpPr txBox="1"/>
          <p:nvPr/>
        </p:nvSpPr>
        <p:spPr>
          <a:xfrm>
            <a:off x="1143000" y="5669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6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João Miguel Pais</a:t>
            </a:r>
            <a:endParaRPr lang="es-ES" sz="1600" dirty="0"/>
          </a:p>
        </p:txBody>
      </p:sp>
      <p:sp>
        <p:nvSpPr>
          <p:cNvPr id="11" name="a4_av1"/>
          <p:cNvSpPr/>
          <p:nvPr/>
        </p:nvSpPr>
        <p:spPr>
          <a:xfrm>
            <a:off x="3474720" y="5669280"/>
            <a:ext cx="457200" cy="45720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2" name="a4_ini1"/>
          <p:cNvSpPr txBox="1"/>
          <p:nvPr/>
        </p:nvSpPr>
        <p:spPr>
          <a:xfrm>
            <a:off x="347472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6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s-ES" sz="1600" dirty="0"/>
          </a:p>
        </p:txBody>
      </p:sp>
      <p:sp>
        <p:nvSpPr>
          <p:cNvPr id="13" name="a4_nom1"/>
          <p:cNvSpPr txBox="1"/>
          <p:nvPr/>
        </p:nvSpPr>
        <p:spPr>
          <a:xfrm>
            <a:off x="4069080" y="5669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6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Emmanuel Chukwuemeka Amadi Agebi</a:t>
            </a:r>
            <a:endParaRPr lang="es-E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2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1_u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14400" cy="914400"/>
          </a:xfrm>
          <a:prstGeom prst="rect">
            <a:avLst/>
          </a:prstGeom>
        </p:spPr>
      </p:pic>
      <p:pic>
        <p:nvPicPr>
          <p:cNvPr id="3" name="a1_u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914400" cy="914400"/>
          </a:xfrm>
          <a:prstGeom prst="rect">
            <a:avLst/>
          </a:prstGeom>
        </p:spPr>
      </p:pic>
      <p:pic>
        <p:nvPicPr>
          <p:cNvPr id="4" name="a1_u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188720"/>
            <a:ext cx="914400" cy="914400"/>
          </a:xfrm>
          <a:prstGeom prst="rect">
            <a:avLst/>
          </a:prstGeom>
        </p:spPr>
      </p:pic>
      <p:sp>
        <p:nvSpPr>
          <p:cNvPr id="5" name="a2_n"/>
          <p:cNvSpPr txBox="1"/>
          <p:nvPr/>
        </p:nvSpPr>
        <p:spPr>
          <a:xfrm>
            <a:off x="548640" y="23774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 cada 3</a:t>
            </a:r>
            <a:endParaRPr lang="es-ES" sz="11000" dirty="0"/>
          </a:p>
        </p:txBody>
      </p:sp>
      <p:sp>
        <p:nvSpPr>
          <p:cNvPr id="6" name="a3_t"/>
          <p:cNvSpPr txBox="1"/>
          <p:nvPr/>
        </p:nvSpPr>
        <p:spPr>
          <a:xfrm>
            <a:off x="54864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no terminaba el proceso online con el diseño antiguo (34 %).</a:t>
            </a:r>
            <a:endParaRPr lang="es-ES" sz="2400" dirty="0"/>
          </a:p>
        </p:txBody>
      </p:sp>
      <p:sp>
        <p:nvSpPr>
          <p:cNvPr id="7" name="a4_q"/>
          <p:cNvSpPr txBox="1"/>
          <p:nvPr/>
        </p:nvSpPr>
        <p:spPr>
          <a:xfrm>
            <a:off x="54864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3200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Vanguard lo rediseñó. </a:t>
            </a:r>
            <a:pPr indent="0" marL="0">
              <a:buNone/>
            </a:pPr>
            <a:r>
              <a:rPr lang="es-ES" sz="32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¿Funcionó?</a:t>
            </a:r>
            <a:endParaRPr lang="es-E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experimento: dos diseños, cinco pasos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327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· EL RETO</a:t>
            </a:r>
            <a:endParaRPr lang="es-ES" sz="1200" dirty="0"/>
          </a:p>
        </p:txBody>
      </p:sp>
      <p:sp>
        <p:nvSpPr>
          <p:cNvPr id="10" name="a1_fl"/>
          <p:cNvSpPr/>
          <p:nvPr/>
        </p:nvSpPr>
        <p:spPr>
          <a:xfrm>
            <a:off x="548640" y="1783080"/>
            <a:ext cx="11094415" cy="1188720"/>
          </a:xfrm>
          <a:prstGeom prst="roundRect">
            <a:avLst>
              <a:gd name="adj" fmla="val 1384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l"/>
          <p:cNvSpPr/>
          <p:nvPr/>
        </p:nvSpPr>
        <p:spPr>
          <a:xfrm>
            <a:off x="1417320" y="2194560"/>
            <a:ext cx="9509760" cy="0"/>
          </a:xfrm>
          <a:prstGeom prst="line">
            <a:avLst/>
          </a:prstGeom>
          <a:noFill/>
          <a:ln w="31750">
            <a:solidFill>
              <a:srgbClr val="2A3B57"/>
            </a:solidFill>
            <a:prstDash val="solid"/>
          </a:ln>
        </p:spPr>
      </p:sp>
      <p:sp>
        <p:nvSpPr>
          <p:cNvPr id="12" name="a1_p0"/>
          <p:cNvSpPr/>
          <p:nvPr/>
        </p:nvSpPr>
        <p:spPr>
          <a:xfrm>
            <a:off x="1188720" y="1965960"/>
            <a:ext cx="457200" cy="457200"/>
          </a:xfrm>
          <a:prstGeom prst="ellipse">
            <a:avLst/>
          </a:prstGeom>
          <a:solidFill>
            <a:srgbClr val="F5F7FA"/>
          </a:solidFill>
          <a:ln w="38100">
            <a:solidFill>
              <a:srgbClr val="15233A"/>
            </a:solidFill>
            <a:prstDash val="solid"/>
          </a:ln>
        </p:spPr>
      </p:sp>
      <p:sp>
        <p:nvSpPr>
          <p:cNvPr id="13" name="a1_n0"/>
          <p:cNvSpPr txBox="1"/>
          <p:nvPr/>
        </p:nvSpPr>
        <p:spPr>
          <a:xfrm>
            <a:off x="1188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s-ES" sz="1400" dirty="0"/>
          </a:p>
        </p:txBody>
      </p:sp>
      <p:sp>
        <p:nvSpPr>
          <p:cNvPr id="14" name="a1_t0"/>
          <p:cNvSpPr txBox="1"/>
          <p:nvPr/>
        </p:nvSpPr>
        <p:spPr>
          <a:xfrm>
            <a:off x="5943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s-ES" sz="1400" dirty="0"/>
          </a:p>
        </p:txBody>
      </p:sp>
      <p:sp>
        <p:nvSpPr>
          <p:cNvPr id="15" name="a1_p1"/>
          <p:cNvSpPr/>
          <p:nvPr/>
        </p:nvSpPr>
        <p:spPr>
          <a:xfrm>
            <a:off x="3566160" y="1965960"/>
            <a:ext cx="457200" cy="457200"/>
          </a:xfrm>
          <a:prstGeom prst="ellipse">
            <a:avLst/>
          </a:prstGeom>
          <a:solidFill>
            <a:srgbClr val="F5F7FA"/>
          </a:solidFill>
          <a:ln w="38100">
            <a:solidFill>
              <a:srgbClr val="15233A"/>
            </a:solidFill>
            <a:prstDash val="solid"/>
          </a:ln>
        </p:spPr>
      </p:sp>
      <p:sp>
        <p:nvSpPr>
          <p:cNvPr id="16" name="a1_n1"/>
          <p:cNvSpPr txBox="1"/>
          <p:nvPr/>
        </p:nvSpPr>
        <p:spPr>
          <a:xfrm>
            <a:off x="35661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s-ES" sz="1400" dirty="0"/>
          </a:p>
        </p:txBody>
      </p:sp>
      <p:sp>
        <p:nvSpPr>
          <p:cNvPr id="17" name="a1_t1"/>
          <p:cNvSpPr txBox="1"/>
          <p:nvPr/>
        </p:nvSpPr>
        <p:spPr>
          <a:xfrm>
            <a:off x="29718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</a:t>
            </a:r>
            <a:endParaRPr lang="es-ES" sz="1400" dirty="0"/>
          </a:p>
        </p:txBody>
      </p:sp>
      <p:sp>
        <p:nvSpPr>
          <p:cNvPr id="18" name="a1_p2"/>
          <p:cNvSpPr/>
          <p:nvPr/>
        </p:nvSpPr>
        <p:spPr>
          <a:xfrm>
            <a:off x="5943600" y="1965960"/>
            <a:ext cx="457200" cy="457200"/>
          </a:xfrm>
          <a:prstGeom prst="ellipse">
            <a:avLst/>
          </a:prstGeom>
          <a:solidFill>
            <a:srgbClr val="F5F7FA"/>
          </a:solidFill>
          <a:ln w="38100">
            <a:solidFill>
              <a:srgbClr val="15233A"/>
            </a:solidFill>
            <a:prstDash val="solid"/>
          </a:ln>
        </p:spPr>
      </p:sp>
      <p:sp>
        <p:nvSpPr>
          <p:cNvPr id="19" name="a1_n2"/>
          <p:cNvSpPr txBox="1"/>
          <p:nvPr/>
        </p:nvSpPr>
        <p:spPr>
          <a:xfrm>
            <a:off x="59436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s-ES" sz="1400" dirty="0"/>
          </a:p>
        </p:txBody>
      </p:sp>
      <p:sp>
        <p:nvSpPr>
          <p:cNvPr id="20" name="a1_t2"/>
          <p:cNvSpPr txBox="1"/>
          <p:nvPr/>
        </p:nvSpPr>
        <p:spPr>
          <a:xfrm>
            <a:off x="534924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step_2</a:t>
            </a:r>
            <a:endParaRPr lang="es-ES" sz="1400" dirty="0"/>
          </a:p>
        </p:txBody>
      </p:sp>
      <p:sp>
        <p:nvSpPr>
          <p:cNvPr id="21" name="a1_p3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F5F7FA"/>
          </a:solidFill>
          <a:ln w="38100">
            <a:solidFill>
              <a:srgbClr val="15233A"/>
            </a:solidFill>
            <a:prstDash val="solid"/>
          </a:ln>
        </p:spPr>
      </p:sp>
      <p:sp>
        <p:nvSpPr>
          <p:cNvPr id="22" name="a1_n3"/>
          <p:cNvSpPr txBox="1"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s-ES" sz="1400" dirty="0"/>
          </a:p>
        </p:txBody>
      </p:sp>
      <p:sp>
        <p:nvSpPr>
          <p:cNvPr id="23" name="a1_t3"/>
          <p:cNvSpPr txBox="1"/>
          <p:nvPr/>
        </p:nvSpPr>
        <p:spPr>
          <a:xfrm>
            <a:off x="772668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</a:t>
            </a:r>
            <a:endParaRPr lang="es-ES" sz="1400" dirty="0"/>
          </a:p>
        </p:txBody>
      </p:sp>
      <p:sp>
        <p:nvSpPr>
          <p:cNvPr id="24" name="a1_p4"/>
          <p:cNvSpPr/>
          <p:nvPr/>
        </p:nvSpPr>
        <p:spPr>
          <a:xfrm>
            <a:off x="10698480" y="1965960"/>
            <a:ext cx="457200" cy="457200"/>
          </a:xfrm>
          <a:prstGeom prst="ellipse">
            <a:avLst/>
          </a:prstGeom>
          <a:solidFill>
            <a:srgbClr val="F28E2B"/>
          </a:solidFill>
          <a:ln w="38100">
            <a:solidFill>
              <a:srgbClr val="15233A"/>
            </a:solidFill>
            <a:prstDash val="solid"/>
          </a:ln>
        </p:spPr>
      </p:sp>
      <p:sp>
        <p:nvSpPr>
          <p:cNvPr id="25" name="a1_n4"/>
          <p:cNvSpPr txBox="1"/>
          <p:nvPr/>
        </p:nvSpPr>
        <p:spPr>
          <a:xfrm>
            <a:off x="10698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s-ES" sz="1400" dirty="0"/>
          </a:p>
        </p:txBody>
      </p:sp>
      <p:sp>
        <p:nvSpPr>
          <p:cNvPr id="26" name="a1_t4"/>
          <p:cNvSpPr txBox="1"/>
          <p:nvPr/>
        </p:nvSpPr>
        <p:spPr>
          <a:xfrm>
            <a:off x="1010412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</a:t>
            </a:r>
            <a:endParaRPr lang="es-ES" sz="1400" dirty="0"/>
          </a:p>
        </p:txBody>
      </p:sp>
      <p:sp>
        <p:nvSpPr>
          <p:cNvPr id="27" name="a2_c"/>
          <p:cNvSpPr/>
          <p:nvPr/>
        </p:nvSpPr>
        <p:spPr>
          <a:xfrm>
            <a:off x="548640" y="3200400"/>
            <a:ext cx="5394960" cy="1828800"/>
          </a:xfrm>
          <a:prstGeom prst="roundRect">
            <a:avLst>
              <a:gd name="adj" fmla="val 9000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8" name="a2_d_c"/>
          <p:cNvSpPr/>
          <p:nvPr/>
        </p:nvSpPr>
        <p:spPr>
          <a:xfrm>
            <a:off x="868680" y="3611880"/>
            <a:ext cx="1005840" cy="100584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pic>
        <p:nvPicPr>
          <p:cNvPr id="29" name="a2_d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3873398"/>
            <a:ext cx="482803" cy="482803"/>
          </a:xfrm>
          <a:prstGeom prst="rect">
            <a:avLst/>
          </a:prstGeom>
        </p:spPr>
      </p:pic>
      <p:sp>
        <p:nvSpPr>
          <p:cNvPr id="30" name="a2_n"/>
          <p:cNvSpPr txBox="1"/>
          <p:nvPr/>
        </p:nvSpPr>
        <p:spPr>
          <a:xfrm>
            <a:off x="2103120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</a:t>
            </a:r>
            <a:endParaRPr lang="es-ES" sz="2400" dirty="0"/>
          </a:p>
        </p:txBody>
      </p:sp>
      <p:sp>
        <p:nvSpPr>
          <p:cNvPr id="31" name="a2_x"/>
          <p:cNvSpPr txBox="1"/>
          <p:nvPr/>
        </p:nvSpPr>
        <p:spPr>
          <a:xfrm>
            <a:off x="210312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diseño antiguo</a:t>
            </a:r>
            <a:endParaRPr lang="es-ES" sz="1400" dirty="0"/>
          </a:p>
        </p:txBody>
      </p:sp>
      <p:sp>
        <p:nvSpPr>
          <p:cNvPr id="32" name="a2_k"/>
          <p:cNvSpPr txBox="1"/>
          <p:nvPr/>
        </p:nvSpPr>
        <p:spPr>
          <a:xfrm>
            <a:off x="2103120" y="4206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3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23.500 clientes</a:t>
            </a:r>
            <a:endParaRPr lang="es-ES" sz="3000" dirty="0"/>
          </a:p>
        </p:txBody>
      </p:sp>
      <p:sp>
        <p:nvSpPr>
          <p:cNvPr id="33" name="a3_c"/>
          <p:cNvSpPr/>
          <p:nvPr/>
        </p:nvSpPr>
        <p:spPr>
          <a:xfrm>
            <a:off x="6245352" y="3200400"/>
            <a:ext cx="5394960" cy="1828800"/>
          </a:xfrm>
          <a:prstGeom prst="roundRect">
            <a:avLst>
              <a:gd name="adj" fmla="val 9000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4" name="a3_d_c"/>
          <p:cNvSpPr/>
          <p:nvPr/>
        </p:nvSpPr>
        <p:spPr>
          <a:xfrm>
            <a:off x="6565392" y="3611880"/>
            <a:ext cx="1005840" cy="100584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pic>
        <p:nvPicPr>
          <p:cNvPr id="35" name="a3_d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910" y="3873398"/>
            <a:ext cx="482803" cy="482803"/>
          </a:xfrm>
          <a:prstGeom prst="rect">
            <a:avLst/>
          </a:prstGeom>
        </p:spPr>
      </p:pic>
      <p:sp>
        <p:nvSpPr>
          <p:cNvPr id="36" name="a3_n"/>
          <p:cNvSpPr txBox="1"/>
          <p:nvPr/>
        </p:nvSpPr>
        <p:spPr>
          <a:xfrm>
            <a:off x="7799832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</a:t>
            </a:r>
            <a:endParaRPr lang="es-ES" sz="2400" dirty="0"/>
          </a:p>
        </p:txBody>
      </p:sp>
      <p:sp>
        <p:nvSpPr>
          <p:cNvPr id="37" name="a3_x"/>
          <p:cNvSpPr txBox="1"/>
          <p:nvPr/>
        </p:nvSpPr>
        <p:spPr>
          <a:xfrm>
            <a:off x="7799832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diseño nuevo, con avisos en cada paso</a:t>
            </a:r>
            <a:endParaRPr lang="es-ES" sz="1400" dirty="0"/>
          </a:p>
        </p:txBody>
      </p:sp>
      <p:sp>
        <p:nvSpPr>
          <p:cNvPr id="38" name="a3_k"/>
          <p:cNvSpPr txBox="1"/>
          <p:nvPr/>
        </p:nvSpPr>
        <p:spPr>
          <a:xfrm>
            <a:off x="7799832" y="4206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3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27.000 clientes</a:t>
            </a:r>
            <a:endParaRPr lang="es-ES" sz="3000" dirty="0"/>
          </a:p>
        </p:txBody>
      </p:sp>
      <p:sp>
        <p:nvSpPr>
          <p:cNvPr id="39" name="a4_v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0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vara de medir: </a:t>
            </a:r>
            <a:pPr indent="0" marL="0">
              <a:buNone/>
            </a:pPr>
            <a:r>
              <a:rPr lang="es-ES" sz="20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es rentable si la tasa de finalización sube al menos un 5 %.</a:t>
            </a:r>
            <a:endParaRPr lang="es-E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3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75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25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30" grpId="0" animBg="1"/>
      <p:bldP spid="31" grpId="0" animBg="1"/>
      <p:bldP spid="32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nos preguntamos antes de mirar los datos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327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· EL RETO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3931920" cy="4343400"/>
          </a:xfrm>
          <a:prstGeom prst="roundRect">
            <a:avLst>
              <a:gd name="adj" fmla="val 4186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86868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200" kern="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PREGUNTAS DE VANGUARD</a:t>
            </a:r>
            <a:endParaRPr lang="es-ES" sz="1200" dirty="0"/>
          </a:p>
        </p:txBody>
      </p:sp>
      <p:sp>
        <p:nvSpPr>
          <p:cNvPr id="12" name="a1_q"/>
          <p:cNvSpPr txBox="1"/>
          <p:nvPr/>
        </p:nvSpPr>
        <p:spPr>
          <a:xfrm>
            <a:off x="868680" y="24688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s-ES" sz="19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¿Quiénes son los clientes?</a:t>
            </a:r>
            <a:endParaRPr lang="es-ES" sz="1900" dirty="0"/>
          </a:p>
          <a:p>
            <a:pPr indent="0" marL="0">
              <a:spcAft>
                <a:spcPts val="1400"/>
              </a:spcAft>
              <a:buNone/>
            </a:pPr>
            <a:r>
              <a:rPr lang="es-ES" sz="19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¿Completan más con el nuevo diseño?</a:t>
            </a:r>
            <a:endParaRPr lang="es-ES" sz="1900" dirty="0"/>
          </a:p>
          <a:p>
            <a:pPr indent="0" marL="0">
              <a:spcAft>
                <a:spcPts val="1400"/>
              </a:spcAft>
              <a:buNone/>
            </a:pPr>
            <a:r>
              <a:rPr lang="es-ES" sz="19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¿Lo bastante para que compense?</a:t>
            </a:r>
            <a:endParaRPr lang="es-ES" sz="1900" dirty="0"/>
          </a:p>
          <a:p>
            <a:pPr indent="0" marL="0">
              <a:spcAft>
                <a:spcPts val="1400"/>
              </a:spcAft>
              <a:buNone/>
            </a:pPr>
            <a:r>
              <a:rPr lang="es-ES" sz="19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¿El experimento estaba bien hecho?</a:t>
            </a:r>
            <a:endParaRPr lang="es-ES" sz="1900" dirty="0"/>
          </a:p>
        </p:txBody>
      </p:sp>
      <p:sp>
        <p:nvSpPr>
          <p:cNvPr id="13" name="a2_t"/>
          <p:cNvSpPr txBox="1"/>
          <p:nvPr/>
        </p:nvSpPr>
        <p:spPr>
          <a:xfrm>
            <a:off x="4800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2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NUESTRAS HIPÓTESIS</a:t>
            </a:r>
            <a:endParaRPr lang="es-ES" sz="1200" dirty="0"/>
          </a:p>
        </p:txBody>
      </p:sp>
      <p:sp>
        <p:nvSpPr>
          <p:cNvPr id="14" name="a3_p"/>
          <p:cNvSpPr/>
          <p:nvPr/>
        </p:nvSpPr>
        <p:spPr>
          <a:xfrm>
            <a:off x="4800600" y="2194560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5" name="a3_c"/>
          <p:cNvSpPr txBox="1"/>
          <p:nvPr/>
        </p:nvSpPr>
        <p:spPr>
          <a:xfrm>
            <a:off x="4983480" y="219456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H1</a:t>
            </a:r>
            <a:endParaRPr lang="es-ES" sz="1400" dirty="0"/>
          </a:p>
        </p:txBody>
      </p:sp>
      <p:sp>
        <p:nvSpPr>
          <p:cNvPr id="16" name="a3_h"/>
          <p:cNvSpPr txBox="1"/>
          <p:nvPr/>
        </p:nvSpPr>
        <p:spPr>
          <a:xfrm>
            <a:off x="5623560" y="219456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nuevo diseño hace que más clientes terminen</a:t>
            </a:r>
            <a:endParaRPr lang="es-ES" sz="1500" dirty="0"/>
          </a:p>
        </p:txBody>
      </p:sp>
      <p:sp>
        <p:nvSpPr>
          <p:cNvPr id="17" name="a3_q"/>
          <p:cNvSpPr txBox="1"/>
          <p:nvPr/>
        </p:nvSpPr>
        <p:spPr>
          <a:xfrm>
            <a:off x="11109960" y="219456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18" name="a4_p"/>
          <p:cNvSpPr/>
          <p:nvPr/>
        </p:nvSpPr>
        <p:spPr>
          <a:xfrm>
            <a:off x="4800600" y="2761488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9" name="a4_c"/>
          <p:cNvSpPr txBox="1"/>
          <p:nvPr/>
        </p:nvSpPr>
        <p:spPr>
          <a:xfrm>
            <a:off x="4983480" y="276148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H2</a:t>
            </a:r>
            <a:endParaRPr lang="es-ES" sz="1400" dirty="0"/>
          </a:p>
        </p:txBody>
      </p:sp>
      <p:sp>
        <p:nvSpPr>
          <p:cNvPr id="20" name="a4_h"/>
          <p:cNvSpPr txBox="1"/>
          <p:nvPr/>
        </p:nvSpPr>
        <p:spPr>
          <a:xfrm>
            <a:off x="5623560" y="276148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mejora llega al 5 % que pide Vanguard</a:t>
            </a:r>
            <a:endParaRPr lang="es-ES" sz="1500" dirty="0"/>
          </a:p>
        </p:txBody>
      </p:sp>
      <p:sp>
        <p:nvSpPr>
          <p:cNvPr id="21" name="a4_q"/>
          <p:cNvSpPr txBox="1"/>
          <p:nvPr/>
        </p:nvSpPr>
        <p:spPr>
          <a:xfrm>
            <a:off x="11109960" y="276148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22" name="a5_p"/>
          <p:cNvSpPr/>
          <p:nvPr/>
        </p:nvSpPr>
        <p:spPr>
          <a:xfrm>
            <a:off x="4800600" y="3328416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3" name="a5_c"/>
          <p:cNvSpPr txBox="1"/>
          <p:nvPr/>
        </p:nvSpPr>
        <p:spPr>
          <a:xfrm>
            <a:off x="4983480" y="332841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H3</a:t>
            </a:r>
            <a:endParaRPr lang="es-ES" sz="1400" dirty="0"/>
          </a:p>
        </p:txBody>
      </p:sp>
      <p:sp>
        <p:nvSpPr>
          <p:cNvPr id="24" name="a5_h"/>
          <p:cNvSpPr txBox="1"/>
          <p:nvPr/>
        </p:nvSpPr>
        <p:spPr>
          <a:xfrm>
            <a:off x="5623560" y="332841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edad cambia el efecto del diseño</a:t>
            </a:r>
            <a:endParaRPr lang="es-ES" sz="1500" dirty="0"/>
          </a:p>
        </p:txBody>
      </p:sp>
      <p:sp>
        <p:nvSpPr>
          <p:cNvPr id="25" name="a5_q"/>
          <p:cNvSpPr txBox="1"/>
          <p:nvPr/>
        </p:nvSpPr>
        <p:spPr>
          <a:xfrm>
            <a:off x="11109960" y="332841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26" name="a6_p"/>
          <p:cNvSpPr/>
          <p:nvPr/>
        </p:nvSpPr>
        <p:spPr>
          <a:xfrm>
            <a:off x="4800600" y="3895344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7" name="a6_c"/>
          <p:cNvSpPr txBox="1"/>
          <p:nvPr/>
        </p:nvSpPr>
        <p:spPr>
          <a:xfrm>
            <a:off x="4983480" y="389534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H5</a:t>
            </a:r>
            <a:endParaRPr lang="es-ES" sz="1400" dirty="0"/>
          </a:p>
        </p:txBody>
      </p:sp>
      <p:sp>
        <p:nvSpPr>
          <p:cNvPr id="28" name="a6_h"/>
          <p:cNvSpPr txBox="1"/>
          <p:nvPr/>
        </p:nvSpPr>
        <p:spPr>
          <a:xfrm>
            <a:off x="5623560" y="389534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nuevo diseño provoca más errores</a:t>
            </a:r>
            <a:endParaRPr lang="es-ES" sz="1500" dirty="0"/>
          </a:p>
        </p:txBody>
      </p:sp>
      <p:sp>
        <p:nvSpPr>
          <p:cNvPr id="29" name="a6_q"/>
          <p:cNvSpPr txBox="1"/>
          <p:nvPr/>
        </p:nvSpPr>
        <p:spPr>
          <a:xfrm>
            <a:off x="11109960" y="389534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30" name="a7_p"/>
          <p:cNvSpPr/>
          <p:nvPr/>
        </p:nvSpPr>
        <p:spPr>
          <a:xfrm>
            <a:off x="4800600" y="4462272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1" name="a7_c"/>
          <p:cNvSpPr txBox="1"/>
          <p:nvPr/>
        </p:nvSpPr>
        <p:spPr>
          <a:xfrm>
            <a:off x="4983480" y="446227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H6</a:t>
            </a:r>
            <a:endParaRPr lang="es-ES" sz="1400" dirty="0"/>
          </a:p>
        </p:txBody>
      </p:sp>
      <p:sp>
        <p:nvSpPr>
          <p:cNvPr id="32" name="a7_h"/>
          <p:cNvSpPr txBox="1"/>
          <p:nvPr/>
        </p:nvSpPr>
        <p:spPr>
          <a:xfrm>
            <a:off x="5623560" y="446227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ventaja se mantiene en el tiempo</a:t>
            </a:r>
            <a:endParaRPr lang="es-ES" sz="1500" dirty="0"/>
          </a:p>
        </p:txBody>
      </p:sp>
      <p:sp>
        <p:nvSpPr>
          <p:cNvPr id="33" name="a7_q"/>
          <p:cNvSpPr txBox="1"/>
          <p:nvPr/>
        </p:nvSpPr>
        <p:spPr>
          <a:xfrm>
            <a:off x="11109960" y="446227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34" name="a8_p"/>
          <p:cNvSpPr/>
          <p:nvPr/>
        </p:nvSpPr>
        <p:spPr>
          <a:xfrm>
            <a:off x="4800600" y="5029200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5" name="a8_c"/>
          <p:cNvSpPr txBox="1"/>
          <p:nvPr/>
        </p:nvSpPr>
        <p:spPr>
          <a:xfrm>
            <a:off x="4983480" y="50292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H7</a:t>
            </a:r>
            <a:endParaRPr lang="es-ES" sz="1400" dirty="0"/>
          </a:p>
        </p:txBody>
      </p:sp>
      <p:sp>
        <p:nvSpPr>
          <p:cNvPr id="36" name="a8_h"/>
          <p:cNvSpPr txBox="1"/>
          <p:nvPr/>
        </p:nvSpPr>
        <p:spPr>
          <a:xfrm>
            <a:off x="5623560" y="502920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los mayores les cuesta más</a:t>
            </a:r>
            <a:endParaRPr lang="es-ES" sz="1500" dirty="0"/>
          </a:p>
        </p:txBody>
      </p:sp>
      <p:sp>
        <p:nvSpPr>
          <p:cNvPr id="37" name="a8_q"/>
          <p:cNvSpPr txBox="1"/>
          <p:nvPr/>
        </p:nvSpPr>
        <p:spPr>
          <a:xfrm>
            <a:off x="11109960" y="502920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38" name="a9_p"/>
          <p:cNvSpPr/>
          <p:nvPr/>
        </p:nvSpPr>
        <p:spPr>
          <a:xfrm>
            <a:off x="4800600" y="5596128"/>
            <a:ext cx="6839712" cy="475488"/>
          </a:xfrm>
          <a:prstGeom prst="roundRect">
            <a:avLst>
              <a:gd name="adj" fmla="val 3461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9" name="a9_c"/>
          <p:cNvSpPr txBox="1"/>
          <p:nvPr/>
        </p:nvSpPr>
        <p:spPr>
          <a:xfrm>
            <a:off x="4983480" y="55961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s-ES" sz="1400" dirty="0"/>
          </a:p>
        </p:txBody>
      </p:sp>
      <p:sp>
        <p:nvSpPr>
          <p:cNvPr id="40" name="a9_h"/>
          <p:cNvSpPr txBox="1"/>
          <p:nvPr/>
        </p:nvSpPr>
        <p:spPr>
          <a:xfrm>
            <a:off x="5623560" y="559612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experimento repartió 50/50 y de forma estable</a:t>
            </a:r>
            <a:endParaRPr lang="es-ES" sz="1500" dirty="0"/>
          </a:p>
        </p:txBody>
      </p:sp>
      <p:sp>
        <p:nvSpPr>
          <p:cNvPr id="41" name="a9_q"/>
          <p:cNvSpPr txBox="1"/>
          <p:nvPr/>
        </p:nvSpPr>
        <p:spPr>
          <a:xfrm>
            <a:off x="11109960" y="559612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2000" b="1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s-E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4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2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75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45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525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60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Spoiler: la respuesta en 10 segundos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327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· EL RETO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3520440" cy="4206240"/>
          </a:xfrm>
          <a:prstGeom prst="roundRect">
            <a:avLst>
              <a:gd name="adj" fmla="val 467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11" name="a1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502920" cy="502920"/>
          </a:xfrm>
          <a:prstGeom prst="rect">
            <a:avLst/>
          </a:prstGeom>
        </p:spPr>
      </p:pic>
      <p:sp>
        <p:nvSpPr>
          <p:cNvPr id="12" name="a1_n"/>
          <p:cNvSpPr txBox="1"/>
          <p:nvPr/>
        </p:nvSpPr>
        <p:spPr>
          <a:xfrm>
            <a:off x="868680" y="26974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7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+3,7</a:t>
            </a:r>
            <a:endParaRPr lang="es-ES" sz="7000" dirty="0"/>
          </a:p>
        </p:txBody>
      </p:sp>
      <p:sp>
        <p:nvSpPr>
          <p:cNvPr id="13" name="a1_l"/>
          <p:cNvSpPr txBox="1"/>
          <p:nvPr/>
        </p:nvSpPr>
        <p:spPr>
          <a:xfrm>
            <a:off x="914400" y="3977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puntos más de clientes terminan</a:t>
            </a:r>
            <a:endParaRPr lang="es-ES" sz="1900" dirty="0"/>
          </a:p>
        </p:txBody>
      </p:sp>
      <p:sp>
        <p:nvSpPr>
          <p:cNvPr id="14" name="a1_s"/>
          <p:cNvSpPr txBox="1"/>
          <p:nvPr/>
        </p:nvSpPr>
        <p:spPr>
          <a:xfrm>
            <a:off x="914400" y="48006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69,3 % frente a 65,6 %. Es real: p &lt; 0,0001</a:t>
            </a:r>
            <a:endParaRPr lang="es-ES" sz="1300" dirty="0"/>
          </a:p>
        </p:txBody>
      </p:sp>
      <p:sp>
        <p:nvSpPr>
          <p:cNvPr id="15" name="a2_c"/>
          <p:cNvSpPr/>
          <p:nvPr/>
        </p:nvSpPr>
        <p:spPr>
          <a:xfrm>
            <a:off x="4315968" y="1783080"/>
            <a:ext cx="3520440" cy="4206240"/>
          </a:xfrm>
          <a:prstGeom prst="roundRect">
            <a:avLst>
              <a:gd name="adj" fmla="val 467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16" name="a2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2103120"/>
            <a:ext cx="502920" cy="502920"/>
          </a:xfrm>
          <a:prstGeom prst="rect">
            <a:avLst/>
          </a:prstGeom>
        </p:spPr>
      </p:pic>
      <p:sp>
        <p:nvSpPr>
          <p:cNvPr id="17" name="a2_n"/>
          <p:cNvSpPr txBox="1"/>
          <p:nvPr/>
        </p:nvSpPr>
        <p:spPr>
          <a:xfrm>
            <a:off x="4636008" y="26974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7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5 %</a:t>
            </a:r>
            <a:endParaRPr lang="es-ES" sz="7000" dirty="0"/>
          </a:p>
        </p:txBody>
      </p:sp>
      <p:sp>
        <p:nvSpPr>
          <p:cNvPr id="18" name="a2_l"/>
          <p:cNvSpPr txBox="1"/>
          <p:nvPr/>
        </p:nvSpPr>
        <p:spPr>
          <a:xfrm>
            <a:off x="4681728" y="3977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mínimo que paga el rediseño</a:t>
            </a:r>
            <a:endParaRPr lang="es-ES" sz="1900" dirty="0"/>
          </a:p>
        </p:txBody>
      </p:sp>
      <p:sp>
        <p:nvSpPr>
          <p:cNvPr id="19" name="a2_s"/>
          <p:cNvSpPr txBox="1"/>
          <p:nvPr/>
        </p:nvSpPr>
        <p:spPr>
          <a:xfrm>
            <a:off x="4681728" y="48006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asegurado: no se puede afirmar que se alcance</a:t>
            </a:r>
            <a:endParaRPr lang="es-ES" sz="1300" dirty="0"/>
          </a:p>
        </p:txBody>
      </p:sp>
      <p:sp>
        <p:nvSpPr>
          <p:cNvPr id="20" name="a3_c"/>
          <p:cNvSpPr/>
          <p:nvPr/>
        </p:nvSpPr>
        <p:spPr>
          <a:xfrm>
            <a:off x="8083296" y="1783080"/>
            <a:ext cx="3520440" cy="4206240"/>
          </a:xfrm>
          <a:prstGeom prst="roundRect">
            <a:avLst>
              <a:gd name="adj" fmla="val 467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21" name="a3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103120"/>
            <a:ext cx="502920" cy="502920"/>
          </a:xfrm>
          <a:prstGeom prst="rect">
            <a:avLst/>
          </a:prstGeom>
        </p:spPr>
      </p:pic>
      <p:sp>
        <p:nvSpPr>
          <p:cNvPr id="22" name="a3_n"/>
          <p:cNvSpPr txBox="1"/>
          <p:nvPr/>
        </p:nvSpPr>
        <p:spPr>
          <a:xfrm>
            <a:off x="8403336" y="26974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70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33 %</a:t>
            </a:r>
            <a:endParaRPr lang="es-ES" sz="7000" dirty="0"/>
          </a:p>
        </p:txBody>
      </p:sp>
      <p:sp>
        <p:nvSpPr>
          <p:cNvPr id="23" name="a3_l"/>
          <p:cNvSpPr txBox="1"/>
          <p:nvPr/>
        </p:nvSpPr>
        <p:spPr>
          <a:xfrm>
            <a:off x="8449056" y="3977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vuelve atrás con el diseño nuevo</a:t>
            </a:r>
            <a:endParaRPr lang="es-ES" sz="1900" dirty="0"/>
          </a:p>
        </p:txBody>
      </p:sp>
      <p:sp>
        <p:nvSpPr>
          <p:cNvPr id="24" name="a3_s"/>
          <p:cNvSpPr txBox="1"/>
          <p:nvPr/>
        </p:nvSpPr>
        <p:spPr>
          <a:xfrm>
            <a:off x="8449056" y="48006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Frente al 26 % con el antiguo; sobre todo en step_1 y en los mayores de 45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5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D976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3359" y="347472"/>
            <a:ext cx="219456" cy="219456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8" name="a1_paso"/>
          <p:cNvSpPr txBox="1"/>
          <p:nvPr/>
        </p:nvSpPr>
        <p:spPr>
          <a:xfrm>
            <a:off x="457200" y="1097280"/>
            <a:ext cx="11430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0" b="1" dirty="0">
                <a:solidFill>
                  <a:srgbClr val="FFB4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step_1</a:t>
            </a:r>
            <a:endParaRPr lang="es-ES" sz="15000" dirty="0"/>
          </a:p>
        </p:txBody>
      </p:sp>
      <p:sp>
        <p:nvSpPr>
          <p:cNvPr id="9" name="a2_eti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spc="300" kern="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 2 DE 5 · LOS DATOS</a:t>
            </a:r>
            <a:endParaRPr lang="es-ES" sz="1500" dirty="0"/>
          </a:p>
        </p:txBody>
      </p:sp>
      <p:sp>
        <p:nvSpPr>
          <p:cNvPr id="10" name="a2_q"/>
          <p:cNvSpPr txBox="1"/>
          <p:nvPr/>
        </p:nvSpPr>
        <p:spPr>
          <a:xfrm>
            <a:off x="548640" y="4343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4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¿Con qué datos trabajamos y quién es el cliente?</a:t>
            </a:r>
            <a:endParaRPr lang="es-E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B1424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6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755.000 clics. 13 problemas. 50.500 clientes.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335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 · LOS DATOS</a:t>
            </a:r>
            <a:endParaRPr lang="es-ES" sz="1200" dirty="0"/>
          </a:p>
        </p:txBody>
      </p:sp>
      <p:sp>
        <p:nvSpPr>
          <p:cNvPr id="10" name="a1_f0"/>
          <p:cNvSpPr/>
          <p:nvPr/>
        </p:nvSpPr>
        <p:spPr>
          <a:xfrm>
            <a:off x="548640" y="1783080"/>
            <a:ext cx="3337560" cy="12344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d0_c"/>
          <p:cNvSpPr/>
          <p:nvPr/>
        </p:nvSpPr>
        <p:spPr>
          <a:xfrm>
            <a:off x="777240" y="2084832"/>
            <a:ext cx="640080" cy="64008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</p:sp>
      <p:pic>
        <p:nvPicPr>
          <p:cNvPr id="12" name="a1_d0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251253"/>
            <a:ext cx="307238" cy="307238"/>
          </a:xfrm>
          <a:prstGeom prst="rect">
            <a:avLst/>
          </a:prstGeom>
        </p:spPr>
      </p:pic>
      <p:sp>
        <p:nvSpPr>
          <p:cNvPr id="13" name="a1_t0"/>
          <p:cNvSpPr txBox="1"/>
          <p:nvPr/>
        </p:nvSpPr>
        <p:spPr>
          <a:xfrm>
            <a:off x="1600200" y="1965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7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s-ES" sz="1700" dirty="0"/>
          </a:p>
        </p:txBody>
      </p:sp>
      <p:sp>
        <p:nvSpPr>
          <p:cNvPr id="14" name="a1_x0"/>
          <p:cNvSpPr txBox="1"/>
          <p:nvPr/>
        </p:nvSpPr>
        <p:spPr>
          <a:xfrm>
            <a:off x="1600200" y="23500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70.600 clientes: edad, género, antigüedad, saldo</a:t>
            </a:r>
            <a:endParaRPr lang="es-ES" sz="1300" dirty="0"/>
          </a:p>
        </p:txBody>
      </p:sp>
      <p:sp>
        <p:nvSpPr>
          <p:cNvPr id="15" name="a1_f1"/>
          <p:cNvSpPr/>
          <p:nvPr/>
        </p:nvSpPr>
        <p:spPr>
          <a:xfrm>
            <a:off x="548640" y="3218688"/>
            <a:ext cx="3337560" cy="12344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6" name="a1_d1_c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</p:sp>
      <p:pic>
        <p:nvPicPr>
          <p:cNvPr id="17" name="a1_d1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3686861"/>
            <a:ext cx="307238" cy="307238"/>
          </a:xfrm>
          <a:prstGeom prst="rect">
            <a:avLst/>
          </a:prstGeom>
        </p:spPr>
      </p:pic>
      <p:sp>
        <p:nvSpPr>
          <p:cNvPr id="18" name="a1_t1"/>
          <p:cNvSpPr txBox="1"/>
          <p:nvPr/>
        </p:nvSpPr>
        <p:spPr>
          <a:xfrm>
            <a:off x="1600200" y="3401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7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Grupo</a:t>
            </a:r>
            <a:endParaRPr lang="es-ES" sz="1700" dirty="0"/>
          </a:p>
        </p:txBody>
      </p:sp>
      <p:sp>
        <p:nvSpPr>
          <p:cNvPr id="19" name="a1_x1"/>
          <p:cNvSpPr txBox="1"/>
          <p:nvPr/>
        </p:nvSpPr>
        <p:spPr>
          <a:xfrm>
            <a:off x="1600200" y="378561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70.600 clientes, 20.100 sin grupo</a:t>
            </a:r>
            <a:endParaRPr lang="es-ES" sz="1300" dirty="0"/>
          </a:p>
        </p:txBody>
      </p:sp>
      <p:sp>
        <p:nvSpPr>
          <p:cNvPr id="20" name="a1_f2"/>
          <p:cNvSpPr/>
          <p:nvPr/>
        </p:nvSpPr>
        <p:spPr>
          <a:xfrm>
            <a:off x="548640" y="4654296"/>
            <a:ext cx="3337560" cy="12344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1" name="a1_d2_c"/>
          <p:cNvSpPr/>
          <p:nvPr/>
        </p:nvSpPr>
        <p:spPr>
          <a:xfrm>
            <a:off x="777240" y="4956048"/>
            <a:ext cx="640080" cy="64008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</p:sp>
      <p:pic>
        <p:nvPicPr>
          <p:cNvPr id="22" name="a1_d2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5122469"/>
            <a:ext cx="307238" cy="307238"/>
          </a:xfrm>
          <a:prstGeom prst="rect">
            <a:avLst/>
          </a:prstGeom>
        </p:spPr>
      </p:pic>
      <p:sp>
        <p:nvSpPr>
          <p:cNvPr id="23" name="a1_t2"/>
          <p:cNvSpPr txBox="1"/>
          <p:nvPr/>
        </p:nvSpPr>
        <p:spPr>
          <a:xfrm>
            <a:off x="160020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7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Clics web</a:t>
            </a:r>
            <a:endParaRPr lang="es-ES" sz="1700" dirty="0"/>
          </a:p>
        </p:txBody>
      </p:sp>
      <p:sp>
        <p:nvSpPr>
          <p:cNvPr id="24" name="a1_x2"/>
          <p:cNvSpPr txBox="1"/>
          <p:nvPr/>
        </p:nvSpPr>
        <p:spPr>
          <a:xfrm>
            <a:off x="1600200" y="5221224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755.000 clics en dos archivos</a:t>
            </a:r>
            <a:endParaRPr lang="es-ES" sz="1300" dirty="0"/>
          </a:p>
        </p:txBody>
      </p:sp>
      <p:sp>
        <p:nvSpPr>
          <p:cNvPr id="25" name="a2_f1"/>
          <p:cNvSpPr/>
          <p:nvPr/>
        </p:nvSpPr>
        <p:spPr>
          <a:xfrm>
            <a:off x="4041648" y="3611880"/>
            <a:ext cx="548640" cy="411480"/>
          </a:xfrm>
          <a:prstGeom prst="rightArrow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6" name="a2_m"/>
          <p:cNvSpPr/>
          <p:nvPr/>
        </p:nvSpPr>
        <p:spPr>
          <a:xfrm>
            <a:off x="4754880" y="1783080"/>
            <a:ext cx="3566160" cy="4114800"/>
          </a:xfrm>
          <a:prstGeom prst="roundRect">
            <a:avLst>
              <a:gd name="adj" fmla="val 4615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7" name="a2_e_c"/>
          <p:cNvSpPr/>
          <p:nvPr/>
        </p:nvSpPr>
        <p:spPr>
          <a:xfrm>
            <a:off x="5029200" y="2011680"/>
            <a:ext cx="731520" cy="73152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pic>
        <p:nvPicPr>
          <p:cNvPr id="28" name="a2_e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395" y="2201875"/>
            <a:ext cx="351130" cy="351130"/>
          </a:xfrm>
          <a:prstGeom prst="rect">
            <a:avLst/>
          </a:prstGeom>
        </p:spPr>
      </p:pic>
      <p:sp>
        <p:nvSpPr>
          <p:cNvPr id="29" name="a2_t"/>
          <p:cNvSpPr txBox="1"/>
          <p:nvPr/>
        </p:nvSpPr>
        <p:spPr>
          <a:xfrm>
            <a:off x="5029200" y="28803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8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problemas de calidad, cada uno con su decisión</a:t>
            </a:r>
            <a:endParaRPr lang="es-ES" sz="1800" dirty="0"/>
          </a:p>
        </p:txBody>
      </p:sp>
      <p:sp>
        <p:nvSpPr>
          <p:cNvPr id="30" name="a2_b"/>
          <p:cNvSpPr txBox="1"/>
          <p:nvPr/>
        </p:nvSpPr>
        <p:spPr>
          <a:xfrm>
            <a:off x="5029200" y="384048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20.100 clientes sin grupo: fuera</a:t>
            </a:r>
            <a:endParaRPr lang="es-E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10.800 clics repetidos: eliminados</a:t>
            </a:r>
            <a:endParaRPr lang="es-E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columnas que repetían información: fuera</a:t>
            </a:r>
            <a:endParaRPr lang="es-ES" sz="1400" dirty="0"/>
          </a:p>
        </p:txBody>
      </p:sp>
      <p:sp>
        <p:nvSpPr>
          <p:cNvPr id="31" name="a3_f2"/>
          <p:cNvSpPr/>
          <p:nvPr/>
        </p:nvSpPr>
        <p:spPr>
          <a:xfrm>
            <a:off x="8485632" y="3611880"/>
            <a:ext cx="548640" cy="411480"/>
          </a:xfrm>
          <a:prstGeom prst="rightArrow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2" name="a3_r"/>
          <p:cNvSpPr/>
          <p:nvPr/>
        </p:nvSpPr>
        <p:spPr>
          <a:xfrm>
            <a:off x="9189720" y="1783080"/>
            <a:ext cx="2450592" cy="4114800"/>
          </a:xfrm>
          <a:prstGeom prst="roundRect">
            <a:avLst>
              <a:gd name="adj" fmla="val 67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3" name="a3_n1"/>
          <p:cNvSpPr txBox="1"/>
          <p:nvPr/>
        </p:nvSpPr>
        <p:spPr>
          <a:xfrm>
            <a:off x="9418320" y="2057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36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50.500</a:t>
            </a:r>
            <a:endParaRPr lang="es-ES" sz="3600" dirty="0"/>
          </a:p>
        </p:txBody>
      </p:sp>
      <p:sp>
        <p:nvSpPr>
          <p:cNvPr id="34" name="a3_l1"/>
          <p:cNvSpPr txBox="1"/>
          <p:nvPr/>
        </p:nvSpPr>
        <p:spPr>
          <a:xfrm>
            <a:off x="9418320" y="2743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</a:t>
            </a:r>
            <a:endParaRPr lang="es-ES" sz="1400" dirty="0"/>
          </a:p>
        </p:txBody>
      </p:sp>
      <p:sp>
        <p:nvSpPr>
          <p:cNvPr id="35" name="a3_n2"/>
          <p:cNvSpPr txBox="1"/>
          <p:nvPr/>
        </p:nvSpPr>
        <p:spPr>
          <a:xfrm>
            <a:off x="9418320" y="32918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36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317.000</a:t>
            </a:r>
            <a:endParaRPr lang="es-ES" sz="3600" dirty="0"/>
          </a:p>
        </p:txBody>
      </p:sp>
      <p:sp>
        <p:nvSpPr>
          <p:cNvPr id="36" name="a3_l2"/>
          <p:cNvSpPr txBox="1"/>
          <p:nvPr/>
        </p:nvSpPr>
        <p:spPr>
          <a:xfrm>
            <a:off x="9418320" y="3977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clics limpios</a:t>
            </a:r>
            <a:endParaRPr lang="es-ES" sz="1400" dirty="0"/>
          </a:p>
        </p:txBody>
      </p:sp>
      <p:sp>
        <p:nvSpPr>
          <p:cNvPr id="37" name="a3_l3"/>
          <p:cNvSpPr txBox="1"/>
          <p:nvPr/>
        </p:nvSpPr>
        <p:spPr>
          <a:xfrm>
            <a:off x="9418320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27.000</a:t>
            </a:r>
            <a:endParaRPr lang="es-ES" sz="1500" dirty="0"/>
          </a:p>
          <a:p>
            <a:pPr indent="0" marL="0">
              <a:buNone/>
            </a:pPr>
            <a:r>
              <a:rPr lang="es-ES" sz="1500" b="1" dirty="0">
                <a:solidFill>
                  <a:srgbClr val="6C9B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23.500</a:t>
            </a:r>
            <a:endParaRPr lang="es-E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7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Conoce al cliente típico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335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 · LOS DATOS</a:t>
            </a:r>
            <a:endParaRPr lang="es-ES" sz="1200" dirty="0"/>
          </a:p>
        </p:txBody>
      </p:sp>
      <p:sp>
        <p:nvSpPr>
          <p:cNvPr id="10" name="a1_b"/>
          <p:cNvSpPr/>
          <p:nvPr/>
        </p:nvSpPr>
        <p:spPr>
          <a:xfrm>
            <a:off x="548640" y="1783080"/>
            <a:ext cx="4937760" cy="4206240"/>
          </a:xfrm>
          <a:prstGeom prst="roundRect">
            <a:avLst>
              <a:gd name="adj" fmla="val 391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top"/>
          <p:cNvSpPr/>
          <p:nvPr/>
        </p:nvSpPr>
        <p:spPr>
          <a:xfrm>
            <a:off x="548640" y="1783080"/>
            <a:ext cx="4937760" cy="1371600"/>
          </a:xfrm>
          <a:prstGeom prst="roundRect">
            <a:avLst>
              <a:gd name="adj" fmla="val 1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a1_topb"/>
          <p:cNvSpPr/>
          <p:nvPr/>
        </p:nvSpPr>
        <p:spPr>
          <a:xfrm>
            <a:off x="548640" y="2834640"/>
            <a:ext cx="4937760" cy="32004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a1_av_c"/>
          <p:cNvSpPr/>
          <p:nvPr/>
        </p:nvSpPr>
        <p:spPr>
          <a:xfrm>
            <a:off x="868680" y="2029968"/>
            <a:ext cx="868680" cy="86868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pic>
        <p:nvPicPr>
          <p:cNvPr id="14" name="a1_av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255825"/>
            <a:ext cx="416966" cy="416966"/>
          </a:xfrm>
          <a:prstGeom prst="rect">
            <a:avLst/>
          </a:prstGeom>
        </p:spPr>
      </p:pic>
      <p:sp>
        <p:nvSpPr>
          <p:cNvPr id="15" name="a1_nom"/>
          <p:cNvSpPr txBox="1"/>
          <p:nvPr/>
        </p:nvSpPr>
        <p:spPr>
          <a:xfrm>
            <a:off x="1920240" y="20116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típico</a:t>
            </a:r>
            <a:endParaRPr lang="es-ES" sz="2400" dirty="0"/>
          </a:p>
          <a:p>
            <a:pPr indent="0" marL="0">
              <a:buNone/>
            </a:pPr>
            <a:r>
              <a:rPr lang="es-ES" sz="13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mediana de los 50.500 clientes del test</a:t>
            </a:r>
            <a:endParaRPr lang="es-ES" sz="2400" dirty="0"/>
          </a:p>
        </p:txBody>
      </p:sp>
      <p:sp>
        <p:nvSpPr>
          <p:cNvPr id="16" name="a2_n0"/>
          <p:cNvSpPr txBox="1"/>
          <p:nvPr/>
        </p:nvSpPr>
        <p:spPr>
          <a:xfrm>
            <a:off x="960120" y="3383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años</a:t>
            </a:r>
            <a:endParaRPr lang="es-ES" sz="2200" dirty="0"/>
          </a:p>
        </p:txBody>
      </p:sp>
      <p:sp>
        <p:nvSpPr>
          <p:cNvPr id="17" name="a2_d0"/>
          <p:cNvSpPr txBox="1"/>
          <p:nvPr/>
        </p:nvSpPr>
        <p:spPr>
          <a:xfrm>
            <a:off x="3337560" y="33832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edad</a:t>
            </a:r>
            <a:endParaRPr lang="es-ES" sz="1400" dirty="0"/>
          </a:p>
        </p:txBody>
      </p:sp>
      <p:sp>
        <p:nvSpPr>
          <p:cNvPr id="18" name="a2_n1"/>
          <p:cNvSpPr txBox="1"/>
          <p:nvPr/>
        </p:nvSpPr>
        <p:spPr>
          <a:xfrm>
            <a:off x="960120" y="4023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años</a:t>
            </a:r>
            <a:endParaRPr lang="es-ES" sz="2200" dirty="0"/>
          </a:p>
        </p:txBody>
      </p:sp>
      <p:sp>
        <p:nvSpPr>
          <p:cNvPr id="19" name="a2_d1"/>
          <p:cNvSpPr txBox="1"/>
          <p:nvPr/>
        </p:nvSpPr>
        <p:spPr>
          <a:xfrm>
            <a:off x="3337560" y="4023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Vanguard</a:t>
            </a:r>
            <a:endParaRPr lang="es-ES" sz="1400" dirty="0"/>
          </a:p>
        </p:txBody>
      </p:sp>
      <p:sp>
        <p:nvSpPr>
          <p:cNvPr id="20" name="a2_n2"/>
          <p:cNvSpPr txBox="1"/>
          <p:nvPr/>
        </p:nvSpPr>
        <p:spPr>
          <a:xfrm>
            <a:off x="960120" y="4663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visita</a:t>
            </a:r>
            <a:endParaRPr lang="es-ES" sz="2200" dirty="0"/>
          </a:p>
        </p:txBody>
      </p:sp>
      <p:sp>
        <p:nvSpPr>
          <p:cNvPr id="21" name="a2_d2"/>
          <p:cNvSpPr txBox="1"/>
          <p:nvPr/>
        </p:nvSpPr>
        <p:spPr>
          <a:xfrm>
            <a:off x="3337560" y="46634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hacer el proceso</a:t>
            </a:r>
            <a:endParaRPr lang="es-ES" sz="1400" dirty="0"/>
          </a:p>
        </p:txBody>
      </p:sp>
      <p:sp>
        <p:nvSpPr>
          <p:cNvPr id="22" name="a2_n3"/>
          <p:cNvSpPr txBox="1"/>
          <p:nvPr/>
        </p:nvSpPr>
        <p:spPr>
          <a:xfrm>
            <a:off x="960120" y="5303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Miércoles, 11 h</a:t>
            </a:r>
            <a:endParaRPr lang="es-ES" sz="2200" dirty="0"/>
          </a:p>
        </p:txBody>
      </p:sp>
      <p:sp>
        <p:nvSpPr>
          <p:cNvPr id="23" name="a2_d3"/>
          <p:cNvSpPr txBox="1"/>
          <p:nvPr/>
        </p:nvSpPr>
        <p:spPr>
          <a:xfrm>
            <a:off x="33375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hora punta</a:t>
            </a:r>
            <a:endParaRPr lang="es-ES" sz="1400" dirty="0"/>
          </a:p>
        </p:txBody>
      </p:sp>
      <p:sp>
        <p:nvSpPr>
          <p:cNvPr id="24" name="a3_c"/>
          <p:cNvSpPr/>
          <p:nvPr/>
        </p:nvSpPr>
        <p:spPr>
          <a:xfrm>
            <a:off x="5806440" y="1783080"/>
            <a:ext cx="5833872" cy="1280160"/>
          </a:xfrm>
          <a:prstGeom prst="roundRect">
            <a:avLst>
              <a:gd name="adj" fmla="val 12857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5" name="a3_n"/>
          <p:cNvSpPr txBox="1"/>
          <p:nvPr/>
        </p:nvSpPr>
        <p:spPr>
          <a:xfrm>
            <a:off x="6126480" y="17830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0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92 %</a:t>
            </a:r>
            <a:endParaRPr lang="es-ES" sz="4000" dirty="0"/>
          </a:p>
        </p:txBody>
      </p:sp>
      <p:sp>
        <p:nvSpPr>
          <p:cNvPr id="26" name="a3_t"/>
          <p:cNvSpPr txBox="1"/>
          <p:nvPr/>
        </p:nvSpPr>
        <p:spPr>
          <a:xfrm>
            <a:off x="8001000" y="178308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lleva 5 años o más como cliente: casi nadie es nuevo</a:t>
            </a:r>
            <a:endParaRPr lang="es-ES" sz="1400" dirty="0"/>
          </a:p>
        </p:txBody>
      </p:sp>
      <p:sp>
        <p:nvSpPr>
          <p:cNvPr id="27" name="a4_c"/>
          <p:cNvSpPr/>
          <p:nvPr/>
        </p:nvSpPr>
        <p:spPr>
          <a:xfrm>
            <a:off x="5806440" y="3246120"/>
            <a:ext cx="5833872" cy="1280160"/>
          </a:xfrm>
          <a:prstGeom prst="roundRect">
            <a:avLst>
              <a:gd name="adj" fmla="val 12857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8" name="a4_n"/>
          <p:cNvSpPr txBox="1"/>
          <p:nvPr/>
        </p:nvSpPr>
        <p:spPr>
          <a:xfrm>
            <a:off x="6126480" y="32461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0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74 %</a:t>
            </a:r>
            <a:endParaRPr lang="es-ES" sz="4000" dirty="0"/>
          </a:p>
        </p:txBody>
      </p:sp>
      <p:sp>
        <p:nvSpPr>
          <p:cNvPr id="29" name="a4_t"/>
          <p:cNvSpPr txBox="1"/>
          <p:nvPr/>
        </p:nvSpPr>
        <p:spPr>
          <a:xfrm>
            <a:off x="8001000" y="324612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el proceso en una sola visita; quien vuelve otro día completa más</a:t>
            </a:r>
            <a:endParaRPr lang="es-ES" sz="1400" dirty="0"/>
          </a:p>
        </p:txBody>
      </p:sp>
      <p:sp>
        <p:nvSpPr>
          <p:cNvPr id="30" name="a5_c"/>
          <p:cNvSpPr/>
          <p:nvPr/>
        </p:nvSpPr>
        <p:spPr>
          <a:xfrm>
            <a:off x="5806440" y="4709160"/>
            <a:ext cx="5833872" cy="1280160"/>
          </a:xfrm>
          <a:prstGeom prst="roundRect">
            <a:avLst>
              <a:gd name="adj" fmla="val 12857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1" name="a5_n"/>
          <p:cNvSpPr txBox="1"/>
          <p:nvPr/>
        </p:nvSpPr>
        <p:spPr>
          <a:xfrm>
            <a:off x="6126480" y="4709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56 %</a:t>
            </a:r>
            <a:endParaRPr lang="es-ES" sz="4000" dirty="0"/>
          </a:p>
        </p:txBody>
      </p:sp>
      <p:sp>
        <p:nvSpPr>
          <p:cNvPr id="32" name="a5_t"/>
          <p:cNvSpPr txBox="1"/>
          <p:nvPr/>
        </p:nvSpPr>
        <p:spPr>
          <a:xfrm>
            <a:off x="8001000" y="470916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tiene 45 años o más. Retened este dato: ahí está el problema</a:t>
            </a:r>
            <a:endParaRPr lang="es-E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8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2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0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D976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3439" y="347472"/>
            <a:ext cx="219456" cy="219456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8" name="a1_paso"/>
          <p:cNvSpPr txBox="1"/>
          <p:nvPr/>
        </p:nvSpPr>
        <p:spPr>
          <a:xfrm>
            <a:off x="457200" y="1097280"/>
            <a:ext cx="11430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0" b="1" dirty="0">
                <a:solidFill>
                  <a:srgbClr val="FFB4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step_2</a:t>
            </a:r>
            <a:endParaRPr lang="es-ES" sz="15000" dirty="0"/>
          </a:p>
        </p:txBody>
      </p:sp>
      <p:sp>
        <p:nvSpPr>
          <p:cNvPr id="9" name="a2_eti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spc="300" kern="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 3 DE 5 · QUÉ PASÓ</a:t>
            </a:r>
            <a:endParaRPr lang="es-ES" sz="1500" dirty="0"/>
          </a:p>
        </p:txBody>
      </p:sp>
      <p:sp>
        <p:nvSpPr>
          <p:cNvPr id="10" name="a2_q"/>
          <p:cNvSpPr txBox="1"/>
          <p:nvPr/>
        </p:nvSpPr>
        <p:spPr>
          <a:xfrm>
            <a:off x="548640" y="4343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4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pasó con el nuevo diseño?</a:t>
            </a:r>
            <a:endParaRPr lang="es-E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B1424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9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3 KPI: el Test gana en dos de tres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4343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STEP_2 · QUÉ PASÓ</a:t>
            </a:r>
            <a:endParaRPr lang="es-ES" sz="1200" dirty="0"/>
          </a:p>
        </p:txBody>
      </p:sp>
      <p:sp>
        <p:nvSpPr>
          <p:cNvPr id="10" name="a1_fg"/>
          <p:cNvSpPr/>
          <p:nvPr/>
        </p:nvSpPr>
        <p:spPr>
          <a:xfrm>
            <a:off x="548640" y="1783080"/>
            <a:ext cx="635508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cap"/>
          <p:cNvSpPr txBox="1"/>
          <p:nvPr/>
        </p:nvSpPr>
        <p:spPr>
          <a:xfrm>
            <a:off x="822960" y="1920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1 en detalle: % de clientes que llega a cada paso</a:t>
            </a:r>
            <a:endParaRPr lang="es-ES" sz="1300" dirty="0"/>
          </a:p>
        </p:txBody>
      </p:sp>
      <p:graphicFrame>
        <p:nvGraphicFramePr>
          <p:cNvPr id="12" name="a1_ch" descr=""/>
          <p:cNvGraphicFramePr/>
          <p:nvPr/>
        </p:nvGraphicFramePr>
        <p:xfrm>
          <a:off x="685800" y="2240280"/>
          <a:ext cx="60807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a2_c"/>
          <p:cNvSpPr/>
          <p:nvPr/>
        </p:nvSpPr>
        <p:spPr>
          <a:xfrm>
            <a:off x="7132320" y="1783080"/>
            <a:ext cx="450799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4" name="a2_n"/>
          <p:cNvSpPr txBox="1"/>
          <p:nvPr/>
        </p:nvSpPr>
        <p:spPr>
          <a:xfrm>
            <a:off x="7360920" y="18928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1 · </a:t>
            </a:r>
            <a:pPr indent="0" marL="0">
              <a:buNone/>
            </a:pPr>
            <a:r>
              <a:rPr lang="es-ES" sz="15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Tasa de finalización</a:t>
            </a:r>
            <a:endParaRPr lang="es-ES" sz="1500" dirty="0"/>
          </a:p>
        </p:txBody>
      </p:sp>
      <p:sp>
        <p:nvSpPr>
          <p:cNvPr id="15" name="a2_d"/>
          <p:cNvSpPr txBox="1"/>
          <p:nvPr/>
        </p:nvSpPr>
        <p:spPr>
          <a:xfrm>
            <a:off x="7360920" y="22128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que llegan a confirm / clientes del grupo</a:t>
            </a:r>
            <a:endParaRPr lang="es-ES" sz="1200" dirty="0"/>
          </a:p>
        </p:txBody>
      </p:sp>
      <p:sp>
        <p:nvSpPr>
          <p:cNvPr id="16" name="a2_v"/>
          <p:cNvSpPr txBox="1"/>
          <p:nvPr/>
        </p:nvSpPr>
        <p:spPr>
          <a:xfrm>
            <a:off x="7360920" y="25511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65,6 % → 69,3 %</a:t>
            </a:r>
            <a:endParaRPr lang="es-ES" sz="1900" dirty="0"/>
          </a:p>
        </p:txBody>
      </p:sp>
      <p:sp>
        <p:nvSpPr>
          <p:cNvPr id="17" name="a2_b"/>
          <p:cNvSpPr/>
          <p:nvPr/>
        </p:nvSpPr>
        <p:spPr>
          <a:xfrm>
            <a:off x="10058400" y="260604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a2_g"/>
          <p:cNvSpPr txBox="1"/>
          <p:nvPr/>
        </p:nvSpPr>
        <p:spPr>
          <a:xfrm>
            <a:off x="10058400" y="260604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 Test</a:t>
            </a:r>
            <a:endParaRPr lang="es-ES" sz="1200" dirty="0"/>
          </a:p>
        </p:txBody>
      </p:sp>
      <p:sp>
        <p:nvSpPr>
          <p:cNvPr id="19" name="a3_c"/>
          <p:cNvSpPr/>
          <p:nvPr/>
        </p:nvSpPr>
        <p:spPr>
          <a:xfrm>
            <a:off x="7132320" y="3291840"/>
            <a:ext cx="450799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0" name="a3_n"/>
          <p:cNvSpPr txBox="1"/>
          <p:nvPr/>
        </p:nvSpPr>
        <p:spPr>
          <a:xfrm>
            <a:off x="7360920" y="3401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2 · </a:t>
            </a:r>
            <a:pPr indent="0" marL="0">
              <a:buNone/>
            </a:pPr>
            <a:r>
              <a:rPr lang="es-ES" sz="15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Tiempo en cada paso</a:t>
            </a:r>
            <a:endParaRPr lang="es-ES" sz="1500" dirty="0"/>
          </a:p>
        </p:txBody>
      </p:sp>
      <p:sp>
        <p:nvSpPr>
          <p:cNvPr id="21" name="a3_d"/>
          <p:cNvSpPr txBox="1"/>
          <p:nvPr/>
        </p:nvSpPr>
        <p:spPr>
          <a:xfrm>
            <a:off x="7360920" y="3721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por paso: más rápido salvo en step_1</a:t>
            </a:r>
            <a:endParaRPr lang="es-ES" sz="1200" dirty="0"/>
          </a:p>
        </p:txBody>
      </p:sp>
      <p:sp>
        <p:nvSpPr>
          <p:cNvPr id="22" name="a3_v"/>
          <p:cNvSpPr txBox="1"/>
          <p:nvPr/>
        </p:nvSpPr>
        <p:spPr>
          <a:xfrm>
            <a:off x="7360920" y="40599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s menos en total</a:t>
            </a:r>
            <a:endParaRPr lang="es-ES" sz="1900" dirty="0"/>
          </a:p>
        </p:txBody>
      </p:sp>
      <p:sp>
        <p:nvSpPr>
          <p:cNvPr id="23" name="a3_b"/>
          <p:cNvSpPr/>
          <p:nvPr/>
        </p:nvSpPr>
        <p:spPr>
          <a:xfrm>
            <a:off x="10058400" y="41148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4" name="a3_g"/>
          <p:cNvSpPr txBox="1"/>
          <p:nvPr/>
        </p:nvSpPr>
        <p:spPr>
          <a:xfrm>
            <a:off x="10058400" y="411480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 Test</a:t>
            </a:r>
            <a:endParaRPr lang="es-ES" sz="1200" dirty="0"/>
          </a:p>
        </p:txBody>
      </p:sp>
      <p:sp>
        <p:nvSpPr>
          <p:cNvPr id="25" name="a4_c"/>
          <p:cNvSpPr/>
          <p:nvPr/>
        </p:nvSpPr>
        <p:spPr>
          <a:xfrm>
            <a:off x="7132320" y="4800600"/>
            <a:ext cx="450799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6" name="a4_n"/>
          <p:cNvSpPr txBox="1"/>
          <p:nvPr/>
        </p:nvSpPr>
        <p:spPr>
          <a:xfrm>
            <a:off x="7360920" y="49103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3 · </a:t>
            </a:r>
            <a:pPr indent="0" marL="0">
              <a:buNone/>
            </a:pPr>
            <a:r>
              <a:rPr lang="es-ES" sz="15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Tasa de errores</a:t>
            </a:r>
            <a:endParaRPr lang="es-ES" sz="1500" dirty="0"/>
          </a:p>
        </p:txBody>
      </p:sp>
      <p:sp>
        <p:nvSpPr>
          <p:cNvPr id="27" name="a4_d"/>
          <p:cNvSpPr txBox="1"/>
          <p:nvPr/>
        </p:nvSpPr>
        <p:spPr>
          <a:xfrm>
            <a:off x="7360920" y="5230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pasos hacia atrás / total de pasos</a:t>
            </a:r>
            <a:endParaRPr lang="es-ES" sz="1200" dirty="0"/>
          </a:p>
        </p:txBody>
      </p:sp>
      <p:sp>
        <p:nvSpPr>
          <p:cNvPr id="28" name="a4_v"/>
          <p:cNvSpPr txBox="1"/>
          <p:nvPr/>
        </p:nvSpPr>
        <p:spPr>
          <a:xfrm>
            <a:off x="7360920" y="556869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7 % → 9 %</a:t>
            </a:r>
            <a:endParaRPr lang="es-ES" sz="1900" dirty="0"/>
          </a:p>
        </p:txBody>
      </p:sp>
      <p:sp>
        <p:nvSpPr>
          <p:cNvPr id="29" name="a4_b"/>
          <p:cNvSpPr/>
          <p:nvPr/>
        </p:nvSpPr>
        <p:spPr>
          <a:xfrm>
            <a:off x="10058400" y="562356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30" name="a4_g"/>
          <p:cNvSpPr txBox="1"/>
          <p:nvPr/>
        </p:nvSpPr>
        <p:spPr>
          <a:xfrm>
            <a:off x="10058400" y="5623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 Control</a:t>
            </a:r>
            <a:endParaRPr lang="es-E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10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25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Graphic spid="12" grpId="0">
        <p:bldAsOne/>
      </p:bldGraphic>
      <p:bldP spid="14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Dónde se pierden: el mapa de las vueltas atrás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4343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STEP_2 · QUÉ PASÓ</a:t>
            </a:r>
            <a:endParaRPr lang="es-ES" sz="1200" dirty="0"/>
          </a:p>
        </p:txBody>
      </p:sp>
      <p:sp>
        <p:nvSpPr>
          <p:cNvPr id="10" name="a1_fg"/>
          <p:cNvSpPr/>
          <p:nvPr/>
        </p:nvSpPr>
        <p:spPr>
          <a:xfrm>
            <a:off x="548640" y="1783080"/>
            <a:ext cx="781812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2_c0"/>
          <p:cNvSpPr/>
          <p:nvPr/>
        </p:nvSpPr>
        <p:spPr>
          <a:xfrm>
            <a:off x="1325880" y="2395728"/>
            <a:ext cx="6400800" cy="3108960"/>
          </a:xfrm>
          <a:prstGeom prst="blockArc">
            <a:avLst>
              <a:gd name="adj1" fmla="val 10800000"/>
              <a:gd name="adj2" fmla="val 21600000"/>
              <a:gd name="adj3" fmla="val 1546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2" name="a3_t0"/>
          <p:cNvSpPr/>
          <p:nvPr/>
        </p:nvSpPr>
        <p:spPr>
          <a:xfrm>
            <a:off x="1325880" y="2395728"/>
            <a:ext cx="6400800" cy="3108960"/>
          </a:xfrm>
          <a:prstGeom prst="blockArc">
            <a:avLst>
              <a:gd name="adj1" fmla="val 0"/>
              <a:gd name="adj2" fmla="val 10800000"/>
              <a:gd name="adj3" fmla="val 1137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a2_c1"/>
          <p:cNvSpPr/>
          <p:nvPr/>
        </p:nvSpPr>
        <p:spPr>
          <a:xfrm>
            <a:off x="1325880" y="2462022"/>
            <a:ext cx="4800600" cy="2976372"/>
          </a:xfrm>
          <a:prstGeom prst="blockArc">
            <a:avLst>
              <a:gd name="adj1" fmla="val 10800000"/>
              <a:gd name="adj2" fmla="val 21600000"/>
              <a:gd name="adj3" fmla="val 2611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4" name="a3_t1"/>
          <p:cNvSpPr/>
          <p:nvPr/>
        </p:nvSpPr>
        <p:spPr>
          <a:xfrm>
            <a:off x="1325880" y="2462022"/>
            <a:ext cx="4800600" cy="2976372"/>
          </a:xfrm>
          <a:prstGeom prst="blockArc">
            <a:avLst>
              <a:gd name="adj1" fmla="val 0"/>
              <a:gd name="adj2" fmla="val 10800000"/>
              <a:gd name="adj3" fmla="val 4646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a2_c2"/>
          <p:cNvSpPr/>
          <p:nvPr/>
        </p:nvSpPr>
        <p:spPr>
          <a:xfrm>
            <a:off x="2926080" y="2462022"/>
            <a:ext cx="4800600" cy="2976372"/>
          </a:xfrm>
          <a:prstGeom prst="blockArc">
            <a:avLst>
              <a:gd name="adj1" fmla="val 10800000"/>
              <a:gd name="adj2" fmla="val 21600000"/>
              <a:gd name="adj3" fmla="val 938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6" name="a3_t2"/>
          <p:cNvSpPr/>
          <p:nvPr/>
        </p:nvSpPr>
        <p:spPr>
          <a:xfrm>
            <a:off x="2926080" y="2462022"/>
            <a:ext cx="4800600" cy="2976372"/>
          </a:xfrm>
          <a:prstGeom prst="blockArc">
            <a:avLst>
              <a:gd name="adj1" fmla="val 0"/>
              <a:gd name="adj2" fmla="val 10800000"/>
              <a:gd name="adj3" fmla="val 846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a2_c3"/>
          <p:cNvSpPr/>
          <p:nvPr/>
        </p:nvSpPr>
        <p:spPr>
          <a:xfrm>
            <a:off x="1325880" y="2958084"/>
            <a:ext cx="3200400" cy="1984248"/>
          </a:xfrm>
          <a:prstGeom prst="blockArc">
            <a:avLst>
              <a:gd name="adj1" fmla="val 10800000"/>
              <a:gd name="adj2" fmla="val 21600000"/>
              <a:gd name="adj3" fmla="val 3172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8" name="a3_t3"/>
          <p:cNvSpPr/>
          <p:nvPr/>
        </p:nvSpPr>
        <p:spPr>
          <a:xfrm>
            <a:off x="1325880" y="2958084"/>
            <a:ext cx="3200400" cy="1984248"/>
          </a:xfrm>
          <a:prstGeom prst="blockArc">
            <a:avLst>
              <a:gd name="adj1" fmla="val 0"/>
              <a:gd name="adj2" fmla="val 10800000"/>
              <a:gd name="adj3" fmla="val 5482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a2_c4"/>
          <p:cNvSpPr/>
          <p:nvPr/>
        </p:nvSpPr>
        <p:spPr>
          <a:xfrm>
            <a:off x="2926080" y="2958084"/>
            <a:ext cx="3200400" cy="1984248"/>
          </a:xfrm>
          <a:prstGeom prst="blockArc">
            <a:avLst>
              <a:gd name="adj1" fmla="val 10800000"/>
              <a:gd name="adj2" fmla="val 21600000"/>
              <a:gd name="adj3" fmla="val 3290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20" name="a3_t4"/>
          <p:cNvSpPr/>
          <p:nvPr/>
        </p:nvSpPr>
        <p:spPr>
          <a:xfrm>
            <a:off x="2926080" y="2958084"/>
            <a:ext cx="3200400" cy="1984248"/>
          </a:xfrm>
          <a:prstGeom prst="blockArc">
            <a:avLst>
              <a:gd name="adj1" fmla="val 0"/>
              <a:gd name="adj2" fmla="val 10800000"/>
              <a:gd name="adj3" fmla="val 1816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1" name="a2_c5"/>
          <p:cNvSpPr/>
          <p:nvPr/>
        </p:nvSpPr>
        <p:spPr>
          <a:xfrm>
            <a:off x="1325880" y="3454146"/>
            <a:ext cx="1600200" cy="992124"/>
          </a:xfrm>
          <a:prstGeom prst="blockArc">
            <a:avLst>
              <a:gd name="adj1" fmla="val 10800000"/>
              <a:gd name="adj2" fmla="val 21600000"/>
              <a:gd name="adj3" fmla="val 15233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22" name="a3_t5"/>
          <p:cNvSpPr/>
          <p:nvPr/>
        </p:nvSpPr>
        <p:spPr>
          <a:xfrm>
            <a:off x="1325880" y="3454146"/>
            <a:ext cx="1600200" cy="992124"/>
          </a:xfrm>
          <a:prstGeom prst="blockArc">
            <a:avLst>
              <a:gd name="adj1" fmla="val 0"/>
              <a:gd name="adj2" fmla="val 10800000"/>
              <a:gd name="adj3" fmla="val 35484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a2_c6"/>
          <p:cNvSpPr/>
          <p:nvPr/>
        </p:nvSpPr>
        <p:spPr>
          <a:xfrm>
            <a:off x="2926080" y="3454146"/>
            <a:ext cx="1600200" cy="992124"/>
          </a:xfrm>
          <a:prstGeom prst="blockArc">
            <a:avLst>
              <a:gd name="adj1" fmla="val 10800000"/>
              <a:gd name="adj2" fmla="val 21600000"/>
              <a:gd name="adj3" fmla="val 9511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24" name="a3_t6"/>
          <p:cNvSpPr/>
          <p:nvPr/>
        </p:nvSpPr>
        <p:spPr>
          <a:xfrm>
            <a:off x="2926080" y="3454146"/>
            <a:ext cx="1600200" cy="992124"/>
          </a:xfrm>
          <a:prstGeom prst="blockArc">
            <a:avLst>
              <a:gd name="adj1" fmla="val 0"/>
              <a:gd name="adj2" fmla="val 10800000"/>
              <a:gd name="adj3" fmla="val 18446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5" name="a2_c7"/>
          <p:cNvSpPr/>
          <p:nvPr/>
        </p:nvSpPr>
        <p:spPr>
          <a:xfrm>
            <a:off x="4526280" y="3454146"/>
            <a:ext cx="1600200" cy="992124"/>
          </a:xfrm>
          <a:prstGeom prst="blockArc">
            <a:avLst>
              <a:gd name="adj1" fmla="val 10800000"/>
              <a:gd name="adj2" fmla="val 21600000"/>
              <a:gd name="adj3" fmla="val 14629"/>
            </a:avLst>
          </a:prstGeom>
          <a:solidFill>
            <a:srgbClr val="6C9BD2">
              <a:alpha val="85000"/>
            </a:srgbClr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26" name="a3_t7"/>
          <p:cNvSpPr/>
          <p:nvPr/>
        </p:nvSpPr>
        <p:spPr>
          <a:xfrm>
            <a:off x="4526280" y="3454146"/>
            <a:ext cx="1600200" cy="992124"/>
          </a:xfrm>
          <a:prstGeom prst="blockArc">
            <a:avLst>
              <a:gd name="adj1" fmla="val 0"/>
              <a:gd name="adj2" fmla="val 10800000"/>
              <a:gd name="adj3" fmla="val 14057"/>
            </a:avLst>
          </a:prstGeom>
          <a:solidFill>
            <a:srgbClr val="F28E2B">
              <a:alpha val="9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7" name="a1_lin"/>
          <p:cNvSpPr/>
          <p:nvPr/>
        </p:nvSpPr>
        <p:spPr>
          <a:xfrm>
            <a:off x="1325880" y="3950208"/>
            <a:ext cx="6400800" cy="0"/>
          </a:xfrm>
          <a:prstGeom prst="line">
            <a:avLst/>
          </a:prstGeom>
          <a:noFill/>
          <a:ln w="25400">
            <a:solidFill>
              <a:srgbClr val="2A3B57"/>
            </a:solidFill>
            <a:prstDash val="solid"/>
          </a:ln>
        </p:spPr>
      </p:sp>
      <p:sp>
        <p:nvSpPr>
          <p:cNvPr id="28" name="a1_n0"/>
          <p:cNvSpPr/>
          <p:nvPr/>
        </p:nvSpPr>
        <p:spPr>
          <a:xfrm>
            <a:off x="777240" y="375818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29" name="a1_tx0"/>
          <p:cNvSpPr txBox="1"/>
          <p:nvPr/>
        </p:nvSpPr>
        <p:spPr>
          <a:xfrm>
            <a:off x="77724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s-ES" sz="1200" dirty="0"/>
          </a:p>
        </p:txBody>
      </p:sp>
      <p:sp>
        <p:nvSpPr>
          <p:cNvPr id="30" name="a1_n1"/>
          <p:cNvSpPr/>
          <p:nvPr/>
        </p:nvSpPr>
        <p:spPr>
          <a:xfrm>
            <a:off x="2377440" y="375818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5C6C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1" name="a1_tx1"/>
          <p:cNvSpPr txBox="1"/>
          <p:nvPr/>
        </p:nvSpPr>
        <p:spPr>
          <a:xfrm>
            <a:off x="237744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</a:t>
            </a:r>
            <a:endParaRPr lang="es-ES" sz="1200" dirty="0"/>
          </a:p>
        </p:txBody>
      </p:sp>
      <p:sp>
        <p:nvSpPr>
          <p:cNvPr id="32" name="a1_n2"/>
          <p:cNvSpPr/>
          <p:nvPr/>
        </p:nvSpPr>
        <p:spPr>
          <a:xfrm>
            <a:off x="3977640" y="375818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3" name="a1_tx2"/>
          <p:cNvSpPr txBox="1"/>
          <p:nvPr/>
        </p:nvSpPr>
        <p:spPr>
          <a:xfrm>
            <a:off x="397764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step_2</a:t>
            </a:r>
            <a:endParaRPr lang="es-ES" sz="1200" dirty="0"/>
          </a:p>
        </p:txBody>
      </p:sp>
      <p:sp>
        <p:nvSpPr>
          <p:cNvPr id="34" name="a1_n3"/>
          <p:cNvSpPr/>
          <p:nvPr/>
        </p:nvSpPr>
        <p:spPr>
          <a:xfrm>
            <a:off x="5577840" y="375818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5" name="a1_tx3"/>
          <p:cNvSpPr txBox="1"/>
          <p:nvPr/>
        </p:nvSpPr>
        <p:spPr>
          <a:xfrm>
            <a:off x="557784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</a:t>
            </a:r>
            <a:endParaRPr lang="es-ES" sz="1200" dirty="0"/>
          </a:p>
        </p:txBody>
      </p:sp>
      <p:sp>
        <p:nvSpPr>
          <p:cNvPr id="36" name="a1_n4"/>
          <p:cNvSpPr/>
          <p:nvPr/>
        </p:nvSpPr>
        <p:spPr>
          <a:xfrm>
            <a:off x="7178040" y="375818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7" name="a1_tx4"/>
          <p:cNvSpPr txBox="1"/>
          <p:nvPr/>
        </p:nvSpPr>
        <p:spPr>
          <a:xfrm>
            <a:off x="717804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</a:t>
            </a:r>
            <a:endParaRPr lang="es-ES" sz="1200" dirty="0"/>
          </a:p>
        </p:txBody>
      </p:sp>
      <p:sp>
        <p:nvSpPr>
          <p:cNvPr id="38" name="a2_lc"/>
          <p:cNvSpPr txBox="1"/>
          <p:nvPr/>
        </p:nvSpPr>
        <p:spPr>
          <a:xfrm>
            <a:off x="8229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6C9B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· vueltas por encima</a:t>
            </a:r>
            <a:endParaRPr lang="es-ES" sz="1300" dirty="0"/>
          </a:p>
        </p:txBody>
      </p:sp>
      <p:sp>
        <p:nvSpPr>
          <p:cNvPr id="39" name="a3_lt"/>
          <p:cNvSpPr txBox="1"/>
          <p:nvPr/>
        </p:nvSpPr>
        <p:spPr>
          <a:xfrm>
            <a:off x="82296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· vueltas por debajo</a:t>
            </a:r>
            <a:endParaRPr lang="es-ES" sz="1300" dirty="0"/>
          </a:p>
        </p:txBody>
      </p:sp>
      <p:sp>
        <p:nvSpPr>
          <p:cNvPr id="40" name="a2_e1"/>
          <p:cNvSpPr txBox="1"/>
          <p:nvPr/>
        </p:nvSpPr>
        <p:spPr>
          <a:xfrm>
            <a:off x="1417320" y="3154680"/>
            <a:ext cx="1508760" cy="274320"/>
          </a:xfrm>
          <a:prstGeom prst="rect">
            <a:avLst/>
          </a:prstGeom>
          <a:solidFill>
            <a:srgbClr val="15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b="1" dirty="0">
                <a:solidFill>
                  <a:srgbClr val="6C9B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 → start: 2.500</a:t>
            </a:r>
            <a:endParaRPr lang="es-ES" sz="1100" dirty="0"/>
          </a:p>
        </p:txBody>
      </p:sp>
      <p:sp>
        <p:nvSpPr>
          <p:cNvPr id="41" name="a3_e1"/>
          <p:cNvSpPr txBox="1"/>
          <p:nvPr/>
        </p:nvSpPr>
        <p:spPr>
          <a:xfrm>
            <a:off x="1417320" y="4617720"/>
            <a:ext cx="1508760" cy="274320"/>
          </a:xfrm>
          <a:prstGeom prst="rect">
            <a:avLst/>
          </a:prstGeom>
          <a:solidFill>
            <a:srgbClr val="15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step_1 → start: 6.400</a:t>
            </a:r>
            <a:endParaRPr lang="es-ES" sz="1100" dirty="0"/>
          </a:p>
        </p:txBody>
      </p:sp>
      <p:sp>
        <p:nvSpPr>
          <p:cNvPr id="42" name="a4_c"/>
          <p:cNvSpPr/>
          <p:nvPr/>
        </p:nvSpPr>
        <p:spPr>
          <a:xfrm>
            <a:off x="8595360" y="1783080"/>
            <a:ext cx="304495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43" name="a4_n"/>
          <p:cNvSpPr txBox="1"/>
          <p:nvPr/>
        </p:nvSpPr>
        <p:spPr>
          <a:xfrm>
            <a:off x="8823960" y="19019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8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Más del doble</a:t>
            </a:r>
            <a:endParaRPr lang="es-ES" sz="2800" dirty="0"/>
          </a:p>
        </p:txBody>
      </p:sp>
      <p:sp>
        <p:nvSpPr>
          <p:cNvPr id="44" name="a4_l"/>
          <p:cNvSpPr txBox="1"/>
          <p:nvPr/>
        </p:nvSpPr>
        <p:spPr>
          <a:xfrm>
            <a:off x="8823960" y="24963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vueltas de step_1 a start con el diseño nuevo</a:t>
            </a:r>
            <a:endParaRPr lang="es-ES" sz="1300" dirty="0"/>
          </a:p>
        </p:txBody>
      </p:sp>
      <p:sp>
        <p:nvSpPr>
          <p:cNvPr id="45" name="a4_c"/>
          <p:cNvSpPr/>
          <p:nvPr/>
        </p:nvSpPr>
        <p:spPr>
          <a:xfrm>
            <a:off x="8595360" y="3291840"/>
            <a:ext cx="304495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46" name="a4_n"/>
          <p:cNvSpPr txBox="1"/>
          <p:nvPr/>
        </p:nvSpPr>
        <p:spPr>
          <a:xfrm>
            <a:off x="8823960" y="341071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8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s</a:t>
            </a:r>
            <a:endParaRPr lang="es-ES" sz="2800" dirty="0"/>
          </a:p>
        </p:txBody>
      </p:sp>
      <p:sp>
        <p:nvSpPr>
          <p:cNvPr id="47" name="a4_l"/>
          <p:cNvSpPr txBox="1"/>
          <p:nvPr/>
        </p:nvSpPr>
        <p:spPr>
          <a:xfrm>
            <a:off x="8823960" y="400507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step_1 frente a 20 s: el único paso más lento</a:t>
            </a:r>
            <a:endParaRPr lang="es-ES" sz="1300" dirty="0"/>
          </a:p>
        </p:txBody>
      </p:sp>
      <p:sp>
        <p:nvSpPr>
          <p:cNvPr id="48" name="a5_c"/>
          <p:cNvSpPr/>
          <p:nvPr/>
        </p:nvSpPr>
        <p:spPr>
          <a:xfrm>
            <a:off x="8595360" y="4800600"/>
            <a:ext cx="304495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49" name="a5_n"/>
          <p:cNvSpPr txBox="1"/>
          <p:nvPr/>
        </p:nvSpPr>
        <p:spPr>
          <a:xfrm>
            <a:off x="8823960" y="491947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8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s menos</a:t>
            </a:r>
            <a:endParaRPr lang="es-ES" sz="2800" dirty="0"/>
          </a:p>
        </p:txBody>
      </p:sp>
      <p:sp>
        <p:nvSpPr>
          <p:cNvPr id="50" name="a5_l"/>
          <p:cNvSpPr txBox="1"/>
          <p:nvPr/>
        </p:nvSpPr>
        <p:spPr>
          <a:xfrm>
            <a:off x="8823960" y="551383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terminar el proceso: en conjunto, el Test es más rápido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11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75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5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25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000"/>
                            </p:stCondLst>
                            <p:childTnLst>
                              <p:par>
                                <p:cTn id="1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1" grpId="0" animBg="1"/>
      <p:bldP spid="33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44" grpId="0" animBg="1"/>
      <p:bldP spid="46" grpId="0" animBg="1"/>
      <p:bldP spid="47" grpId="0" animBg="1"/>
      <p:bldP spid="49" grpId="0" animBg="1"/>
      <p:bldP spid="5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D976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D9761A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8" name="a1_paso"/>
          <p:cNvSpPr txBox="1"/>
          <p:nvPr/>
        </p:nvSpPr>
        <p:spPr>
          <a:xfrm>
            <a:off x="457200" y="1097280"/>
            <a:ext cx="11430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0" b="1" dirty="0">
                <a:solidFill>
                  <a:srgbClr val="FFB4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step_3</a:t>
            </a:r>
            <a:endParaRPr lang="es-ES" sz="15000" dirty="0"/>
          </a:p>
        </p:txBody>
      </p:sp>
      <p:sp>
        <p:nvSpPr>
          <p:cNvPr id="9" name="a2_eti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spc="300" kern="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 4 DE 5 · ¿ES REAL?</a:t>
            </a:r>
            <a:endParaRPr lang="es-ES" sz="1500" dirty="0"/>
          </a:p>
        </p:txBody>
      </p:sp>
      <p:sp>
        <p:nvSpPr>
          <p:cNvPr id="10" name="a2_q"/>
          <p:cNvSpPr txBox="1"/>
          <p:nvPr/>
        </p:nvSpPr>
        <p:spPr>
          <a:xfrm>
            <a:off x="548640" y="4343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4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¿Es real… y es suficiente?</a:t>
            </a:r>
            <a:endParaRPr lang="es-E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B1424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12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Real, sí. Suficiente, no está demostrado.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fg"/>
          <p:cNvSpPr/>
          <p:nvPr/>
        </p:nvSpPr>
        <p:spPr>
          <a:xfrm>
            <a:off x="548640" y="1783080"/>
            <a:ext cx="72237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cap"/>
          <p:cNvSpPr txBox="1"/>
          <p:nvPr/>
        </p:nvSpPr>
        <p:spPr>
          <a:xfrm>
            <a:off x="868680" y="1965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del Test, en puntos, con su margen de error · t de Welch, α = 0,05</a:t>
            </a:r>
            <a:endParaRPr lang="es-ES" sz="1400" dirty="0"/>
          </a:p>
        </p:txBody>
      </p:sp>
      <p:sp>
        <p:nvSpPr>
          <p:cNvPr id="12" name="a1_eje"/>
          <p:cNvSpPr/>
          <p:nvPr/>
        </p:nvSpPr>
        <p:spPr>
          <a:xfrm>
            <a:off x="1143000" y="4572000"/>
            <a:ext cx="5943600" cy="0"/>
          </a:xfrm>
          <a:prstGeom prst="line">
            <a:avLst/>
          </a:prstGeom>
          <a:noFill/>
          <a:ln w="25400">
            <a:solidFill>
              <a:srgbClr val="2A3B57"/>
            </a:solidFill>
            <a:prstDash val="solid"/>
          </a:ln>
        </p:spPr>
      </p:sp>
      <p:sp>
        <p:nvSpPr>
          <p:cNvPr id="13" name="a1_tl0"/>
          <p:cNvSpPr txBox="1"/>
          <p:nvPr/>
        </p:nvSpPr>
        <p:spPr>
          <a:xfrm>
            <a:off x="8686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s-ES" sz="1200" dirty="0"/>
          </a:p>
        </p:txBody>
      </p:sp>
      <p:sp>
        <p:nvSpPr>
          <p:cNvPr id="14" name="a1_tl1"/>
          <p:cNvSpPr txBox="1"/>
          <p:nvPr/>
        </p:nvSpPr>
        <p:spPr>
          <a:xfrm>
            <a:off x="18592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s-ES" sz="1200" dirty="0"/>
          </a:p>
        </p:txBody>
      </p:sp>
      <p:sp>
        <p:nvSpPr>
          <p:cNvPr id="15" name="a1_tl2"/>
          <p:cNvSpPr txBox="1"/>
          <p:nvPr/>
        </p:nvSpPr>
        <p:spPr>
          <a:xfrm>
            <a:off x="28498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s-ES" sz="1200" dirty="0"/>
          </a:p>
        </p:txBody>
      </p:sp>
      <p:sp>
        <p:nvSpPr>
          <p:cNvPr id="16" name="a1_tl3"/>
          <p:cNvSpPr txBox="1"/>
          <p:nvPr/>
        </p:nvSpPr>
        <p:spPr>
          <a:xfrm>
            <a:off x="38404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s-ES" sz="1200" dirty="0"/>
          </a:p>
        </p:txBody>
      </p:sp>
      <p:sp>
        <p:nvSpPr>
          <p:cNvPr id="17" name="a1_tl4"/>
          <p:cNvSpPr txBox="1"/>
          <p:nvPr/>
        </p:nvSpPr>
        <p:spPr>
          <a:xfrm>
            <a:off x="48310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s-ES" sz="1200" dirty="0"/>
          </a:p>
        </p:txBody>
      </p:sp>
      <p:sp>
        <p:nvSpPr>
          <p:cNvPr id="18" name="a1_tl5"/>
          <p:cNvSpPr txBox="1"/>
          <p:nvPr/>
        </p:nvSpPr>
        <p:spPr>
          <a:xfrm>
            <a:off x="58216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s-ES" sz="1200" dirty="0"/>
          </a:p>
        </p:txBody>
      </p:sp>
      <p:sp>
        <p:nvSpPr>
          <p:cNvPr id="19" name="a1_tl6"/>
          <p:cNvSpPr txBox="1"/>
          <p:nvPr/>
        </p:nvSpPr>
        <p:spPr>
          <a:xfrm>
            <a:off x="6812280" y="4681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s-ES" sz="1200" dirty="0"/>
          </a:p>
        </p:txBody>
      </p:sp>
      <p:sp>
        <p:nvSpPr>
          <p:cNvPr id="20" name="a3_l"/>
          <p:cNvSpPr/>
          <p:nvPr/>
        </p:nvSpPr>
        <p:spPr>
          <a:xfrm>
            <a:off x="1143000" y="2560320"/>
            <a:ext cx="0" cy="2011680"/>
          </a:xfrm>
          <a:prstGeom prst="line">
            <a:avLst/>
          </a:prstGeom>
          <a:noFill/>
          <a:ln w="25400">
            <a:solidFill>
              <a:srgbClr val="6B7C96"/>
            </a:solidFill>
            <a:prstDash val="dash"/>
          </a:ln>
        </p:spPr>
      </p:sp>
      <p:sp>
        <p:nvSpPr>
          <p:cNvPr id="21" name="a3_t"/>
          <p:cNvSpPr txBox="1"/>
          <p:nvPr/>
        </p:nvSpPr>
        <p:spPr>
          <a:xfrm>
            <a:off x="27432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· sin mejora</a:t>
            </a:r>
            <a:endParaRPr lang="es-ES" sz="1200" dirty="0"/>
          </a:p>
        </p:txBody>
      </p:sp>
      <p:sp>
        <p:nvSpPr>
          <p:cNvPr id="22" name="a4_l"/>
          <p:cNvSpPr/>
          <p:nvPr/>
        </p:nvSpPr>
        <p:spPr>
          <a:xfrm>
            <a:off x="4392168" y="2560320"/>
            <a:ext cx="0" cy="2011680"/>
          </a:xfrm>
          <a:prstGeom prst="line">
            <a:avLst/>
          </a:prstGeom>
          <a:noFill/>
          <a:ln w="25400">
            <a:solidFill>
              <a:srgbClr val="F5F7FA"/>
            </a:solidFill>
            <a:prstDash val="dash"/>
          </a:ln>
        </p:spPr>
      </p:sp>
      <p:sp>
        <p:nvSpPr>
          <p:cNvPr id="23" name="a4_t"/>
          <p:cNvSpPr txBox="1"/>
          <p:nvPr/>
        </p:nvSpPr>
        <p:spPr>
          <a:xfrm>
            <a:off x="3523488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 · 5 % relativo</a:t>
            </a:r>
            <a:endParaRPr lang="es-ES" sz="1200" dirty="0"/>
          </a:p>
        </p:txBody>
      </p:sp>
      <p:sp>
        <p:nvSpPr>
          <p:cNvPr id="24" name="a5_l"/>
          <p:cNvSpPr/>
          <p:nvPr/>
        </p:nvSpPr>
        <p:spPr>
          <a:xfrm>
            <a:off x="6096000" y="2560320"/>
            <a:ext cx="0" cy="2011680"/>
          </a:xfrm>
          <a:prstGeom prst="line">
            <a:avLst/>
          </a:prstGeom>
          <a:noFill/>
          <a:ln w="25400">
            <a:solidFill>
              <a:srgbClr val="FF5C6C"/>
            </a:solidFill>
            <a:prstDash val="dash"/>
          </a:ln>
        </p:spPr>
      </p:sp>
      <p:sp>
        <p:nvSpPr>
          <p:cNvPr id="25" name="a5_t"/>
          <p:cNvSpPr txBox="1"/>
          <p:nvPr/>
        </p:nvSpPr>
        <p:spPr>
          <a:xfrm>
            <a:off x="522732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FF5C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5 puntos</a:t>
            </a:r>
            <a:endParaRPr lang="es-ES" sz="1200" dirty="0"/>
          </a:p>
        </p:txBody>
      </p:sp>
      <p:sp>
        <p:nvSpPr>
          <p:cNvPr id="26" name="a2_ic"/>
          <p:cNvSpPr/>
          <p:nvPr/>
        </p:nvSpPr>
        <p:spPr>
          <a:xfrm>
            <a:off x="4015740" y="3675888"/>
            <a:ext cx="1584960" cy="256032"/>
          </a:xfrm>
          <a:prstGeom prst="roundRect">
            <a:avLst>
              <a:gd name="adj" fmla="val 50000"/>
            </a:avLst>
          </a:prstGeom>
          <a:solidFill>
            <a:srgbClr val="F28E2B">
              <a:alpha val="50000"/>
            </a:srgbClr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7" name="a2_pt"/>
          <p:cNvSpPr/>
          <p:nvPr/>
        </p:nvSpPr>
        <p:spPr>
          <a:xfrm>
            <a:off x="4616196" y="3611880"/>
            <a:ext cx="384048" cy="384048"/>
          </a:xfrm>
          <a:prstGeom prst="ellipse">
            <a:avLst/>
          </a:prstGeom>
          <a:solidFill>
            <a:srgbClr val="F28E2B"/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28" name="a2_lab"/>
          <p:cNvSpPr txBox="1"/>
          <p:nvPr/>
        </p:nvSpPr>
        <p:spPr>
          <a:xfrm>
            <a:off x="3573780" y="3063240"/>
            <a:ext cx="2468880" cy="384048"/>
          </a:xfrm>
          <a:prstGeom prst="rect">
            <a:avLst/>
          </a:prstGeom>
          <a:solidFill>
            <a:srgbClr val="15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+3,7 (entre 2,9 y 4,5)</a:t>
            </a:r>
            <a:endParaRPr lang="es-ES" sz="1500" dirty="0"/>
          </a:p>
        </p:txBody>
      </p:sp>
      <p:sp>
        <p:nvSpPr>
          <p:cNvPr id="29" name="a3_v"/>
          <p:cNvSpPr/>
          <p:nvPr/>
        </p:nvSpPr>
        <p:spPr>
          <a:xfrm>
            <a:off x="8001000" y="1783080"/>
            <a:ext cx="363931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30" name="a3_v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029968"/>
            <a:ext cx="411480" cy="411480"/>
          </a:xfrm>
          <a:prstGeom prst="rect">
            <a:avLst/>
          </a:prstGeom>
        </p:spPr>
      </p:pic>
      <p:sp>
        <p:nvSpPr>
          <p:cNvPr id="31" name="a3_vq"/>
          <p:cNvSpPr txBox="1"/>
          <p:nvPr/>
        </p:nvSpPr>
        <p:spPr>
          <a:xfrm>
            <a:off x="877824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H1 · ¿completa más?</a:t>
            </a:r>
            <a:endParaRPr lang="es-ES" sz="1300" dirty="0"/>
          </a:p>
        </p:txBody>
      </p:sp>
      <p:sp>
        <p:nvSpPr>
          <p:cNvPr id="32" name="a3_vr"/>
          <p:cNvSpPr txBox="1"/>
          <p:nvPr/>
        </p:nvSpPr>
        <p:spPr>
          <a:xfrm>
            <a:off x="8778240" y="2286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3DD6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Sí, y no es azar</a:t>
            </a:r>
            <a:endParaRPr lang="es-ES" sz="1900" dirty="0"/>
          </a:p>
        </p:txBody>
      </p:sp>
      <p:sp>
        <p:nvSpPr>
          <p:cNvPr id="33" name="a3_vp"/>
          <p:cNvSpPr txBox="1"/>
          <p:nvPr/>
        </p:nvSpPr>
        <p:spPr>
          <a:xfrm>
            <a:off x="8778240" y="2697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&lt; 0,0001 · lejos del 0</a:t>
            </a:r>
            <a:endParaRPr lang="es-ES" sz="1200" dirty="0"/>
          </a:p>
        </p:txBody>
      </p:sp>
      <p:sp>
        <p:nvSpPr>
          <p:cNvPr id="34" name="a4_v"/>
          <p:cNvSpPr/>
          <p:nvPr/>
        </p:nvSpPr>
        <p:spPr>
          <a:xfrm>
            <a:off x="8001000" y="3291840"/>
            <a:ext cx="363931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35" name="a4_v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538728"/>
            <a:ext cx="411480" cy="411480"/>
          </a:xfrm>
          <a:prstGeom prst="rect">
            <a:avLst/>
          </a:prstGeom>
        </p:spPr>
      </p:pic>
      <p:sp>
        <p:nvSpPr>
          <p:cNvPr id="36" name="a4_vq"/>
          <p:cNvSpPr txBox="1"/>
          <p:nvPr/>
        </p:nvSpPr>
        <p:spPr>
          <a:xfrm>
            <a:off x="8778240" y="3429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H2 · ¿+5 % relativo?</a:t>
            </a:r>
            <a:endParaRPr lang="es-ES" sz="1300" dirty="0"/>
          </a:p>
        </p:txBody>
      </p:sp>
      <p:sp>
        <p:nvSpPr>
          <p:cNvPr id="37" name="a4_vr"/>
          <p:cNvSpPr txBox="1"/>
          <p:nvPr/>
        </p:nvSpPr>
        <p:spPr>
          <a:xfrm>
            <a:off x="8778240" y="3794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demostrado</a:t>
            </a:r>
            <a:endParaRPr lang="es-ES" sz="1900" dirty="0"/>
          </a:p>
        </p:txBody>
      </p:sp>
      <p:sp>
        <p:nvSpPr>
          <p:cNvPr id="38" name="a4_vp"/>
          <p:cNvSpPr txBox="1"/>
          <p:nvPr/>
        </p:nvSpPr>
        <p:spPr>
          <a:xfrm>
            <a:off x="8778240" y="4206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= 0,16 · el margen cruza el 3,3</a:t>
            </a:r>
            <a:endParaRPr lang="es-ES" sz="1200" dirty="0"/>
          </a:p>
        </p:txBody>
      </p:sp>
      <p:sp>
        <p:nvSpPr>
          <p:cNvPr id="39" name="a5_v"/>
          <p:cNvSpPr/>
          <p:nvPr/>
        </p:nvSpPr>
        <p:spPr>
          <a:xfrm>
            <a:off x="8001000" y="4800600"/>
            <a:ext cx="3639312" cy="1344168"/>
          </a:xfrm>
          <a:prstGeom prst="roundRect">
            <a:avLst>
              <a:gd name="adj" fmla="val 1224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40" name="a5_v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47488"/>
            <a:ext cx="411480" cy="411480"/>
          </a:xfrm>
          <a:prstGeom prst="rect">
            <a:avLst/>
          </a:prstGeom>
        </p:spPr>
      </p:pic>
      <p:sp>
        <p:nvSpPr>
          <p:cNvPr id="41" name="a5_vq"/>
          <p:cNvSpPr txBox="1"/>
          <p:nvPr/>
        </p:nvSpPr>
        <p:spPr>
          <a:xfrm>
            <a:off x="877824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H2 · ¿+5 puntos?</a:t>
            </a:r>
            <a:endParaRPr lang="es-ES" sz="1300" dirty="0"/>
          </a:p>
        </p:txBody>
      </p:sp>
      <p:sp>
        <p:nvSpPr>
          <p:cNvPr id="42" name="a5_vr"/>
          <p:cNvSpPr txBox="1"/>
          <p:nvPr/>
        </p:nvSpPr>
        <p:spPr>
          <a:xfrm>
            <a:off x="8778240" y="5303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llega</a:t>
            </a:r>
            <a:endParaRPr lang="es-ES" sz="1900" dirty="0"/>
          </a:p>
        </p:txBody>
      </p:sp>
      <p:sp>
        <p:nvSpPr>
          <p:cNvPr id="43" name="a5_vp"/>
          <p:cNvSpPr txBox="1"/>
          <p:nvPr/>
        </p:nvSpPr>
        <p:spPr>
          <a:xfrm>
            <a:off x="8778240" y="5715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≈ 1 · todo por debajo del 5</a:t>
            </a:r>
            <a:endParaRPr lang="es-E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13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25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300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3" grpId="0" animBg="1"/>
      <p:bldP spid="25" grpId="0" animBg="1"/>
      <p:bldP spid="28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¿A quién ayuda y a quién confunde?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fg"/>
          <p:cNvSpPr/>
          <p:nvPr/>
        </p:nvSpPr>
        <p:spPr>
          <a:xfrm>
            <a:off x="548640" y="1783080"/>
            <a:ext cx="758952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ex"/>
          <p:cNvSpPr/>
          <p:nvPr/>
        </p:nvSpPr>
        <p:spPr>
          <a:xfrm>
            <a:off x="1417320" y="5486400"/>
            <a:ext cx="630936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12" name="a1_ey"/>
          <p:cNvSpPr/>
          <p:nvPr/>
        </p:nvSpPr>
        <p:spPr>
          <a:xfrm>
            <a:off x="1417320" y="2148840"/>
            <a:ext cx="0" cy="333756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13" name="a1_mx"/>
          <p:cNvSpPr/>
          <p:nvPr/>
        </p:nvSpPr>
        <p:spPr>
          <a:xfrm>
            <a:off x="4572000" y="2148840"/>
            <a:ext cx="0" cy="3337560"/>
          </a:xfrm>
          <a:prstGeom prst="line">
            <a:avLst/>
          </a:prstGeom>
          <a:noFill/>
          <a:ln w="12700">
            <a:solidFill>
              <a:srgbClr val="2A3B57"/>
            </a:solidFill>
            <a:prstDash val="dash"/>
          </a:ln>
        </p:spPr>
      </p:sp>
      <p:sp>
        <p:nvSpPr>
          <p:cNvPr id="14" name="a1_my"/>
          <p:cNvSpPr/>
          <p:nvPr/>
        </p:nvSpPr>
        <p:spPr>
          <a:xfrm>
            <a:off x="1417320" y="3817620"/>
            <a:ext cx="6309360" cy="0"/>
          </a:xfrm>
          <a:prstGeom prst="line">
            <a:avLst/>
          </a:prstGeom>
          <a:noFill/>
          <a:ln w="12700">
            <a:solidFill>
              <a:srgbClr val="2A3B57"/>
            </a:solidFill>
            <a:prstDash val="dash"/>
          </a:ln>
        </p:spPr>
      </p:sp>
      <p:sp>
        <p:nvSpPr>
          <p:cNvPr id="15" name="a1_xt0"/>
          <p:cNvSpPr txBox="1"/>
          <p:nvPr/>
        </p:nvSpPr>
        <p:spPr>
          <a:xfrm>
            <a:off x="1143000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</a:t>
            </a:r>
            <a:endParaRPr lang="es-ES" sz="1100" dirty="0"/>
          </a:p>
        </p:txBody>
      </p:sp>
      <p:sp>
        <p:nvSpPr>
          <p:cNvPr id="16" name="a1_xt2"/>
          <p:cNvSpPr txBox="1"/>
          <p:nvPr/>
        </p:nvSpPr>
        <p:spPr>
          <a:xfrm>
            <a:off x="2720340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</a:t>
            </a:r>
            <a:endParaRPr lang="es-ES" sz="1100" dirty="0"/>
          </a:p>
        </p:txBody>
      </p:sp>
      <p:sp>
        <p:nvSpPr>
          <p:cNvPr id="17" name="a1_xt4"/>
          <p:cNvSpPr txBox="1"/>
          <p:nvPr/>
        </p:nvSpPr>
        <p:spPr>
          <a:xfrm>
            <a:off x="4297680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</a:t>
            </a:r>
            <a:endParaRPr lang="es-ES" sz="1100" dirty="0"/>
          </a:p>
        </p:txBody>
      </p:sp>
      <p:sp>
        <p:nvSpPr>
          <p:cNvPr id="18" name="a1_xt6"/>
          <p:cNvSpPr txBox="1"/>
          <p:nvPr/>
        </p:nvSpPr>
        <p:spPr>
          <a:xfrm>
            <a:off x="5875020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</a:t>
            </a:r>
            <a:endParaRPr lang="es-ES" sz="1100" dirty="0"/>
          </a:p>
        </p:txBody>
      </p:sp>
      <p:sp>
        <p:nvSpPr>
          <p:cNvPr id="19" name="a1_xt8"/>
          <p:cNvSpPr txBox="1"/>
          <p:nvPr/>
        </p:nvSpPr>
        <p:spPr>
          <a:xfrm>
            <a:off x="7452360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</a:t>
            </a:r>
            <a:endParaRPr lang="es-ES" sz="1100" dirty="0"/>
          </a:p>
        </p:txBody>
      </p:sp>
      <p:sp>
        <p:nvSpPr>
          <p:cNvPr id="20" name="a1_yt0"/>
          <p:cNvSpPr txBox="1"/>
          <p:nvPr/>
        </p:nvSpPr>
        <p:spPr>
          <a:xfrm>
            <a:off x="914400" y="535838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</a:t>
            </a:r>
            <a:endParaRPr lang="es-ES" sz="1100" dirty="0"/>
          </a:p>
        </p:txBody>
      </p:sp>
      <p:sp>
        <p:nvSpPr>
          <p:cNvPr id="21" name="a1_yt4"/>
          <p:cNvSpPr txBox="1"/>
          <p:nvPr/>
        </p:nvSpPr>
        <p:spPr>
          <a:xfrm>
            <a:off x="914400" y="4404795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</a:t>
            </a:r>
            <a:endParaRPr lang="es-ES" sz="1100" dirty="0"/>
          </a:p>
        </p:txBody>
      </p:sp>
      <p:sp>
        <p:nvSpPr>
          <p:cNvPr id="22" name="a1_yt8"/>
          <p:cNvSpPr txBox="1"/>
          <p:nvPr/>
        </p:nvSpPr>
        <p:spPr>
          <a:xfrm>
            <a:off x="914400" y="3451207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</a:t>
            </a:r>
            <a:endParaRPr lang="es-ES" sz="1100" dirty="0"/>
          </a:p>
        </p:txBody>
      </p:sp>
      <p:sp>
        <p:nvSpPr>
          <p:cNvPr id="23" name="a1_yt12"/>
          <p:cNvSpPr txBox="1"/>
          <p:nvPr/>
        </p:nvSpPr>
        <p:spPr>
          <a:xfrm>
            <a:off x="914400" y="249761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</a:t>
            </a:r>
            <a:endParaRPr lang="es-ES" sz="1100" dirty="0"/>
          </a:p>
        </p:txBody>
      </p:sp>
      <p:sp>
        <p:nvSpPr>
          <p:cNvPr id="24" name="a1_xl"/>
          <p:cNvSpPr txBox="1"/>
          <p:nvPr/>
        </p:nvSpPr>
        <p:spPr>
          <a:xfrm>
            <a:off x="3108960" y="5788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Ventaja en finalización (puntos) →</a:t>
            </a:r>
            <a:endParaRPr lang="es-ES" sz="1200" dirty="0"/>
          </a:p>
        </p:txBody>
      </p:sp>
      <p:sp>
        <p:nvSpPr>
          <p:cNvPr id="25" name="a1_yl"/>
          <p:cNvSpPr txBox="1"/>
          <p:nvPr/>
        </p:nvSpPr>
        <p:spPr>
          <a:xfrm>
            <a:off x="1051560" y="18745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Más clientes con errores (puntos)</a:t>
            </a:r>
            <a:endParaRPr lang="es-ES" sz="1200" dirty="0"/>
          </a:p>
        </p:txBody>
      </p:sp>
      <p:sp>
        <p:nvSpPr>
          <p:cNvPr id="26" name="a1_q1"/>
          <p:cNvSpPr txBox="1"/>
          <p:nvPr/>
        </p:nvSpPr>
        <p:spPr>
          <a:xfrm>
            <a:off x="155448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spc="100" kern="0" dirty="0">
                <a:solidFill>
                  <a:srgbClr val="FF5C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 POCO Y SE PIERDE</a:t>
            </a:r>
            <a:endParaRPr lang="es-ES" sz="1100" dirty="0"/>
          </a:p>
        </p:txBody>
      </p:sp>
      <p:sp>
        <p:nvSpPr>
          <p:cNvPr id="27" name="a1_q2"/>
          <p:cNvSpPr txBox="1"/>
          <p:nvPr/>
        </p:nvSpPr>
        <p:spPr>
          <a:xfrm>
            <a:off x="470916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spc="100" kern="0" dirty="0">
                <a:solidFill>
                  <a:srgbClr val="FFB4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GANA, PERO SE PIERDE</a:t>
            </a:r>
            <a:endParaRPr lang="es-ES" sz="1100" dirty="0"/>
          </a:p>
        </p:txBody>
      </p:sp>
      <p:sp>
        <p:nvSpPr>
          <p:cNvPr id="28" name="a1_q3"/>
          <p:cNvSpPr txBox="1"/>
          <p:nvPr/>
        </p:nvSpPr>
        <p:spPr>
          <a:xfrm>
            <a:off x="4709160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spc="100" kern="0" dirty="0">
                <a:solidFill>
                  <a:srgbClr val="3DD6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 MUCHO SIN PERDERSE</a:t>
            </a:r>
            <a:endParaRPr lang="es-ES" sz="1100" dirty="0"/>
          </a:p>
        </p:txBody>
      </p:sp>
      <p:sp>
        <p:nvSpPr>
          <p:cNvPr id="29" name="a2_b"/>
          <p:cNvSpPr/>
          <p:nvPr/>
        </p:nvSpPr>
        <p:spPr>
          <a:xfrm>
            <a:off x="6433907" y="4448679"/>
            <a:ext cx="692738" cy="692738"/>
          </a:xfrm>
          <a:prstGeom prst="ellipse">
            <a:avLst/>
          </a:prstGeom>
          <a:solidFill>
            <a:srgbClr val="3DD68C">
              <a:alpha val="85000"/>
            </a:srgbClr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0" name="a2_t"/>
          <p:cNvSpPr txBox="1"/>
          <p:nvPr/>
        </p:nvSpPr>
        <p:spPr>
          <a:xfrm>
            <a:off x="6433907" y="4448679"/>
            <a:ext cx="692738" cy="692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&lt;30</a:t>
            </a:r>
            <a:endParaRPr lang="es-ES" sz="1300" dirty="0"/>
          </a:p>
        </p:txBody>
      </p:sp>
      <p:sp>
        <p:nvSpPr>
          <p:cNvPr id="31" name="a3_b"/>
          <p:cNvSpPr/>
          <p:nvPr/>
        </p:nvSpPr>
        <p:spPr>
          <a:xfrm>
            <a:off x="3228017" y="3968354"/>
            <a:ext cx="795158" cy="795158"/>
          </a:xfrm>
          <a:prstGeom prst="ellipse">
            <a:avLst/>
          </a:prstGeom>
          <a:solidFill>
            <a:srgbClr val="6C9BD2">
              <a:alpha val="85000"/>
            </a:srgbClr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2" name="a3_t"/>
          <p:cNvSpPr txBox="1"/>
          <p:nvPr/>
        </p:nvSpPr>
        <p:spPr>
          <a:xfrm>
            <a:off x="3228017" y="3968354"/>
            <a:ext cx="795158" cy="795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30-44</a:t>
            </a:r>
            <a:endParaRPr lang="es-ES" sz="1300" dirty="0"/>
          </a:p>
        </p:txBody>
      </p:sp>
      <p:sp>
        <p:nvSpPr>
          <p:cNvPr id="33" name="a4_b"/>
          <p:cNvSpPr/>
          <p:nvPr/>
        </p:nvSpPr>
        <p:spPr>
          <a:xfrm>
            <a:off x="2425446" y="2667109"/>
            <a:ext cx="822960" cy="822960"/>
          </a:xfrm>
          <a:prstGeom prst="ellipse">
            <a:avLst/>
          </a:prstGeom>
          <a:solidFill>
            <a:srgbClr val="FF5C6C">
              <a:alpha val="85000"/>
            </a:srgbClr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4" name="a4_t"/>
          <p:cNvSpPr txBox="1"/>
          <p:nvPr/>
        </p:nvSpPr>
        <p:spPr>
          <a:xfrm>
            <a:off x="2425446" y="266710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45-59</a:t>
            </a:r>
            <a:endParaRPr lang="es-ES" sz="1300" dirty="0"/>
          </a:p>
        </p:txBody>
      </p:sp>
      <p:sp>
        <p:nvSpPr>
          <p:cNvPr id="35" name="a5_b"/>
          <p:cNvSpPr/>
          <p:nvPr/>
        </p:nvSpPr>
        <p:spPr>
          <a:xfrm>
            <a:off x="4816823" y="2477918"/>
            <a:ext cx="772226" cy="772226"/>
          </a:xfrm>
          <a:prstGeom prst="ellipse">
            <a:avLst/>
          </a:prstGeom>
          <a:solidFill>
            <a:srgbClr val="F28E2B">
              <a:alpha val="85000"/>
            </a:srgbClr>
          </a:solidFill>
          <a:ln w="25400">
            <a:solidFill>
              <a:srgbClr val="15233A"/>
            </a:solidFill>
            <a:prstDash val="solid"/>
          </a:ln>
        </p:spPr>
      </p:sp>
      <p:sp>
        <p:nvSpPr>
          <p:cNvPr id="36" name="a5_t"/>
          <p:cNvSpPr txBox="1"/>
          <p:nvPr/>
        </p:nvSpPr>
        <p:spPr>
          <a:xfrm>
            <a:off x="4816823" y="2477918"/>
            <a:ext cx="772226" cy="772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60+</a:t>
            </a:r>
            <a:endParaRPr lang="es-ES" sz="1300" dirty="0"/>
          </a:p>
        </p:txBody>
      </p:sp>
      <p:sp>
        <p:nvSpPr>
          <p:cNvPr id="37" name="a6_c"/>
          <p:cNvSpPr/>
          <p:nvPr/>
        </p:nvSpPr>
        <p:spPr>
          <a:xfrm>
            <a:off x="8366760" y="1783080"/>
            <a:ext cx="3273552" cy="4343400"/>
          </a:xfrm>
          <a:prstGeom prst="roundRect">
            <a:avLst>
              <a:gd name="adj" fmla="val 5028"/>
            </a:avLst>
          </a:prstGeom>
          <a:solidFill>
            <a:srgbClr val="FF5C6C"/>
          </a:solidFill>
          <a:ln w="12700">
            <a:solidFill>
              <a:srgbClr val="FF5C6C"/>
            </a:solidFill>
            <a:prstDash val="solid"/>
          </a:ln>
        </p:spPr>
      </p:sp>
      <p:sp>
        <p:nvSpPr>
          <p:cNvPr id="38" name="a6_n"/>
          <p:cNvSpPr txBox="1"/>
          <p:nvPr/>
        </p:nvSpPr>
        <p:spPr>
          <a:xfrm>
            <a:off x="8686800" y="2011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6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56 %</a:t>
            </a:r>
            <a:endParaRPr lang="es-ES" sz="6000" dirty="0"/>
          </a:p>
        </p:txBody>
      </p:sp>
      <p:sp>
        <p:nvSpPr>
          <p:cNvPr id="39" name="a6_l"/>
          <p:cNvSpPr txBox="1"/>
          <p:nvPr/>
        </p:nvSpPr>
        <p:spPr>
          <a:xfrm>
            <a:off x="8686800" y="3017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8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los clientes tiene 45 años o más</a:t>
            </a:r>
            <a:endParaRPr lang="es-ES" sz="1800" dirty="0"/>
          </a:p>
        </p:txBody>
      </p:sp>
      <p:sp>
        <p:nvSpPr>
          <p:cNvPr id="40" name="a6_t"/>
          <p:cNvSpPr txBox="1"/>
          <p:nvPr/>
        </p:nvSpPr>
        <p:spPr>
          <a:xfrm>
            <a:off x="8686800" y="39319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son justo los que más se pierden: unos 10 puntos más de clientes con errores. Los menores de 30 son los grandes ganadores. (Tamaño del círculo = número de clientes del tramo.)</a:t>
            </a:r>
            <a:endParaRPr lang="es-E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14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25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00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75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39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Dos clientes, dos experiencias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av"/>
          <p:cNvSpPr/>
          <p:nvPr/>
        </p:nvSpPr>
        <p:spPr>
          <a:xfrm>
            <a:off x="914400" y="2057400"/>
            <a:ext cx="914400" cy="914400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12" name="a1_ini"/>
          <p:cNvSpPr txBox="1"/>
          <p:nvPr/>
        </p:nvSpPr>
        <p:spPr>
          <a:xfrm>
            <a:off x="91440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3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</a:t>
            </a:r>
            <a:endParaRPr lang="es-ES" sz="3000" dirty="0"/>
          </a:p>
        </p:txBody>
      </p:sp>
      <p:sp>
        <p:nvSpPr>
          <p:cNvPr id="13" name="a1_nom"/>
          <p:cNvSpPr txBox="1"/>
          <p:nvPr/>
        </p:nvSpPr>
        <p:spPr>
          <a:xfrm>
            <a:off x="2011680" y="20574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Lucía, 28 años</a:t>
            </a:r>
            <a:endParaRPr lang="es-ES" sz="2400" dirty="0"/>
          </a:p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tramo de menos de 30 · 8.500 clientes</a:t>
            </a:r>
            <a:endParaRPr lang="es-ES" sz="2400" dirty="0"/>
          </a:p>
        </p:txBody>
      </p:sp>
      <p:sp>
        <p:nvSpPr>
          <p:cNvPr id="14" name="a1_l0"/>
          <p:cNvSpPr txBox="1"/>
          <p:nvPr/>
        </p:nvSpPr>
        <p:spPr>
          <a:xfrm>
            <a:off x="96012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Completa el proceso</a:t>
            </a:r>
            <a:endParaRPr lang="es-ES" sz="1400" dirty="0"/>
          </a:p>
        </p:txBody>
      </p:sp>
      <p:sp>
        <p:nvSpPr>
          <p:cNvPr id="15" name="a1_v0"/>
          <p:cNvSpPr txBox="1"/>
          <p:nvPr/>
        </p:nvSpPr>
        <p:spPr>
          <a:xfrm>
            <a:off x="310896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68 %</a:t>
            </a:r>
            <a:pPr indent="0" marL="0">
              <a:buNone/>
            </a:pPr>
            <a:r>
              <a:rPr lang="es-ES" sz="2400" b="1" dirty="0">
                <a:solidFill>
                  <a:srgbClr val="6B7C9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indent="0" marL="0">
              <a:buNone/>
            </a:pPr>
            <a:r>
              <a:rPr lang="es-ES" sz="2400" b="1" dirty="0">
                <a:solidFill>
                  <a:srgbClr val="3DD6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74 %</a:t>
            </a:r>
            <a:endParaRPr lang="es-ES" sz="2400" dirty="0"/>
          </a:p>
        </p:txBody>
      </p:sp>
      <p:sp>
        <p:nvSpPr>
          <p:cNvPr id="16" name="a1_l1"/>
          <p:cNvSpPr txBox="1"/>
          <p:nvPr/>
        </p:nvSpPr>
        <p:spPr>
          <a:xfrm>
            <a:off x="960120" y="39593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con algún error</a:t>
            </a:r>
            <a:endParaRPr lang="es-ES" sz="1400" dirty="0"/>
          </a:p>
        </p:txBody>
      </p:sp>
      <p:sp>
        <p:nvSpPr>
          <p:cNvPr id="17" name="a1_v1"/>
          <p:cNvSpPr txBox="1"/>
          <p:nvPr/>
        </p:nvSpPr>
        <p:spPr>
          <a:xfrm>
            <a:off x="3108960" y="39593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26 %</a:t>
            </a:r>
            <a:pPr indent="0" marL="0">
              <a:buNone/>
            </a:pPr>
            <a:r>
              <a:rPr lang="es-ES" sz="2400" b="1" dirty="0">
                <a:solidFill>
                  <a:srgbClr val="6B7C9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indent="0" marL="0">
              <a:buNone/>
            </a:pPr>
            <a:r>
              <a:rPr lang="es-ES" sz="2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29 %</a:t>
            </a:r>
            <a:endParaRPr lang="es-ES" sz="2400" dirty="0"/>
          </a:p>
        </p:txBody>
      </p:sp>
      <p:sp>
        <p:nvSpPr>
          <p:cNvPr id="18" name="a1_f"/>
          <p:cNvSpPr txBox="1"/>
          <p:nvPr/>
        </p:nvSpPr>
        <p:spPr>
          <a:xfrm>
            <a:off x="96012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3DD6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 7 puntos y casi no se pierde</a:t>
            </a:r>
            <a:endParaRPr lang="es-ES" sz="1500" dirty="0"/>
          </a:p>
        </p:txBody>
      </p:sp>
      <p:sp>
        <p:nvSpPr>
          <p:cNvPr id="19" name="a2_c"/>
          <p:cNvSpPr/>
          <p:nvPr/>
        </p:nvSpPr>
        <p:spPr>
          <a:xfrm>
            <a:off x="6245352" y="1783080"/>
            <a:ext cx="53949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0" name="a2_av"/>
          <p:cNvSpPr/>
          <p:nvPr/>
        </p:nvSpPr>
        <p:spPr>
          <a:xfrm>
            <a:off x="6611112" y="2057400"/>
            <a:ext cx="914400" cy="91440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1" name="a2_ini"/>
          <p:cNvSpPr txBox="1"/>
          <p:nvPr/>
        </p:nvSpPr>
        <p:spPr>
          <a:xfrm>
            <a:off x="6611112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3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s-ES" sz="3000" dirty="0"/>
          </a:p>
        </p:txBody>
      </p:sp>
      <p:sp>
        <p:nvSpPr>
          <p:cNvPr id="22" name="a2_nom"/>
          <p:cNvSpPr txBox="1"/>
          <p:nvPr/>
        </p:nvSpPr>
        <p:spPr>
          <a:xfrm>
            <a:off x="7708392" y="20574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Antonio, 64 años</a:t>
            </a:r>
            <a:endParaRPr lang="es-ES" sz="2400" dirty="0"/>
          </a:p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tramo de 60 o más · 12.600 clientes</a:t>
            </a:r>
            <a:endParaRPr lang="es-ES" sz="2400" dirty="0"/>
          </a:p>
        </p:txBody>
      </p:sp>
      <p:sp>
        <p:nvSpPr>
          <p:cNvPr id="23" name="a2_l0"/>
          <p:cNvSpPr txBox="1"/>
          <p:nvPr/>
        </p:nvSpPr>
        <p:spPr>
          <a:xfrm>
            <a:off x="6656832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Completa el proceso</a:t>
            </a:r>
            <a:endParaRPr lang="es-ES" sz="1400" dirty="0"/>
          </a:p>
        </p:txBody>
      </p:sp>
      <p:sp>
        <p:nvSpPr>
          <p:cNvPr id="24" name="a2_v0"/>
          <p:cNvSpPr txBox="1"/>
          <p:nvPr/>
        </p:nvSpPr>
        <p:spPr>
          <a:xfrm>
            <a:off x="8805672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60 %</a:t>
            </a:r>
            <a:pPr indent="0" marL="0">
              <a:buNone/>
            </a:pPr>
            <a:r>
              <a:rPr lang="es-ES" sz="2400" b="1" dirty="0">
                <a:solidFill>
                  <a:srgbClr val="6B7C9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indent="0" marL="0">
              <a:buNone/>
            </a:pPr>
            <a:r>
              <a:rPr lang="es-ES" sz="2400" b="1" dirty="0">
                <a:solidFill>
                  <a:srgbClr val="3DD6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65 %</a:t>
            </a:r>
            <a:endParaRPr lang="es-ES" sz="2400" dirty="0"/>
          </a:p>
        </p:txBody>
      </p:sp>
      <p:sp>
        <p:nvSpPr>
          <p:cNvPr id="25" name="a2_l1"/>
          <p:cNvSpPr txBox="1"/>
          <p:nvPr/>
        </p:nvSpPr>
        <p:spPr>
          <a:xfrm>
            <a:off x="6656832" y="39593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con algún error</a:t>
            </a:r>
            <a:endParaRPr lang="es-ES" sz="1400" dirty="0"/>
          </a:p>
        </p:txBody>
      </p:sp>
      <p:sp>
        <p:nvSpPr>
          <p:cNvPr id="26" name="a2_v1"/>
          <p:cNvSpPr txBox="1"/>
          <p:nvPr/>
        </p:nvSpPr>
        <p:spPr>
          <a:xfrm>
            <a:off x="8805672" y="39593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4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28 %</a:t>
            </a:r>
            <a:pPr indent="0" marL="0">
              <a:buNone/>
            </a:pPr>
            <a:r>
              <a:rPr lang="es-ES" sz="2400" b="1" dirty="0">
                <a:solidFill>
                  <a:srgbClr val="6B7C9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indent="0" marL="0">
              <a:buNone/>
            </a:pPr>
            <a:r>
              <a:rPr lang="es-ES" sz="24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39 %</a:t>
            </a:r>
            <a:endParaRPr lang="es-ES" sz="2400" dirty="0"/>
          </a:p>
        </p:txBody>
      </p:sp>
      <p:sp>
        <p:nvSpPr>
          <p:cNvPr id="27" name="a2_f"/>
          <p:cNvSpPr txBox="1"/>
          <p:nvPr/>
        </p:nvSpPr>
        <p:spPr>
          <a:xfrm>
            <a:off x="6656832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 más, pero se pierde mucho más</a:t>
            </a:r>
            <a:endParaRPr lang="es-ES" sz="1500" dirty="0"/>
          </a:p>
        </p:txBody>
      </p:sp>
      <p:sp>
        <p:nvSpPr>
          <p:cNvPr id="28" name="a3_nota"/>
          <p:cNvSpPr txBox="1"/>
          <p:nvPr/>
        </p:nvSpPr>
        <p:spPr>
          <a:xfrm>
            <a:off x="548640" y="6217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ilustrativas: los números son los reales de su tramo de edad (diseño antiguo → diseño nuevo).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15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5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ventaja se desinfla con las semanas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fg"/>
          <p:cNvSpPr/>
          <p:nvPr/>
        </p:nvSpPr>
        <p:spPr>
          <a:xfrm>
            <a:off x="548640" y="1783080"/>
            <a:ext cx="726948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graphicFrame>
        <p:nvGraphicFramePr>
          <p:cNvPr id="11" name="a1_ch" descr=""/>
          <p:cNvGraphicFramePr/>
          <p:nvPr/>
        </p:nvGraphicFramePr>
        <p:xfrm>
          <a:off x="731520" y="1874520"/>
          <a:ext cx="69037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a1_cap"/>
          <p:cNvSpPr txBox="1"/>
          <p:nvPr/>
        </p:nvSpPr>
        <p:spPr>
          <a:xfrm>
            <a:off x="822960" y="56692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de clientes de cada grupo, semana a semana: las líneas se cruzan el 8 de mayo</a:t>
            </a:r>
            <a:endParaRPr lang="es-ES" sz="1200" dirty="0"/>
          </a:p>
        </p:txBody>
      </p:sp>
      <p:sp>
        <p:nvSpPr>
          <p:cNvPr id="13" name="a2_cap"/>
          <p:cNvSpPr txBox="1"/>
          <p:nvPr/>
        </p:nvSpPr>
        <p:spPr>
          <a:xfrm>
            <a:off x="80924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Ventaja del Test según el mes de entrada</a:t>
            </a:r>
            <a:endParaRPr lang="es-ES" sz="1400" dirty="0"/>
          </a:p>
        </p:txBody>
      </p:sp>
      <p:sp>
        <p:nvSpPr>
          <p:cNvPr id="14" name="a2_m0"/>
          <p:cNvSpPr/>
          <p:nvPr/>
        </p:nvSpPr>
        <p:spPr>
          <a:xfrm>
            <a:off x="8092440" y="2240280"/>
            <a:ext cx="3547872" cy="603504"/>
          </a:xfrm>
          <a:prstGeom prst="roundRect">
            <a:avLst>
              <a:gd name="adj" fmla="val 2727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5" name="a2_mt0"/>
          <p:cNvSpPr txBox="1"/>
          <p:nvPr/>
        </p:nvSpPr>
        <p:spPr>
          <a:xfrm>
            <a:off x="8321040" y="22402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Marzo</a:t>
            </a:r>
            <a:endParaRPr lang="es-ES" sz="1500" dirty="0"/>
          </a:p>
        </p:txBody>
      </p:sp>
      <p:sp>
        <p:nvSpPr>
          <p:cNvPr id="16" name="a2_mv0"/>
          <p:cNvSpPr txBox="1"/>
          <p:nvPr/>
        </p:nvSpPr>
        <p:spPr>
          <a:xfrm>
            <a:off x="9692640" y="224028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2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 pts</a:t>
            </a:r>
            <a:endParaRPr lang="es-ES" sz="2000" dirty="0"/>
          </a:p>
        </p:txBody>
      </p:sp>
      <p:sp>
        <p:nvSpPr>
          <p:cNvPr id="17" name="a2_m1"/>
          <p:cNvSpPr/>
          <p:nvPr/>
        </p:nvSpPr>
        <p:spPr>
          <a:xfrm>
            <a:off x="8092440" y="2971800"/>
            <a:ext cx="3547872" cy="603504"/>
          </a:xfrm>
          <a:prstGeom prst="roundRect">
            <a:avLst>
              <a:gd name="adj" fmla="val 2727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8" name="a2_mt1"/>
          <p:cNvSpPr txBox="1"/>
          <p:nvPr/>
        </p:nvSpPr>
        <p:spPr>
          <a:xfrm>
            <a:off x="8321040" y="297180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Abril</a:t>
            </a:r>
            <a:endParaRPr lang="es-ES" sz="1500" dirty="0"/>
          </a:p>
        </p:txBody>
      </p:sp>
      <p:sp>
        <p:nvSpPr>
          <p:cNvPr id="19" name="a2_mv1"/>
          <p:cNvSpPr txBox="1"/>
          <p:nvPr/>
        </p:nvSpPr>
        <p:spPr>
          <a:xfrm>
            <a:off x="969264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2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 pts</a:t>
            </a:r>
            <a:endParaRPr lang="es-ES" sz="2000" dirty="0"/>
          </a:p>
        </p:txBody>
      </p:sp>
      <p:sp>
        <p:nvSpPr>
          <p:cNvPr id="20" name="a2_m2"/>
          <p:cNvSpPr/>
          <p:nvPr/>
        </p:nvSpPr>
        <p:spPr>
          <a:xfrm>
            <a:off x="8092440" y="3703320"/>
            <a:ext cx="3547872" cy="603504"/>
          </a:xfrm>
          <a:prstGeom prst="roundRect">
            <a:avLst>
              <a:gd name="adj" fmla="val 2727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1" name="a2_mt2"/>
          <p:cNvSpPr txBox="1"/>
          <p:nvPr/>
        </p:nvSpPr>
        <p:spPr>
          <a:xfrm>
            <a:off x="8321040" y="370332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Mayo</a:t>
            </a:r>
            <a:endParaRPr lang="es-ES" sz="1500" dirty="0"/>
          </a:p>
        </p:txBody>
      </p:sp>
      <p:sp>
        <p:nvSpPr>
          <p:cNvPr id="22" name="a2_mv2"/>
          <p:cNvSpPr txBox="1"/>
          <p:nvPr/>
        </p:nvSpPr>
        <p:spPr>
          <a:xfrm>
            <a:off x="9692640" y="370332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20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 pts</a:t>
            </a:r>
            <a:endParaRPr lang="es-ES" sz="2000" dirty="0"/>
          </a:p>
        </p:txBody>
      </p:sp>
      <p:sp>
        <p:nvSpPr>
          <p:cNvPr id="23" name="a2_m3"/>
          <p:cNvSpPr/>
          <p:nvPr/>
        </p:nvSpPr>
        <p:spPr>
          <a:xfrm>
            <a:off x="8092440" y="4434840"/>
            <a:ext cx="3547872" cy="603504"/>
          </a:xfrm>
          <a:prstGeom prst="roundRect">
            <a:avLst>
              <a:gd name="adj" fmla="val 27273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4" name="a2_mt3"/>
          <p:cNvSpPr txBox="1"/>
          <p:nvPr/>
        </p:nvSpPr>
        <p:spPr>
          <a:xfrm>
            <a:off x="8321040" y="443484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</a:t>
            </a:r>
            <a:endParaRPr lang="es-ES" sz="1500" dirty="0"/>
          </a:p>
        </p:txBody>
      </p:sp>
      <p:sp>
        <p:nvSpPr>
          <p:cNvPr id="25" name="a2_mv3"/>
          <p:cNvSpPr txBox="1"/>
          <p:nvPr/>
        </p:nvSpPr>
        <p:spPr>
          <a:xfrm>
            <a:off x="9692640" y="443484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ES" sz="20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0 pts</a:t>
            </a:r>
            <a:endParaRPr lang="es-ES" sz="2000" dirty="0"/>
          </a:p>
        </p:txBody>
      </p:sp>
      <p:sp>
        <p:nvSpPr>
          <p:cNvPr id="26" name="a3_c"/>
          <p:cNvSpPr/>
          <p:nvPr/>
        </p:nvSpPr>
        <p:spPr>
          <a:xfrm>
            <a:off x="8092440" y="5212080"/>
            <a:ext cx="3547872" cy="914400"/>
          </a:xfrm>
          <a:prstGeom prst="roundRect">
            <a:avLst>
              <a:gd name="adj" fmla="val 18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7" name="a3_t"/>
          <p:cNvSpPr txBox="1"/>
          <p:nvPr/>
        </p:nvSpPr>
        <p:spPr>
          <a:xfrm>
            <a:off x="832104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Hasta el 7/5: </a:t>
            </a:r>
            <a:pPr indent="0" marL="0">
              <a:buNone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 pts, real</a:t>
            </a:r>
            <a:endParaRPr lang="es-ES" sz="1400" dirty="0"/>
          </a:p>
          <a:p>
            <a:pPr indent="0" marL="0">
              <a:buNone/>
            </a:pPr>
            <a:r>
              <a:rPr lang="es-ES" sz="14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Desde el 8/5: </a:t>
            </a:r>
            <a:pPr indent="0" marL="0">
              <a:buNone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 pts, no significativa</a:t>
            </a:r>
            <a:endParaRPr lang="es-E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16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>
        <p:bldAsOne/>
      </p:bldGraphic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¿Estaba bien hecho el experimento?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s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7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en lo básico, con letra pequeña.</a:t>
            </a:r>
            <a:endParaRPr lang="es-ES" sz="1700" dirty="0"/>
          </a:p>
        </p:txBody>
      </p:sp>
      <p:sp>
        <p:nvSpPr>
          <p:cNvPr id="11" name="a2_c"/>
          <p:cNvSpPr/>
          <p:nvPr/>
        </p:nvSpPr>
        <p:spPr>
          <a:xfrm>
            <a:off x="548640" y="2011680"/>
            <a:ext cx="2606040" cy="41148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2" name="a2_d_c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pic>
        <p:nvPicPr>
          <p:cNvPr id="13" name="a2_d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406701"/>
            <a:ext cx="307238" cy="307238"/>
          </a:xfrm>
          <a:prstGeom prst="rect">
            <a:avLst/>
          </a:prstGeom>
        </p:spPr>
      </p:pic>
      <p:sp>
        <p:nvSpPr>
          <p:cNvPr id="14" name="a2_t"/>
          <p:cNvSpPr txBox="1"/>
          <p:nvPr/>
        </p:nvSpPr>
        <p:spPr>
          <a:xfrm>
            <a:off x="822960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3DD6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Aleatorización</a:t>
            </a:r>
            <a:endParaRPr lang="es-ES" sz="1900" dirty="0"/>
          </a:p>
        </p:txBody>
      </p:sp>
      <p:sp>
        <p:nvSpPr>
          <p:cNvPr id="15" name="a2_b"/>
          <p:cNvSpPr txBox="1"/>
          <p:nvPr/>
        </p:nvSpPr>
        <p:spPr>
          <a:xfrm>
            <a:off x="822960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dos grupos tienen el mismo perfil: edad, saldo, antigüedad y género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Pero el reparto fue 53/47, no 50/50</a:t>
            </a:r>
            <a:endParaRPr lang="es-ES" sz="1300" dirty="0"/>
          </a:p>
        </p:txBody>
      </p:sp>
      <p:sp>
        <p:nvSpPr>
          <p:cNvPr id="16" name="a3_c"/>
          <p:cNvSpPr/>
          <p:nvPr/>
        </p:nvSpPr>
        <p:spPr>
          <a:xfrm>
            <a:off x="3355848" y="2011680"/>
            <a:ext cx="2606040" cy="41148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7" name="a3_d_c"/>
          <p:cNvSpPr/>
          <p:nvPr/>
        </p:nvSpPr>
        <p:spPr>
          <a:xfrm>
            <a:off x="3630168" y="2240280"/>
            <a:ext cx="640080" cy="64008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pic>
        <p:nvPicPr>
          <p:cNvPr id="18" name="a3_d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589" y="2406701"/>
            <a:ext cx="307238" cy="307238"/>
          </a:xfrm>
          <a:prstGeom prst="rect">
            <a:avLst/>
          </a:prstGeom>
        </p:spPr>
      </p:pic>
      <p:sp>
        <p:nvSpPr>
          <p:cNvPr id="19" name="a3_t"/>
          <p:cNvSpPr txBox="1"/>
          <p:nvPr/>
        </p:nvSpPr>
        <p:spPr>
          <a:xfrm>
            <a:off x="3630168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Duración</a:t>
            </a:r>
            <a:endParaRPr lang="es-ES" sz="1900" dirty="0"/>
          </a:p>
        </p:txBody>
      </p:sp>
      <p:sp>
        <p:nvSpPr>
          <p:cNvPr id="20" name="a3_b"/>
          <p:cNvSpPr txBox="1"/>
          <p:nvPr/>
        </p:nvSpPr>
        <p:spPr>
          <a:xfrm>
            <a:off x="3630168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meses bastan para medir la diferencia (margen de menos de 1 punto)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bastan para saber si la ventaja dura: baja de +5 a ≈ 0</a:t>
            </a:r>
            <a:endParaRPr lang="es-ES" sz="1300" dirty="0"/>
          </a:p>
        </p:txBody>
      </p:sp>
      <p:sp>
        <p:nvSpPr>
          <p:cNvPr id="21" name="a4_c"/>
          <p:cNvSpPr/>
          <p:nvPr/>
        </p:nvSpPr>
        <p:spPr>
          <a:xfrm>
            <a:off x="6163056" y="2011680"/>
            <a:ext cx="2606040" cy="41148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2" name="a4_d_c"/>
          <p:cNvSpPr/>
          <p:nvPr/>
        </p:nvSpPr>
        <p:spPr>
          <a:xfrm>
            <a:off x="6437376" y="2240280"/>
            <a:ext cx="640080" cy="640080"/>
          </a:xfrm>
          <a:prstGeom prst="ellipse">
            <a:avLst/>
          </a:prstGeom>
          <a:solidFill>
            <a:srgbClr val="FF5C6C"/>
          </a:solidFill>
          <a:ln w="12700">
            <a:solidFill>
              <a:srgbClr val="FF5C6C"/>
            </a:solidFill>
            <a:prstDash val="solid"/>
          </a:ln>
        </p:spPr>
      </p:sp>
      <p:pic>
        <p:nvPicPr>
          <p:cNvPr id="23" name="a4_d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797" y="2406701"/>
            <a:ext cx="307238" cy="307238"/>
          </a:xfrm>
          <a:prstGeom prst="rect">
            <a:avLst/>
          </a:prstGeom>
        </p:spPr>
      </p:pic>
      <p:sp>
        <p:nvSpPr>
          <p:cNvPr id="24" name="a4_t"/>
          <p:cNvSpPr txBox="1"/>
          <p:nvPr/>
        </p:nvSpPr>
        <p:spPr>
          <a:xfrm>
            <a:off x="6437376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Sesgos posibles</a:t>
            </a:r>
            <a:endParaRPr lang="es-ES" sz="1900" dirty="0"/>
          </a:p>
        </p:txBody>
      </p:sp>
      <p:sp>
        <p:nvSpPr>
          <p:cNvPr id="25" name="a4_b"/>
          <p:cNvSpPr txBox="1"/>
          <p:nvPr/>
        </p:nvSpPr>
        <p:spPr>
          <a:xfrm>
            <a:off x="6437376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reparto cambió el 8 de mayo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pocos clientes y pocos días para terminar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Algunos dispositivos los usan varios clientes</a:t>
            </a:r>
            <a:endParaRPr lang="es-ES" sz="1300" dirty="0"/>
          </a:p>
        </p:txBody>
      </p:sp>
      <p:sp>
        <p:nvSpPr>
          <p:cNvPr id="26" name="a5_c"/>
          <p:cNvSpPr/>
          <p:nvPr/>
        </p:nvSpPr>
        <p:spPr>
          <a:xfrm>
            <a:off x="8970264" y="2011680"/>
            <a:ext cx="2606040" cy="41148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7" name="a5_d_c"/>
          <p:cNvSpPr/>
          <p:nvPr/>
        </p:nvSpPr>
        <p:spPr>
          <a:xfrm>
            <a:off x="9244584" y="2240280"/>
            <a:ext cx="640080" cy="64008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pic>
        <p:nvPicPr>
          <p:cNvPr id="28" name="a5_d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005" y="2406701"/>
            <a:ext cx="307238" cy="307238"/>
          </a:xfrm>
          <a:prstGeom prst="rect">
            <a:avLst/>
          </a:prstGeom>
        </p:spPr>
      </p:pic>
      <p:sp>
        <p:nvSpPr>
          <p:cNvPr id="29" name="a5_t"/>
          <p:cNvSpPr txBox="1"/>
          <p:nvPr/>
        </p:nvSpPr>
        <p:spPr>
          <a:xfrm>
            <a:off x="9244584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9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Datos que faltan</a:t>
            </a:r>
            <a:endParaRPr lang="es-ES" sz="1900" dirty="0"/>
          </a:p>
        </p:txBody>
      </p:sp>
      <p:sp>
        <p:nvSpPr>
          <p:cNvPr id="30" name="a5_b"/>
          <p:cNvSpPr txBox="1"/>
          <p:nvPr/>
        </p:nvSpPr>
        <p:spPr>
          <a:xfrm>
            <a:off x="9244584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 de cada proceso y coste del diseño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Dispositivo y mensajes de error</a:t>
            </a:r>
            <a:endParaRPr lang="es-E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3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Campañas de cada semana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17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25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5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Veredicto: qué se confirmó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p"/>
          <p:cNvSpPr/>
          <p:nvPr/>
        </p:nvSpPr>
        <p:spPr>
          <a:xfrm>
            <a:off x="548640" y="1783080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c"/>
          <p:cNvSpPr txBox="1"/>
          <p:nvPr/>
        </p:nvSpPr>
        <p:spPr>
          <a:xfrm>
            <a:off x="777240" y="1783080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H1</a:t>
            </a:r>
            <a:endParaRPr lang="es-ES" sz="1500" dirty="0"/>
          </a:p>
        </p:txBody>
      </p:sp>
      <p:sp>
        <p:nvSpPr>
          <p:cNvPr id="12" name="a1_h"/>
          <p:cNvSpPr txBox="1"/>
          <p:nvPr/>
        </p:nvSpPr>
        <p:spPr>
          <a:xfrm>
            <a:off x="1417320" y="178308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nuevo diseño hace que más clientes terminen</a:t>
            </a:r>
            <a:endParaRPr lang="es-ES" sz="1500" dirty="0"/>
          </a:p>
        </p:txBody>
      </p:sp>
      <p:sp>
        <p:nvSpPr>
          <p:cNvPr id="13" name="a1_b"/>
          <p:cNvSpPr/>
          <p:nvPr/>
        </p:nvSpPr>
        <p:spPr>
          <a:xfrm>
            <a:off x="6126480" y="187452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14" name="a1_v"/>
          <p:cNvSpPr txBox="1"/>
          <p:nvPr/>
        </p:nvSpPr>
        <p:spPr>
          <a:xfrm>
            <a:off x="6126480" y="18745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Confirmada</a:t>
            </a:r>
            <a:endParaRPr lang="es-ES" sz="1200" dirty="0"/>
          </a:p>
        </p:txBody>
      </p:sp>
      <p:sp>
        <p:nvSpPr>
          <p:cNvPr id="15" name="a1_x"/>
          <p:cNvSpPr txBox="1"/>
          <p:nvPr/>
        </p:nvSpPr>
        <p:spPr>
          <a:xfrm>
            <a:off x="7909560" y="17830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+3,7 puntos, y no es azar</a:t>
            </a:r>
            <a:endParaRPr lang="es-ES" sz="1300" dirty="0"/>
          </a:p>
        </p:txBody>
      </p:sp>
      <p:sp>
        <p:nvSpPr>
          <p:cNvPr id="16" name="a2_p"/>
          <p:cNvSpPr/>
          <p:nvPr/>
        </p:nvSpPr>
        <p:spPr>
          <a:xfrm>
            <a:off x="548640" y="2404872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7" name="a2_c"/>
          <p:cNvSpPr txBox="1"/>
          <p:nvPr/>
        </p:nvSpPr>
        <p:spPr>
          <a:xfrm>
            <a:off x="777240" y="2404872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H2</a:t>
            </a:r>
            <a:endParaRPr lang="es-ES" sz="1500" dirty="0"/>
          </a:p>
        </p:txBody>
      </p:sp>
      <p:sp>
        <p:nvSpPr>
          <p:cNvPr id="18" name="a2_h"/>
          <p:cNvSpPr txBox="1"/>
          <p:nvPr/>
        </p:nvSpPr>
        <p:spPr>
          <a:xfrm>
            <a:off x="1417320" y="240487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mejora llega al 5 % que pide Vanguard</a:t>
            </a:r>
            <a:endParaRPr lang="es-ES" sz="1500" dirty="0"/>
          </a:p>
        </p:txBody>
      </p:sp>
      <p:sp>
        <p:nvSpPr>
          <p:cNvPr id="19" name="a2_b"/>
          <p:cNvSpPr/>
          <p:nvPr/>
        </p:nvSpPr>
        <p:spPr>
          <a:xfrm>
            <a:off x="6126480" y="249631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FF5C6C"/>
          </a:solidFill>
          <a:ln w="12700">
            <a:solidFill>
              <a:srgbClr val="FF5C6C"/>
            </a:solidFill>
            <a:prstDash val="solid"/>
          </a:ln>
        </p:spPr>
      </p:sp>
      <p:sp>
        <p:nvSpPr>
          <p:cNvPr id="20" name="a2_v"/>
          <p:cNvSpPr txBox="1"/>
          <p:nvPr/>
        </p:nvSpPr>
        <p:spPr>
          <a:xfrm>
            <a:off x="6126480" y="249631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demostrada</a:t>
            </a:r>
            <a:endParaRPr lang="es-ES" sz="1200" dirty="0"/>
          </a:p>
        </p:txBody>
      </p:sp>
      <p:sp>
        <p:nvSpPr>
          <p:cNvPr id="21" name="a2_x"/>
          <p:cNvSpPr txBox="1"/>
          <p:nvPr/>
        </p:nvSpPr>
        <p:spPr>
          <a:xfrm>
            <a:off x="7909560" y="240487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 puede afirmar</a:t>
            </a:r>
            <a:endParaRPr lang="es-ES" sz="1300" dirty="0"/>
          </a:p>
        </p:txBody>
      </p:sp>
      <p:sp>
        <p:nvSpPr>
          <p:cNvPr id="22" name="a3_p"/>
          <p:cNvSpPr/>
          <p:nvPr/>
        </p:nvSpPr>
        <p:spPr>
          <a:xfrm>
            <a:off x="548640" y="3026664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3" name="a3_c"/>
          <p:cNvSpPr txBox="1"/>
          <p:nvPr/>
        </p:nvSpPr>
        <p:spPr>
          <a:xfrm>
            <a:off x="777240" y="3026664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H3</a:t>
            </a:r>
            <a:endParaRPr lang="es-ES" sz="1500" dirty="0"/>
          </a:p>
        </p:txBody>
      </p:sp>
      <p:sp>
        <p:nvSpPr>
          <p:cNvPr id="24" name="a3_h"/>
          <p:cNvSpPr txBox="1"/>
          <p:nvPr/>
        </p:nvSpPr>
        <p:spPr>
          <a:xfrm>
            <a:off x="1417320" y="30266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edad cambia el efecto del diseño</a:t>
            </a:r>
            <a:endParaRPr lang="es-ES" sz="1500" dirty="0"/>
          </a:p>
        </p:txBody>
      </p:sp>
      <p:sp>
        <p:nvSpPr>
          <p:cNvPr id="25" name="a3_b"/>
          <p:cNvSpPr/>
          <p:nvPr/>
        </p:nvSpPr>
        <p:spPr>
          <a:xfrm>
            <a:off x="6126480" y="3118104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26" name="a3_v"/>
          <p:cNvSpPr txBox="1"/>
          <p:nvPr/>
        </p:nvSpPr>
        <p:spPr>
          <a:xfrm>
            <a:off x="6126480" y="311810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Confirmada</a:t>
            </a:r>
            <a:endParaRPr lang="es-ES" sz="1200" dirty="0"/>
          </a:p>
        </p:txBody>
      </p:sp>
      <p:sp>
        <p:nvSpPr>
          <p:cNvPr id="27" name="a3_x"/>
          <p:cNvSpPr txBox="1"/>
          <p:nvPr/>
        </p:nvSpPr>
        <p:spPr>
          <a:xfrm>
            <a:off x="7909560" y="30266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más ventaja en &lt;30 y en 60+</a:t>
            </a:r>
            <a:endParaRPr lang="es-ES" sz="1300" dirty="0"/>
          </a:p>
        </p:txBody>
      </p:sp>
      <p:sp>
        <p:nvSpPr>
          <p:cNvPr id="28" name="a4_p"/>
          <p:cNvSpPr/>
          <p:nvPr/>
        </p:nvSpPr>
        <p:spPr>
          <a:xfrm>
            <a:off x="548640" y="3648456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9" name="a4_c"/>
          <p:cNvSpPr txBox="1"/>
          <p:nvPr/>
        </p:nvSpPr>
        <p:spPr>
          <a:xfrm>
            <a:off x="777240" y="3648456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H5</a:t>
            </a:r>
            <a:endParaRPr lang="es-ES" sz="1500" dirty="0"/>
          </a:p>
        </p:txBody>
      </p:sp>
      <p:sp>
        <p:nvSpPr>
          <p:cNvPr id="30" name="a4_h"/>
          <p:cNvSpPr txBox="1"/>
          <p:nvPr/>
        </p:nvSpPr>
        <p:spPr>
          <a:xfrm>
            <a:off x="1417320" y="36484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nuevo diseño provoca más errores</a:t>
            </a:r>
            <a:endParaRPr lang="es-ES" sz="1500" dirty="0"/>
          </a:p>
        </p:txBody>
      </p:sp>
      <p:sp>
        <p:nvSpPr>
          <p:cNvPr id="31" name="a4_b"/>
          <p:cNvSpPr/>
          <p:nvPr/>
        </p:nvSpPr>
        <p:spPr>
          <a:xfrm>
            <a:off x="6126480" y="3739896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32" name="a4_v"/>
          <p:cNvSpPr txBox="1"/>
          <p:nvPr/>
        </p:nvSpPr>
        <p:spPr>
          <a:xfrm>
            <a:off x="6126480" y="373989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Confirmada</a:t>
            </a:r>
            <a:endParaRPr lang="es-ES" sz="1200" dirty="0"/>
          </a:p>
        </p:txBody>
      </p:sp>
      <p:sp>
        <p:nvSpPr>
          <p:cNvPr id="33" name="a4_x"/>
          <p:cNvSpPr txBox="1"/>
          <p:nvPr/>
        </p:nvSpPr>
        <p:spPr>
          <a:xfrm>
            <a:off x="7909560" y="364845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33 % de clientes con errores frente a 26 %</a:t>
            </a:r>
            <a:endParaRPr lang="es-ES" sz="1300" dirty="0"/>
          </a:p>
        </p:txBody>
      </p:sp>
      <p:sp>
        <p:nvSpPr>
          <p:cNvPr id="34" name="a5_p"/>
          <p:cNvSpPr/>
          <p:nvPr/>
        </p:nvSpPr>
        <p:spPr>
          <a:xfrm>
            <a:off x="548640" y="4270248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35" name="a5_c"/>
          <p:cNvSpPr txBox="1"/>
          <p:nvPr/>
        </p:nvSpPr>
        <p:spPr>
          <a:xfrm>
            <a:off x="777240" y="4270248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H6</a:t>
            </a:r>
            <a:endParaRPr lang="es-ES" sz="1500" dirty="0"/>
          </a:p>
        </p:txBody>
      </p:sp>
      <p:sp>
        <p:nvSpPr>
          <p:cNvPr id="36" name="a5_h"/>
          <p:cNvSpPr txBox="1"/>
          <p:nvPr/>
        </p:nvSpPr>
        <p:spPr>
          <a:xfrm>
            <a:off x="1417320" y="427024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ventaja se mantiene en el tiempo</a:t>
            </a:r>
            <a:endParaRPr lang="es-ES" sz="1500" dirty="0"/>
          </a:p>
        </p:txBody>
      </p:sp>
      <p:sp>
        <p:nvSpPr>
          <p:cNvPr id="37" name="a5_b"/>
          <p:cNvSpPr/>
          <p:nvPr/>
        </p:nvSpPr>
        <p:spPr>
          <a:xfrm>
            <a:off x="6126480" y="4361688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FF5C6C"/>
          </a:solidFill>
          <a:ln w="12700">
            <a:solidFill>
              <a:srgbClr val="FF5C6C"/>
            </a:solidFill>
            <a:prstDash val="solid"/>
          </a:ln>
        </p:spPr>
      </p:sp>
      <p:sp>
        <p:nvSpPr>
          <p:cNvPr id="38" name="a5_v"/>
          <p:cNvSpPr txBox="1"/>
          <p:nvPr/>
        </p:nvSpPr>
        <p:spPr>
          <a:xfrm>
            <a:off x="6126480" y="436168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s-ES" sz="1200" dirty="0"/>
          </a:p>
        </p:txBody>
      </p:sp>
      <p:sp>
        <p:nvSpPr>
          <p:cNvPr id="39" name="a5_x"/>
          <p:cNvSpPr txBox="1"/>
          <p:nvPr/>
        </p:nvSpPr>
        <p:spPr>
          <a:xfrm>
            <a:off x="7909560" y="427024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+5 puntos en marzo a casi 0 en junio</a:t>
            </a:r>
            <a:endParaRPr lang="es-ES" sz="1300" dirty="0"/>
          </a:p>
        </p:txBody>
      </p:sp>
      <p:sp>
        <p:nvSpPr>
          <p:cNvPr id="40" name="a6_p"/>
          <p:cNvSpPr/>
          <p:nvPr/>
        </p:nvSpPr>
        <p:spPr>
          <a:xfrm>
            <a:off x="548640" y="4892040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41" name="a6_c"/>
          <p:cNvSpPr txBox="1"/>
          <p:nvPr/>
        </p:nvSpPr>
        <p:spPr>
          <a:xfrm>
            <a:off x="777240" y="4892040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H7</a:t>
            </a:r>
            <a:endParaRPr lang="es-ES" sz="1500" dirty="0"/>
          </a:p>
        </p:txBody>
      </p:sp>
      <p:sp>
        <p:nvSpPr>
          <p:cNvPr id="42" name="a6_h"/>
          <p:cNvSpPr txBox="1"/>
          <p:nvPr/>
        </p:nvSpPr>
        <p:spPr>
          <a:xfrm>
            <a:off x="1417320" y="489204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los mayores les cuesta más</a:t>
            </a:r>
            <a:endParaRPr lang="es-ES" sz="1500" dirty="0"/>
          </a:p>
        </p:txBody>
      </p:sp>
      <p:sp>
        <p:nvSpPr>
          <p:cNvPr id="43" name="a6_b"/>
          <p:cNvSpPr/>
          <p:nvPr/>
        </p:nvSpPr>
        <p:spPr>
          <a:xfrm>
            <a:off x="6126480" y="4983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44" name="a6_v"/>
          <p:cNvSpPr txBox="1"/>
          <p:nvPr/>
        </p:nvSpPr>
        <p:spPr>
          <a:xfrm>
            <a:off x="6126480" y="4983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Confirmada</a:t>
            </a:r>
            <a:endParaRPr lang="es-ES" sz="1200" dirty="0"/>
          </a:p>
        </p:txBody>
      </p:sp>
      <p:sp>
        <p:nvSpPr>
          <p:cNvPr id="45" name="a6_x"/>
          <p:cNvSpPr txBox="1"/>
          <p:nvPr/>
        </p:nvSpPr>
        <p:spPr>
          <a:xfrm>
            <a:off x="7909560" y="489204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unos 10 puntos más de errores desde los 45</a:t>
            </a:r>
            <a:endParaRPr lang="es-ES" sz="1300" dirty="0"/>
          </a:p>
        </p:txBody>
      </p:sp>
      <p:sp>
        <p:nvSpPr>
          <p:cNvPr id="46" name="a7_p"/>
          <p:cNvSpPr/>
          <p:nvPr/>
        </p:nvSpPr>
        <p:spPr>
          <a:xfrm>
            <a:off x="548640" y="5513832"/>
            <a:ext cx="11094415" cy="530352"/>
          </a:xfrm>
          <a:prstGeom prst="roundRect">
            <a:avLst>
              <a:gd name="adj" fmla="val 31034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47" name="a7_c"/>
          <p:cNvSpPr txBox="1"/>
          <p:nvPr/>
        </p:nvSpPr>
        <p:spPr>
          <a:xfrm>
            <a:off x="777240" y="5513832"/>
            <a:ext cx="548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s-ES" sz="1500" dirty="0"/>
          </a:p>
        </p:txBody>
      </p:sp>
      <p:sp>
        <p:nvSpPr>
          <p:cNvPr id="48" name="a7_h"/>
          <p:cNvSpPr txBox="1"/>
          <p:nvPr/>
        </p:nvSpPr>
        <p:spPr>
          <a:xfrm>
            <a:off x="1417320" y="55138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experimento repartió 50/50 y de forma estable</a:t>
            </a:r>
            <a:endParaRPr lang="es-ES" sz="1500" dirty="0"/>
          </a:p>
        </p:txBody>
      </p:sp>
      <p:sp>
        <p:nvSpPr>
          <p:cNvPr id="49" name="a7_b"/>
          <p:cNvSpPr/>
          <p:nvPr/>
        </p:nvSpPr>
        <p:spPr>
          <a:xfrm>
            <a:off x="6126480" y="560527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FF5C6C"/>
          </a:solidFill>
          <a:ln w="12700">
            <a:solidFill>
              <a:srgbClr val="FF5C6C"/>
            </a:solidFill>
            <a:prstDash val="solid"/>
          </a:ln>
        </p:spPr>
      </p:sp>
      <p:sp>
        <p:nvSpPr>
          <p:cNvPr id="50" name="a7_v"/>
          <p:cNvSpPr txBox="1"/>
          <p:nvPr/>
        </p:nvSpPr>
        <p:spPr>
          <a:xfrm>
            <a:off x="6126480" y="5605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2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s-ES" sz="1200" dirty="0"/>
          </a:p>
        </p:txBody>
      </p:sp>
      <p:sp>
        <p:nvSpPr>
          <p:cNvPr id="51" name="a7_x"/>
          <p:cNvSpPr txBox="1"/>
          <p:nvPr/>
        </p:nvSpPr>
        <p:spPr>
          <a:xfrm>
            <a:off x="7909560" y="551383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53/47, y el reparto cambió el 8 de mayo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18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30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75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5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7" grpId="0" animBg="1"/>
      <p:bldP spid="48" grpId="0" animBg="1"/>
      <p:bldP spid="50" grpId="0" animBg="1"/>
      <p:bldP spid="5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Tableau: el test por grupo, edad y género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351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0175" y="384048"/>
            <a:ext cx="146304" cy="146304"/>
          </a:xfrm>
          <a:prstGeom prst="ellipse">
            <a:avLst/>
          </a:prstGeom>
          <a:solidFill>
            <a:srgbClr val="2A3B57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STEP_3 · ¿ES REAL?</a:t>
            </a:r>
            <a:endParaRPr lang="es-ES" sz="1200" dirty="0"/>
          </a:p>
        </p:txBody>
      </p:sp>
      <p:sp>
        <p:nvSpPr>
          <p:cNvPr id="10" name="a1_f"/>
          <p:cNvSpPr/>
          <p:nvPr/>
        </p:nvSpPr>
        <p:spPr>
          <a:xfrm>
            <a:off x="548640" y="1691640"/>
            <a:ext cx="3611880" cy="3154680"/>
          </a:xfrm>
          <a:prstGeom prst="roundRect">
            <a:avLst>
              <a:gd name="adj" fmla="val 8372"/>
            </a:avLst>
          </a:prstGeom>
          <a:blipFill>
            <a:blip r:embed="rIdTab1"/>
            <a:stretch>
              <a:fillRect/>
            </a:stretch>
          </a:blipFill>
          <a:ln w="12700">
            <a:solidFill>
              <a:srgbClr val="F5F7FA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685800" y="1783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Embudo: clientes en cada paso</a:t>
            </a:r>
          </a:p>
        </p:txBody>
      </p:sp>
      <p:sp>
        <p:nvSpPr>
          <p:cNvPr id="12" name="a2_f"/>
          <p:cNvSpPr/>
          <p:nvPr/>
        </p:nvSpPr>
        <p:spPr>
          <a:xfrm>
            <a:off x="4306824" y="1691640"/>
            <a:ext cx="3611880" cy="3154680"/>
          </a:xfrm>
          <a:prstGeom prst="roundRect">
            <a:avLst>
              <a:gd name="adj" fmla="val 8372"/>
            </a:avLst>
          </a:prstGeom>
          <a:blipFill>
            <a:blip r:embed="rIdTab2"/>
            <a:stretch>
              <a:fillRect/>
            </a:stretch>
          </a:blipFill>
          <a:ln w="12700">
            <a:solidFill>
              <a:srgbClr val="F5F7FA"/>
            </a:solidFill>
            <a:prstDash val="solid"/>
          </a:ln>
        </p:spPr>
      </p:sp>
      <p:sp>
        <p:nvSpPr>
          <p:cNvPr id="13" name="a2_t"/>
          <p:cNvSpPr txBox="1"/>
          <p:nvPr/>
        </p:nvSpPr>
        <p:spPr>
          <a:xfrm>
            <a:off x="4443984" y="1783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por tramo de edad</a:t>
            </a:r>
          </a:p>
        </p:txBody>
      </p:sp>
      <p:sp>
        <p:nvSpPr>
          <p:cNvPr id="14" name="a3_f"/>
          <p:cNvSpPr/>
          <p:nvPr/>
        </p:nvSpPr>
        <p:spPr>
          <a:xfrm>
            <a:off x="8065008" y="1691640"/>
            <a:ext cx="3611880" cy="3154680"/>
          </a:xfrm>
          <a:prstGeom prst="roundRect">
            <a:avLst>
              <a:gd name="adj" fmla="val 8372"/>
            </a:avLst>
          </a:prstGeom>
          <a:blipFill>
            <a:blip r:embed="rIdTab3"/>
            <a:stretch>
              <a:fillRect/>
            </a:stretch>
          </a:blipFill>
          <a:ln w="12700">
            <a:solidFill>
              <a:srgbClr val="F5F7FA"/>
            </a:solidFill>
            <a:prstDash val="solid"/>
          </a:ln>
        </p:spPr>
      </p:sp>
      <p:sp>
        <p:nvSpPr>
          <p:cNvPr id="15" name="a3_t"/>
          <p:cNvSpPr txBox="1"/>
          <p:nvPr/>
        </p:nvSpPr>
        <p:spPr>
          <a:xfrm>
            <a:off x="8202168" y="1783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Clientes por género</a:t>
            </a:r>
          </a:p>
        </p:txBody>
      </p:sp>
      <p:sp>
        <p:nvSpPr>
          <p:cNvPr id="16" name="a4_f"/>
          <p:cNvSpPr/>
          <p:nvPr/>
        </p:nvSpPr>
        <p:spPr>
          <a:xfrm>
            <a:off x="548640" y="4983480"/>
            <a:ext cx="5468112" cy="914400"/>
          </a:xfrm>
          <a:prstGeom prst="roundRect">
            <a:avLst>
              <a:gd name="adj" fmla="val 8372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7" name="a4_t"/>
          <p:cNvSpPr txBox="1"/>
          <p:nvPr/>
        </p:nvSpPr>
        <p:spPr>
          <a:xfrm>
            <a:off x="777240" y="502920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de finalización   </a:t>
            </a:r>
            <a:r>
              <a:rPr lang="es-ES" sz="1700" b="1" dirty="0">
                <a:solidFill>
                  <a:srgbClr val="4E79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66 %</a:t>
            </a:r>
            <a:r>
              <a:rPr lang="es-ES" sz="17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r>
              <a:rPr lang="es-ES" sz="17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70 %</a:t>
            </a:r>
          </a:p>
          <a:p>
            <a:pPr algn="ctr" indent="0" marL="0">
              <a:buNone/>
            </a:pPr>
            <a:r>
              <a:rPr lang="es-E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 los clientes que empiezan</a:t>
            </a:r>
          </a:p>
        </p:txBody>
      </p:sp>
      <p:sp>
        <p:nvSpPr>
          <p:cNvPr id="18" name="a5_f"/>
          <p:cNvSpPr/>
          <p:nvPr/>
        </p:nvSpPr>
        <p:spPr>
          <a:xfrm>
            <a:off x="6172200" y="4983480"/>
            <a:ext cx="5468112" cy="914400"/>
          </a:xfrm>
          <a:prstGeom prst="roundRect">
            <a:avLst>
              <a:gd name="adj" fmla="val 8372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a5_t"/>
          <p:cNvSpPr txBox="1"/>
          <p:nvPr/>
        </p:nvSpPr>
        <p:spPr>
          <a:xfrm>
            <a:off x="6400800" y="502920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Porcentaje de errores   </a:t>
            </a:r>
            <a:r>
              <a:rPr lang="es-ES" sz="1700" b="1" dirty="0">
                <a:solidFill>
                  <a:srgbClr val="4E79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7 %</a:t>
            </a:r>
            <a:r>
              <a:rPr lang="es-ES" sz="17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r>
              <a:rPr lang="es-ES" sz="17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9 %</a:t>
            </a:r>
          </a:p>
          <a:p>
            <a:pPr algn="ctr" indent="0" marL="0">
              <a:buNone/>
            </a:pPr>
            <a:r>
              <a:rPr lang="es-E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pasos hacia atrás sobre el total de pasos</a:t>
            </a:r>
          </a:p>
        </p:txBody>
      </p:sp>
      <p:sp>
        <p:nvSpPr>
          <p:cNvPr id="22" name="a7_p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3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Hecho por Emmanuel en Tableau. </a:t>
            </a:r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tiempo en cada paso y las pruebas estadísticas se hicieron con Python.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19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750"/>
                            </p:stCondLst>
                            <p:childTnLst/>
                          </p:cTn>
                        </p:par>
                        <p:par>
                          <p:cTn id="48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7" grpId="0" animBg="1"/>
      <p:bldP spid="19" grpId="0" animBg="1"/>
      <p:bldP spid="2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D976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23599" y="347472"/>
            <a:ext cx="219456" cy="219456"/>
          </a:xfrm>
          <a:prstGeom prst="ellipse">
            <a:avLst/>
          </a:prstGeom>
          <a:solidFill>
            <a:srgbClr val="0B1424"/>
          </a:solidFill>
          <a:ln w="19050">
            <a:solidFill>
              <a:srgbClr val="F28E2B"/>
            </a:solidFill>
            <a:prstDash val="solid"/>
          </a:ln>
        </p:spPr>
      </p:sp>
      <p:sp>
        <p:nvSpPr>
          <p:cNvPr id="8" name="a1_paso"/>
          <p:cNvSpPr txBox="1"/>
          <p:nvPr/>
        </p:nvSpPr>
        <p:spPr>
          <a:xfrm>
            <a:off x="457200" y="1097280"/>
            <a:ext cx="11430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0" b="1" dirty="0">
                <a:solidFill>
                  <a:srgbClr val="FFB4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</a:t>
            </a:r>
            <a:endParaRPr lang="es-ES" sz="15000" dirty="0"/>
          </a:p>
        </p:txBody>
      </p:sp>
      <p:sp>
        <p:nvSpPr>
          <p:cNvPr id="9" name="a2_eti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spc="300" kern="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PASO 5 DE 5 · QUÉ HACER</a:t>
            </a:r>
            <a:endParaRPr lang="es-ES" sz="1500" dirty="0"/>
          </a:p>
        </p:txBody>
      </p:sp>
      <p:sp>
        <p:nvSpPr>
          <p:cNvPr id="10" name="a2_q"/>
          <p:cNvSpPr txBox="1"/>
          <p:nvPr/>
        </p:nvSpPr>
        <p:spPr>
          <a:xfrm>
            <a:off x="548640" y="4343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44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¿Y ahora qué hacemos?</a:t>
            </a:r>
            <a:endParaRPr lang="es-E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B1424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20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significan 3,7 puntos para Vanguard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2359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· QUÉ HACER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789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a1_n"/>
          <p:cNvSpPr txBox="1"/>
          <p:nvPr/>
        </p:nvSpPr>
        <p:spPr>
          <a:xfrm>
            <a:off x="960120" y="21031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1.000</a:t>
            </a:r>
            <a:endParaRPr lang="es-ES" sz="8000" dirty="0"/>
          </a:p>
        </p:txBody>
      </p:sp>
      <p:sp>
        <p:nvSpPr>
          <p:cNvPr id="12" name="a1_l"/>
          <p:cNvSpPr txBox="1"/>
          <p:nvPr/>
        </p:nvSpPr>
        <p:spPr>
          <a:xfrm>
            <a:off x="960120" y="3474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0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clientes más terminaron el proceso durante el test gracias al nuevo diseño</a:t>
            </a:r>
            <a:endParaRPr lang="es-ES" sz="2000" dirty="0"/>
          </a:p>
        </p:txBody>
      </p:sp>
      <p:sp>
        <p:nvSpPr>
          <p:cNvPr id="13" name="a1_s"/>
          <p:cNvSpPr txBox="1"/>
          <p:nvPr/>
        </p:nvSpPr>
        <p:spPr>
          <a:xfrm>
            <a:off x="960120" y="5349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400" dirty="0">
                <a:solidFill>
                  <a:srgbClr val="0B14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27.000 clientes del Test × 3,7 puntos de ventaja</a:t>
            </a:r>
            <a:endParaRPr lang="es-ES" sz="1400" dirty="0"/>
          </a:p>
        </p:txBody>
      </p:sp>
      <p:sp>
        <p:nvSpPr>
          <p:cNvPr id="14" name="a2_c"/>
          <p:cNvSpPr/>
          <p:nvPr/>
        </p:nvSpPr>
        <p:spPr>
          <a:xfrm>
            <a:off x="6263640" y="1783080"/>
            <a:ext cx="5376672" cy="2057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5" name="a2_n"/>
          <p:cNvSpPr txBox="1"/>
          <p:nvPr/>
        </p:nvSpPr>
        <p:spPr>
          <a:xfrm>
            <a:off x="6583680" y="19659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8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3.700</a:t>
            </a:r>
            <a:endParaRPr lang="es-ES" sz="4800" dirty="0"/>
          </a:p>
        </p:txBody>
      </p:sp>
      <p:sp>
        <p:nvSpPr>
          <p:cNvPr id="16" name="a2_l"/>
          <p:cNvSpPr txBox="1"/>
          <p:nvPr/>
        </p:nvSpPr>
        <p:spPr>
          <a:xfrm>
            <a:off x="6583680" y="2834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6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procesos más por cada 100.000 clientes que empiezan</a:t>
            </a:r>
            <a:endParaRPr lang="es-ES" sz="1600" dirty="0"/>
          </a:p>
        </p:txBody>
      </p:sp>
      <p:sp>
        <p:nvSpPr>
          <p:cNvPr id="17" name="a3_c"/>
          <p:cNvSpPr/>
          <p:nvPr/>
        </p:nvSpPr>
        <p:spPr>
          <a:xfrm>
            <a:off x="6263640" y="4069080"/>
            <a:ext cx="5376672" cy="2057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6583680" y="42519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6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rediseño se paga si cuesta menos de </a:t>
            </a:r>
            <a:pPr indent="0" marL="0">
              <a:buNone/>
            </a:pPr>
            <a:r>
              <a:rPr lang="es-ES" sz="16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3.700 × V</a:t>
            </a:r>
            <a:pPr indent="0" marL="0">
              <a:buNone/>
            </a:pPr>
            <a:r>
              <a:rPr lang="es-ES" sz="16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por cada 100.000 clientes, siendo V lo que vale para Vanguard un proceso completado.</a:t>
            </a:r>
            <a:endParaRPr lang="es-ES" sz="1600" dirty="0"/>
          </a:p>
        </p:txBody>
      </p:sp>
      <p:sp>
        <p:nvSpPr>
          <p:cNvPr id="19" name="a3_s"/>
          <p:cNvSpPr txBox="1"/>
          <p:nvPr/>
        </p:nvSpPr>
        <p:spPr>
          <a:xfrm>
            <a:off x="65836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 no está en los datos: es la pregunta que hay que hacer a Vanguard.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21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Arreglar antes de lanzar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2359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· QUÉ HACER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n"/>
          <p:cNvSpPr txBox="1"/>
          <p:nvPr/>
        </p:nvSpPr>
        <p:spPr>
          <a:xfrm>
            <a:off x="822960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8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s-ES" sz="4800" dirty="0"/>
          </a:p>
        </p:txBody>
      </p:sp>
      <p:sp>
        <p:nvSpPr>
          <p:cNvPr id="12" name="a1_d_c"/>
          <p:cNvSpPr/>
          <p:nvPr/>
        </p:nvSpPr>
        <p:spPr>
          <a:xfrm>
            <a:off x="2240280" y="2103120"/>
            <a:ext cx="640080" cy="64008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pic>
        <p:nvPicPr>
          <p:cNvPr id="13" name="a1_d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701" y="2269541"/>
            <a:ext cx="307238" cy="307238"/>
          </a:xfrm>
          <a:prstGeom prst="rect">
            <a:avLst/>
          </a:prstGeom>
        </p:spPr>
      </p:pic>
      <p:sp>
        <p:nvSpPr>
          <p:cNvPr id="14" name="a1_t"/>
          <p:cNvSpPr txBox="1"/>
          <p:nvPr/>
        </p:nvSpPr>
        <p:spPr>
          <a:xfrm>
            <a:off x="822960" y="3063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1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Arreglar step_1</a:t>
            </a:r>
            <a:endParaRPr lang="es-ES" sz="2100" dirty="0"/>
          </a:p>
        </p:txBody>
      </p:sp>
      <p:sp>
        <p:nvSpPr>
          <p:cNvPr id="15" name="a1_x"/>
          <p:cNvSpPr txBox="1"/>
          <p:nvPr/>
        </p:nvSpPr>
        <p:spPr>
          <a:xfrm>
            <a:off x="822960" y="40233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único paso más lento, y desde donde se vuelve a start más del doble</a:t>
            </a:r>
            <a:endParaRPr lang="es-ES" sz="1400" dirty="0"/>
          </a:p>
        </p:txBody>
      </p:sp>
      <p:sp>
        <p:nvSpPr>
          <p:cNvPr id="16" name="a2_c"/>
          <p:cNvSpPr/>
          <p:nvPr/>
        </p:nvSpPr>
        <p:spPr>
          <a:xfrm>
            <a:off x="3355848" y="1783080"/>
            <a:ext cx="2606040" cy="43434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7" name="a2_n"/>
          <p:cNvSpPr txBox="1"/>
          <p:nvPr/>
        </p:nvSpPr>
        <p:spPr>
          <a:xfrm>
            <a:off x="3630168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8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s-ES" sz="4800" dirty="0"/>
          </a:p>
        </p:txBody>
      </p:sp>
      <p:sp>
        <p:nvSpPr>
          <p:cNvPr id="18" name="a2_d_c"/>
          <p:cNvSpPr/>
          <p:nvPr/>
        </p:nvSpPr>
        <p:spPr>
          <a:xfrm>
            <a:off x="5047488" y="2103120"/>
            <a:ext cx="640080" cy="64008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pic>
        <p:nvPicPr>
          <p:cNvPr id="19" name="a2_d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909" y="2269541"/>
            <a:ext cx="307238" cy="307238"/>
          </a:xfrm>
          <a:prstGeom prst="rect">
            <a:avLst/>
          </a:prstGeom>
        </p:spPr>
      </p:pic>
      <p:sp>
        <p:nvSpPr>
          <p:cNvPr id="20" name="a2_t"/>
          <p:cNvSpPr txBox="1"/>
          <p:nvPr/>
        </p:nvSpPr>
        <p:spPr>
          <a:xfrm>
            <a:off x="3630168" y="3063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1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Ayudar a los mayores</a:t>
            </a:r>
            <a:endParaRPr lang="es-ES" sz="2100" dirty="0"/>
          </a:p>
        </p:txBody>
      </p:sp>
      <p:sp>
        <p:nvSpPr>
          <p:cNvPr id="21" name="a2_x"/>
          <p:cNvSpPr txBox="1"/>
          <p:nvPr/>
        </p:nvSpPr>
        <p:spPr>
          <a:xfrm>
            <a:off x="3630168" y="40233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guía en step_1 para los mayores de 45: son el 56 % y los que más se pierden</a:t>
            </a:r>
            <a:endParaRPr lang="es-ES" sz="1400" dirty="0"/>
          </a:p>
        </p:txBody>
      </p:sp>
      <p:sp>
        <p:nvSpPr>
          <p:cNvPr id="22" name="a3_c"/>
          <p:cNvSpPr/>
          <p:nvPr/>
        </p:nvSpPr>
        <p:spPr>
          <a:xfrm>
            <a:off x="6163056" y="1783080"/>
            <a:ext cx="2606040" cy="43434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3" name="a3_n"/>
          <p:cNvSpPr txBox="1"/>
          <p:nvPr/>
        </p:nvSpPr>
        <p:spPr>
          <a:xfrm>
            <a:off x="6437376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8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s-ES" sz="4800" dirty="0"/>
          </a:p>
        </p:txBody>
      </p:sp>
      <p:sp>
        <p:nvSpPr>
          <p:cNvPr id="24" name="a3_d_c"/>
          <p:cNvSpPr/>
          <p:nvPr/>
        </p:nvSpPr>
        <p:spPr>
          <a:xfrm>
            <a:off x="7854696" y="2103120"/>
            <a:ext cx="640080" cy="64008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pic>
        <p:nvPicPr>
          <p:cNvPr id="25" name="a3_d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117" y="2269541"/>
            <a:ext cx="307238" cy="307238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6437376" y="3063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1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 el 5 %</a:t>
            </a:r>
            <a:endParaRPr lang="es-ES" sz="2100" dirty="0"/>
          </a:p>
        </p:txBody>
      </p:sp>
      <p:sp>
        <p:nvSpPr>
          <p:cNvPr id="27" name="a3_x"/>
          <p:cNvSpPr txBox="1"/>
          <p:nvPr/>
        </p:nvSpPr>
        <p:spPr>
          <a:xfrm>
            <a:off x="6437376" y="40233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puntos o relativo, y en dinero: valor de cada proceso frente al coste</a:t>
            </a:r>
            <a:endParaRPr lang="es-ES" sz="1400" dirty="0"/>
          </a:p>
        </p:txBody>
      </p:sp>
      <p:sp>
        <p:nvSpPr>
          <p:cNvPr id="28" name="a4_c"/>
          <p:cNvSpPr/>
          <p:nvPr/>
        </p:nvSpPr>
        <p:spPr>
          <a:xfrm>
            <a:off x="8970264" y="1783080"/>
            <a:ext cx="2606040" cy="4343400"/>
          </a:xfrm>
          <a:prstGeom prst="roundRect">
            <a:avLst>
              <a:gd name="adj" fmla="val 6316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9" name="a4_n"/>
          <p:cNvSpPr txBox="1"/>
          <p:nvPr/>
        </p:nvSpPr>
        <p:spPr>
          <a:xfrm>
            <a:off x="9244584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48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s-ES" sz="4800" dirty="0"/>
          </a:p>
        </p:txBody>
      </p:sp>
      <p:sp>
        <p:nvSpPr>
          <p:cNvPr id="30" name="a4_d_c"/>
          <p:cNvSpPr/>
          <p:nvPr/>
        </p:nvSpPr>
        <p:spPr>
          <a:xfrm>
            <a:off x="10661904" y="2103120"/>
            <a:ext cx="640080" cy="64008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pic>
        <p:nvPicPr>
          <p:cNvPr id="31" name="a4_d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8325" y="2269541"/>
            <a:ext cx="307238" cy="307238"/>
          </a:xfrm>
          <a:prstGeom prst="rect">
            <a:avLst/>
          </a:prstGeom>
        </p:spPr>
      </p:pic>
      <p:sp>
        <p:nvSpPr>
          <p:cNvPr id="32" name="a4_t"/>
          <p:cNvSpPr txBox="1"/>
          <p:nvPr/>
        </p:nvSpPr>
        <p:spPr>
          <a:xfrm>
            <a:off x="9244584" y="3063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21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Repetir un test corto</a:t>
            </a:r>
            <a:endParaRPr lang="es-ES" sz="2100" dirty="0"/>
          </a:p>
        </p:txBody>
      </p:sp>
      <p:sp>
        <p:nvSpPr>
          <p:cNvPr id="33" name="a4_x"/>
          <p:cNvSpPr txBox="1"/>
          <p:nvPr/>
        </p:nvSpPr>
        <p:spPr>
          <a:xfrm>
            <a:off x="9244584" y="40233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14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reparto 50/50 estable y más semanas, para ver si la ventaja dura</a:t>
            </a:r>
            <a:endParaRPr lang="es-E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22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7" grpId="0" animBg="1"/>
      <p:bldP spid="20" grpId="0" animBg="1"/>
      <p:bldP spid="21" grpId="0" animBg="1"/>
      <p:bldP spid="23" grpId="0" animBg="1"/>
      <p:bldP spid="26" grpId="0" animBg="1"/>
      <p:bldP spid="27" grpId="0" animBg="1"/>
      <p:bldP spid="29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trabajamos y qué aprendimos</a:t>
            </a:r>
            <a:endParaRPr lang="es-ES" sz="3400" dirty="0"/>
          </a:p>
        </p:txBody>
      </p:sp>
      <p:sp>
        <p:nvSpPr>
          <p:cNvPr id="3" name="Shape 1"/>
          <p:cNvSpPr/>
          <p:nvPr/>
        </p:nvSpPr>
        <p:spPr>
          <a:xfrm>
            <a:off x="8973007" y="457200"/>
            <a:ext cx="2560320" cy="0"/>
          </a:xfrm>
          <a:prstGeom prst="line">
            <a:avLst/>
          </a:prstGeom>
          <a:noFill/>
          <a:ln w="19050">
            <a:solidFill>
              <a:srgbClr val="2A3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993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001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20095" y="384048"/>
            <a:ext cx="146304" cy="146304"/>
          </a:xfrm>
          <a:prstGeom prst="ellipse">
            <a:avLst/>
          </a:prstGeom>
          <a:solidFill>
            <a:srgbClr val="6C9BD2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23599" y="347472"/>
            <a:ext cx="219456" cy="219456"/>
          </a:xfrm>
          <a:prstGeom prst="ellipse">
            <a:avLst/>
          </a:prstGeom>
          <a:solidFill>
            <a:srgbClr val="F28E2B"/>
          </a:solidFill>
          <a:ln w="19050">
            <a:solidFill>
              <a:srgbClr val="0B14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· QUÉ HACER</a:t>
            </a:r>
            <a:endParaRPr lang="es-ES" sz="1200" dirty="0"/>
          </a:p>
        </p:txBody>
      </p:sp>
      <p:sp>
        <p:nvSpPr>
          <p:cNvPr id="10" name="a1_c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8686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2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EQUIPO</a:t>
            </a:r>
            <a:endParaRPr lang="es-ES" sz="1200" dirty="0"/>
          </a:p>
        </p:txBody>
      </p:sp>
      <p:sp>
        <p:nvSpPr>
          <p:cNvPr id="12" name="a1_av0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a1_in0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6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</a:t>
            </a:r>
            <a:endParaRPr lang="es-ES" sz="1600" dirty="0"/>
          </a:p>
        </p:txBody>
      </p:sp>
      <p:sp>
        <p:nvSpPr>
          <p:cNvPr id="14" name="a1_tx0"/>
          <p:cNvSpPr txBox="1"/>
          <p:nvPr/>
        </p:nvSpPr>
        <p:spPr>
          <a:xfrm>
            <a:off x="1508760" y="23317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João: </a:t>
            </a:r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limpieza, exploración, KPI y contrastes ampliados</a:t>
            </a:r>
            <a:endParaRPr lang="es-ES" sz="1300" dirty="0"/>
          </a:p>
        </p:txBody>
      </p:sp>
      <p:sp>
        <p:nvSpPr>
          <p:cNvPr id="15" name="a1_av1"/>
          <p:cNvSpPr/>
          <p:nvPr/>
        </p:nvSpPr>
        <p:spPr>
          <a:xfrm>
            <a:off x="868680" y="3154680"/>
            <a:ext cx="502920" cy="502920"/>
          </a:xfrm>
          <a:prstGeom prst="ellipse">
            <a:avLst/>
          </a:prstGeom>
          <a:solidFill>
            <a:srgbClr val="6C9BD2"/>
          </a:solidFill>
          <a:ln w="12700">
            <a:solidFill>
              <a:srgbClr val="6C9BD2"/>
            </a:solidFill>
            <a:prstDash val="solid"/>
          </a:ln>
        </p:spPr>
      </p:sp>
      <p:sp>
        <p:nvSpPr>
          <p:cNvPr id="16" name="a1_in1"/>
          <p:cNvSpPr txBox="1"/>
          <p:nvPr/>
        </p:nvSpPr>
        <p:spPr>
          <a:xfrm>
            <a:off x="8686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ES" sz="16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s-ES" sz="1600" dirty="0"/>
          </a:p>
        </p:txBody>
      </p:sp>
      <p:sp>
        <p:nvSpPr>
          <p:cNvPr id="17" name="a1_tx1"/>
          <p:cNvSpPr txBox="1"/>
          <p:nvPr/>
        </p:nvSpPr>
        <p:spPr>
          <a:xfrm>
            <a:off x="1508760" y="31089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Emmanuel: </a:t>
            </a:r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base de la prueba de hipótesis (H1, H2 y la edad), la primera evaluación y el Tableau</a:t>
            </a:r>
            <a:endParaRPr lang="es-ES" sz="1300" dirty="0"/>
          </a:p>
        </p:txBody>
      </p:sp>
      <p:sp>
        <p:nvSpPr>
          <p:cNvPr id="18" name="a2_k"/>
          <p:cNvSpPr/>
          <p:nvPr/>
        </p:nvSpPr>
        <p:spPr>
          <a:xfrm>
            <a:off x="868680" y="4023360"/>
            <a:ext cx="4754880" cy="1874520"/>
          </a:xfrm>
          <a:prstGeom prst="roundRect">
            <a:avLst>
              <a:gd name="adj" fmla="val 5854"/>
            </a:avLst>
          </a:prstGeom>
          <a:solidFill>
            <a:srgbClr val="0B1424"/>
          </a:solidFill>
          <a:ln w="12700">
            <a:solidFill>
              <a:srgbClr val="0B1424"/>
            </a:solidFill>
            <a:prstDash val="solid"/>
          </a:ln>
        </p:spPr>
      </p:sp>
      <p:sp>
        <p:nvSpPr>
          <p:cNvPr id="19" name="a2_kt"/>
          <p:cNvSpPr txBox="1"/>
          <p:nvPr/>
        </p:nvSpPr>
        <p:spPr>
          <a:xfrm>
            <a:off x="1051560" y="41148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s-ES" sz="1300" b="1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NOS ORGANIZAMOS</a:t>
            </a:r>
            <a:endParaRPr lang="es-E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uno una parte del análisis, todo junto en un solo notebook</a:t>
            </a:r>
            <a:endParaRPr lang="es-E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Nos explicamos el uno al otro lo que hacía cada uno</a:t>
            </a:r>
            <a:endParaRPr lang="es-E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no vimos en clase, lo rehicimos con lo que sí</a:t>
            </a:r>
            <a:endParaRPr lang="es-ES" sz="1300" dirty="0"/>
          </a:p>
        </p:txBody>
      </p:sp>
      <p:sp>
        <p:nvSpPr>
          <p:cNvPr id="20" name="a3_t"/>
          <p:cNvSpPr txBox="1"/>
          <p:nvPr/>
        </p:nvSpPr>
        <p:spPr>
          <a:xfrm>
            <a:off x="626364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2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RETOS Y CÓMO LOS RESOLVIMOS</a:t>
            </a:r>
            <a:endParaRPr lang="es-ES" sz="1200" dirty="0"/>
          </a:p>
        </p:txBody>
      </p:sp>
      <p:sp>
        <p:nvSpPr>
          <p:cNvPr id="21" name="a4_c"/>
          <p:cNvSpPr/>
          <p:nvPr/>
        </p:nvSpPr>
        <p:spPr>
          <a:xfrm>
            <a:off x="6263640" y="2148840"/>
            <a:ext cx="5376672" cy="804672"/>
          </a:xfrm>
          <a:prstGeom prst="roundRect">
            <a:avLst>
              <a:gd name="adj" fmla="val 2045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2" name="a4_t"/>
          <p:cNvSpPr txBox="1"/>
          <p:nvPr/>
        </p:nvSpPr>
        <p:spPr>
          <a:xfrm>
            <a:off x="6492240" y="2148840"/>
            <a:ext cx="4983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umbral del 5 % era ambiguo</a:t>
            </a:r>
            <a:endParaRPr lang="es-ES" sz="1300" dirty="0"/>
          </a:p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contrastamos las dos lecturas: 5 puntos y 5 % relativo</a:t>
            </a:r>
            <a:endParaRPr lang="es-ES" sz="1300" dirty="0"/>
          </a:p>
        </p:txBody>
      </p:sp>
      <p:sp>
        <p:nvSpPr>
          <p:cNvPr id="23" name="a5_c"/>
          <p:cNvSpPr/>
          <p:nvPr/>
        </p:nvSpPr>
        <p:spPr>
          <a:xfrm>
            <a:off x="6263640" y="3063240"/>
            <a:ext cx="5376672" cy="804672"/>
          </a:xfrm>
          <a:prstGeom prst="roundRect">
            <a:avLst>
              <a:gd name="adj" fmla="val 2045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4" name="a5_t"/>
          <p:cNvSpPr txBox="1"/>
          <p:nvPr/>
        </p:nvSpPr>
        <p:spPr>
          <a:xfrm>
            <a:off x="6492240" y="3063240"/>
            <a:ext cx="4983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reparto cambió a mitad del test</a:t>
            </a:r>
            <a:endParaRPr lang="es-ES" sz="1300" dirty="0"/>
          </a:p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separamos el análisis antes y después del 8 de mayo</a:t>
            </a:r>
            <a:endParaRPr lang="es-ES" sz="1300" dirty="0"/>
          </a:p>
        </p:txBody>
      </p:sp>
      <p:sp>
        <p:nvSpPr>
          <p:cNvPr id="25" name="a6_c"/>
          <p:cNvSpPr/>
          <p:nvPr/>
        </p:nvSpPr>
        <p:spPr>
          <a:xfrm>
            <a:off x="6263640" y="3977640"/>
            <a:ext cx="5376672" cy="804672"/>
          </a:xfrm>
          <a:prstGeom prst="roundRect">
            <a:avLst>
              <a:gd name="adj" fmla="val 20455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sp>
        <p:nvSpPr>
          <p:cNvPr id="26" name="a6_t"/>
          <p:cNvSpPr txBox="1"/>
          <p:nvPr/>
        </p:nvSpPr>
        <p:spPr>
          <a:xfrm>
            <a:off x="6492240" y="3977640"/>
            <a:ext cx="4983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primera prueba usaba una librería que no vimos</a:t>
            </a:r>
            <a:endParaRPr lang="es-ES" sz="1300" dirty="0"/>
          </a:p>
          <a:p>
            <a:pPr indent="0" marL="0">
              <a:buNone/>
            </a:pPr>
            <a:r>
              <a:rPr lang="es-ES" sz="1300" dirty="0">
                <a:solidFill>
                  <a:srgbClr val="9AA8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la rehicimos con lo visto en clase: da lo mismo</a:t>
            </a:r>
            <a:endParaRPr lang="es-ES" sz="1300" dirty="0"/>
          </a:p>
        </p:txBody>
      </p:sp>
      <p:sp>
        <p:nvSpPr>
          <p:cNvPr id="27" name="a7_c"/>
          <p:cNvSpPr/>
          <p:nvPr/>
        </p:nvSpPr>
        <p:spPr>
          <a:xfrm>
            <a:off x="6263640" y="4937760"/>
            <a:ext cx="5376672" cy="1188720"/>
          </a:xfrm>
          <a:prstGeom prst="roundRect">
            <a:avLst>
              <a:gd name="adj" fmla="val 13846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8" name="a7_t"/>
          <p:cNvSpPr txBox="1"/>
          <p:nvPr/>
        </p:nvSpPr>
        <p:spPr>
          <a:xfrm>
            <a:off x="6492240" y="493776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b="1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aprendimos: </a:t>
            </a:r>
            <a:pPr indent="0" marL="0">
              <a:buNone/>
            </a:pPr>
            <a:r>
              <a:rPr lang="es-ES" sz="1500" dirty="0">
                <a:solidFill>
                  <a:srgbClr val="0B14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significativo no es lo mismo que suficiente. Hay que mirar el tamaño de la diferencia y lo que cuesta.</a:t>
            </a:r>
            <a:endParaRPr lang="es-E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23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25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75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4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2194560"/>
            <a:ext cx="6949440" cy="6949440"/>
          </a:xfrm>
          <a:prstGeom prst="ellipse">
            <a:avLst/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3" name="a1_q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594360" cy="594360"/>
          </a:xfrm>
          <a:prstGeom prst="rect">
            <a:avLst/>
          </a:prstGeom>
        </p:spPr>
      </p:pic>
      <p:sp>
        <p:nvSpPr>
          <p:cNvPr id="4" name="a1_l1"/>
          <p:cNvSpPr txBox="1"/>
          <p:nvPr/>
        </p:nvSpPr>
        <p:spPr>
          <a:xfrm>
            <a:off x="548640" y="16002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6600" b="1" dirty="0">
                <a:solidFill>
                  <a:srgbClr val="F28E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+3,7 puntos reales.</a:t>
            </a:r>
            <a:endParaRPr lang="es-ES" sz="6600" dirty="0"/>
          </a:p>
        </p:txBody>
      </p:sp>
      <p:sp>
        <p:nvSpPr>
          <p:cNvPr id="5" name="a2_l2"/>
          <p:cNvSpPr txBox="1"/>
          <p:nvPr/>
        </p:nvSpPr>
        <p:spPr>
          <a:xfrm>
            <a:off x="548640" y="2834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ES" sz="36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paguen el rediseño: arreglar step_1 y volver a medir.</a:t>
            </a:r>
            <a:endParaRPr lang="es-ES" sz="3600" dirty="0"/>
          </a:p>
        </p:txBody>
      </p:sp>
      <p:sp>
        <p:nvSpPr>
          <p:cNvPr id="6" name="a3_p0"/>
          <p:cNvSpPr/>
          <p:nvPr/>
        </p:nvSpPr>
        <p:spPr>
          <a:xfrm>
            <a:off x="548640" y="4709160"/>
            <a:ext cx="219456" cy="21945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7" name="a3_p1"/>
          <p:cNvSpPr/>
          <p:nvPr/>
        </p:nvSpPr>
        <p:spPr>
          <a:xfrm>
            <a:off x="932688" y="4709160"/>
            <a:ext cx="219456" cy="21945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8" name="a3_p2"/>
          <p:cNvSpPr/>
          <p:nvPr/>
        </p:nvSpPr>
        <p:spPr>
          <a:xfrm>
            <a:off x="1316736" y="4709160"/>
            <a:ext cx="219456" cy="21945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a3_p3"/>
          <p:cNvSpPr/>
          <p:nvPr/>
        </p:nvSpPr>
        <p:spPr>
          <a:xfrm>
            <a:off x="1700784" y="4709160"/>
            <a:ext cx="219456" cy="21945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0" name="a3_p4"/>
          <p:cNvSpPr/>
          <p:nvPr/>
        </p:nvSpPr>
        <p:spPr>
          <a:xfrm>
            <a:off x="2084832" y="4709160"/>
            <a:ext cx="219456" cy="21945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a3_g"/>
          <p:cNvSpPr txBox="1"/>
          <p:nvPr/>
        </p:nvSpPr>
        <p:spPr>
          <a:xfrm>
            <a:off x="548640" y="5074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800" dirty="0">
                <a:solidFill>
                  <a:srgbClr val="9AA8B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Gracias. ¿Preguntas?</a:t>
            </a:r>
            <a:endParaRPr lang="es-ES" sz="2800" dirty="0"/>
          </a:p>
        </p:txBody>
      </p:sp>
      <p:sp>
        <p:nvSpPr>
          <p:cNvPr id="12" name="a3_n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500" dirty="0">
                <a:solidFill>
                  <a:srgbClr val="6B7C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João Miguel Pais  ·  Emmanuel Chukwuemeka Amadi Agebi</a:t>
            </a:r>
            <a:endParaRPr lang="es-E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24</a:t>
            </a:fld>
            <a:endParaRPr lang="es-E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1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los contrastes (α = 0,05)</a:t>
            </a:r>
            <a:endParaRPr lang="es-E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ANEXO</a:t>
            </a:r>
            <a:endParaRPr lang="es-E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017520"/>
                <a:gridCol w="2286000"/>
                <a:gridCol w="3291840"/>
                <a:gridCol w="158191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0B14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E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0B14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Hipótesis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E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0B14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Contraste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E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0B14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Resultado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E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0B14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Conclusión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 tasa de finalización es distinta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y chi-cuadrado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+3,7 pts, p &lt; 0,0001; V de Cramér 0,04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Sí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H2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 mejora llega a 5 puntos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Welch, una cola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 ≈ 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H2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 mejora llega al 5 % relativo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Welch, una cola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casi 6 % observado, p = 0,16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demostrado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H3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 ventaja cambia con la edad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por tramo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+7 / +3 / +2 / +5 pts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Ventaja en todos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H4 · E3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Los grupos tienen el mismo perfil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y chi-cuadrado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Diferencias mínimas (0,3 años de edad)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Equivalentes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H5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Más clientes con errores en el Test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33 % frente a 26 %, p &lt; 0,0001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Sí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H6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 ventaja se mantiene en el tiempo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por mes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 → casi 0 (junio, p = 0,77)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Baja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H7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Más errores en los mayores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por tramo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 / +5 / +10 / +11 pts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Crece con la edad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H8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El tiempo por paso es distinto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 por paso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 más rápido salvo en step_1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Sí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H9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Más clics por cliente en el Test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 de Welch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6,6 frente a 6,0, p &lt; 0,0001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Sí: más vueltas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Reparto 50/50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Binomial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53 % en el Test, p &lt; 0,0001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fue 50/50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Reparto igual cada semana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Chi-cuadrado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Cambio el 8 de mayo, p &lt; 0,0001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s-ES" sz="1200" b="1" dirty="0">
                          <a:solidFill>
                            <a:srgbClr val="F5F7F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s-E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25</a:t>
            </a:fld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ES" sz="3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Limitaciones y datos que faltan</a:t>
            </a:r>
            <a:endParaRPr lang="es-E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spc="300" kern="0" dirty="0">
                <a:solidFill>
                  <a:srgbClr val="F28E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ANEXO</a:t>
            </a:r>
            <a:endParaRPr lang="es-E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20116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100" b="1" dirty="0">
                <a:solidFill>
                  <a:srgbClr val="FF5C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Limitaciones</a:t>
            </a:r>
            <a:endParaRPr lang="es-E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8803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reparto no fue 50/50 y cambió el 8 de mayo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ventaja baja con el tiempo; junio tiene pocos días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«Error» = paso hacia atrás, sin mensajes de error reales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34 % de clientes sin género; los accesos parecen tener un tope en 9</a:t>
            </a:r>
            <a:endParaRPr lang="es-ES" sz="1500" dirty="0"/>
          </a:p>
        </p:txBody>
      </p:sp>
      <p:sp>
        <p:nvSpPr>
          <p:cNvPr id="8" name="Shape 5"/>
          <p:cNvSpPr/>
          <p:nvPr/>
        </p:nvSpPr>
        <p:spPr>
          <a:xfrm>
            <a:off x="6245352" y="1783080"/>
            <a:ext cx="5394960" cy="4343400"/>
          </a:xfrm>
          <a:prstGeom prst="roundRect">
            <a:avLst>
              <a:gd name="adj" fmla="val 3789"/>
            </a:avLst>
          </a:prstGeom>
          <a:solidFill>
            <a:srgbClr val="15233A"/>
          </a:solidFill>
          <a:ln w="12700">
            <a:solidFill>
              <a:srgbClr val="15233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20574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96912" y="20116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100" b="1" dirty="0">
                <a:solidFill>
                  <a:srgbClr val="6C9B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Datos que pediríamos</a:t>
            </a:r>
            <a:endParaRPr lang="es-E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6656832" y="28803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 de cada proceso completado y coste del diseño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Dispositivo (móvil u ordenador) y mensajes de error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Campañas de cada semana (¿por qué los miércoles?)</a:t>
            </a:r>
            <a:endParaRPr lang="es-E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s-ES" sz="15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Motivo del cambio de reparto del 8 de mayo</a:t>
            </a:r>
            <a:endParaRPr lang="es-E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9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s-ES"/>
              <a:t>26</a:t>
            </a:fld>
            <a:endParaRPr lang="es-E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anguard AB v3">
  <a:themeElements>
    <a:clrScheme name="Vanguard AB v3">
      <a:dk1>
        <a:srgbClr val="0B1424"/>
      </a:dk1>
      <a:lt1>
        <a:srgbClr val="F5F7FA"/>
      </a:lt1>
      <a:dk2>
        <a:srgbClr val="15233A"/>
      </a:dk2>
      <a:lt2>
        <a:srgbClr val="E8EDF4"/>
      </a:lt2>
      <a:accent1>
        <a:srgbClr val="6C9BD2"/>
      </a:accent1>
      <a:accent2>
        <a:srgbClr val="F28E2B"/>
      </a:accent2>
      <a:accent3>
        <a:srgbClr val="FF5C6C"/>
      </a:accent3>
      <a:accent4>
        <a:srgbClr val="3DD68C"/>
      </a:accent4>
      <a:accent5>
        <a:srgbClr val="76B7B2"/>
      </a:accent5>
      <a:accent6>
        <a:srgbClr val="B07AA1"/>
      </a:accent6>
      <a:hlink>
        <a:srgbClr val="6C9BD2"/>
      </a:hlink>
      <a:folHlink>
        <a:srgbClr val="9AA8BD"/>
      </a:folHlink>
    </a:clrScheme>
    <a:fontScheme name="Vanguard AB v3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· ¿Vale lo que cuesta?</dc:title>
  <dc:subject>PptxGenJS Presentation</dc:subject>
  <dc:creator>João Miguel Pais y Emmanuel Chukwuemeka Amadi Agebi</dc:creator>
  <cp:lastModifiedBy>João Miguel Pais y Emmanuel Chukwuemeka Amadi Agebi</cp:lastModifiedBy>
  <cp:revision>1</cp:revision>
  <dcterms:created xsi:type="dcterms:W3CDTF">2026-10-28T09:15:50Z</dcterms:created>
  <dcterms:modified xsi:type="dcterms:W3CDTF">2026-10-28T09:15:50Z</dcterms:modified>
</cp:coreProperties>
</file>