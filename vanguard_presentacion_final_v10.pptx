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 reto" id="{58f64df7-50f4-004f-6ecb-b0b2aede7724}">
          <p14:sldIdLst>
            <p14:sldId id="256"/>
            <p14:sldId id="257"/>
            <p14:sldId id="258"/>
            <p14:sldId id="259"/>
            <p14:sldId id="260"/>
          </p14:sldIdLst>
        </p14:section>
        <p14:section name="Los datos" id="{92a247bb-bdb5-aee4-576d-a4ecdccdc128}">
          <p14:sldIdLst>
            <p14:sldId id="261"/>
            <p14:sldId id="262"/>
            <p14:sldId id="263"/>
          </p14:sldIdLst>
        </p14:section>
        <p14:section name="Qué pasó" id="{30c04ee6-069e-0300-7329-c1e384103c28}">
          <p14:sldIdLst>
            <p14:sldId id="264"/>
            <p14:sldId id="265"/>
            <p14:sldId id="266"/>
          </p14:sldIdLst>
        </p14:section>
        <p14:section name="¿Es real?" id="{a625f3fa-2015-68f5-32a2-4f397966ed8a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Qué hacer" id="{d7ba3bfb-717d-7c53-aaca-f3cf3646f602}">
          <p14:sldIdLst>
            <p14:sldId id="275"/>
            <p14:sldId id="276"/>
            <p14:sldId id="277"/>
            <p14:sldId id="278"/>
            <p14:sldId id="279"/>
          </p14:sldIdLst>
        </p14:section>
        <p14:section name="Anexos" id="{d0e33ad6-4470-3c53-72ce-56ff3735aced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6C9BD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5F7F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start</c:v>
                  </c:pt>
                  <c:pt idx="1">
                    <c:v>step_1</c:v>
                  </c:pt>
                  <c:pt idx="2">
                    <c:v>step_2</c:v>
                  </c:pt>
                  <c:pt idx="3">
                    <c:v>step_3</c:v>
                  </c:pt>
                  <c:pt idx="4">
                    <c:v>confirm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99.4</c:v>
                </c:pt>
                <c:pt idx="1">
                  <c:v>85.6</c:v>
                </c:pt>
                <c:pt idx="2">
                  <c:v>79.2</c:v>
                </c:pt>
                <c:pt idx="3">
                  <c:v>74</c:v>
                </c:pt>
                <c:pt idx="4">
                  <c:v>65.6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5F7F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start</c:v>
                  </c:pt>
                  <c:pt idx="1">
                    <c:v>step_1</c:v>
                  </c:pt>
                  <c:pt idx="2">
                    <c:v>step_2</c:v>
                  </c:pt>
                  <c:pt idx="3">
                    <c:v>step_3</c:v>
                  </c:pt>
                  <c:pt idx="4">
                    <c:v>confirm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98.9</c:v>
                </c:pt>
                <c:pt idx="1">
                  <c:v>90</c:v>
                </c:pt>
                <c:pt idx="2">
                  <c:v>82.5</c:v>
                </c:pt>
                <c:pt idx="3">
                  <c:v>77.4</c:v>
                </c:pt>
                <c:pt idx="4">
                  <c:v>69.3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100" u="none">
                  <a:solidFill>
                    <a:srgbClr val="F5F7F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B57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9AA8B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1E2E4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9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F5F7F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F28E2B"/>
            </a:solidFill>
            <a:ln w="38100" cap="flat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5F7F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13/03</c:v>
                  </c:pt>
                  <c:pt idx="1">
                    <c:v>20/03</c:v>
                  </c:pt>
                  <c:pt idx="2">
                    <c:v>27/03</c:v>
                  </c:pt>
                  <c:pt idx="3">
                    <c:v>03/04</c:v>
                  </c:pt>
                  <c:pt idx="4">
                    <c:v>10/04</c:v>
                  </c:pt>
                  <c:pt idx="5">
                    <c:v>17/04</c:v>
                  </c:pt>
                  <c:pt idx="6">
                    <c:v>24/04</c:v>
                  </c:pt>
                  <c:pt idx="7">
                    <c:v>01/05</c:v>
                  </c:pt>
                  <c:pt idx="8">
                    <c:v>08/05</c:v>
                  </c:pt>
                  <c:pt idx="9">
                    <c:v>15/05</c:v>
                  </c:pt>
                  <c:pt idx="10">
                    <c:v>22/05</c:v>
                  </c:pt>
                  <c:pt idx="11">
                    <c:v>29/05</c:v>
                  </c:pt>
                  <c:pt idx="12">
                    <c:v>05/06</c:v>
                  </c:pt>
                  <c:pt idx="13">
                    <c:v>12/06</c:v>
                  </c:pt>
                  <c:pt idx="14">
                    <c:v>19/06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54.4</c:v>
                </c:pt>
                <c:pt idx="1">
                  <c:v>54.8</c:v>
                </c:pt>
                <c:pt idx="2">
                  <c:v>55.5</c:v>
                </c:pt>
                <c:pt idx="3">
                  <c:v>53</c:v>
                </c:pt>
                <c:pt idx="4">
                  <c:v>56.5</c:v>
                </c:pt>
                <c:pt idx="5">
                  <c:v>56.5</c:v>
                </c:pt>
                <c:pt idx="6">
                  <c:v>56.3</c:v>
                </c:pt>
                <c:pt idx="7">
                  <c:v>57.9</c:v>
                </c:pt>
                <c:pt idx="8">
                  <c:v>49.3</c:v>
                </c:pt>
                <c:pt idx="9">
                  <c:v>45.3</c:v>
                </c:pt>
                <c:pt idx="10">
                  <c:v>45.3</c:v>
                </c:pt>
                <c:pt idx="11">
                  <c:v>47.7</c:v>
                </c:pt>
                <c:pt idx="12">
                  <c:v>48.2</c:v>
                </c:pt>
                <c:pt idx="13">
                  <c:v>45.4</c:v>
                </c:pt>
                <c:pt idx="14">
                  <c:v>44.3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6C9BD2"/>
            </a:solidFill>
            <a:ln w="38100" cap="flat">
              <a:solidFill>
                <a:srgbClr val="6C9BD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5F7F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6C9BD2"/>
              </a:solidFill>
              <a:ln w="9525" cap="flat">
                <a:solidFill>
                  <a:srgbClr val="6C9BD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13/03</c:v>
                  </c:pt>
                  <c:pt idx="1">
                    <c:v>20/03</c:v>
                  </c:pt>
                  <c:pt idx="2">
                    <c:v>27/03</c:v>
                  </c:pt>
                  <c:pt idx="3">
                    <c:v>03/04</c:v>
                  </c:pt>
                  <c:pt idx="4">
                    <c:v>10/04</c:v>
                  </c:pt>
                  <c:pt idx="5">
                    <c:v>17/04</c:v>
                  </c:pt>
                  <c:pt idx="6">
                    <c:v>24/04</c:v>
                  </c:pt>
                  <c:pt idx="7">
                    <c:v>01/05</c:v>
                  </c:pt>
                  <c:pt idx="8">
                    <c:v>08/05</c:v>
                  </c:pt>
                  <c:pt idx="9">
                    <c:v>15/05</c:v>
                  </c:pt>
                  <c:pt idx="10">
                    <c:v>22/05</c:v>
                  </c:pt>
                  <c:pt idx="11">
                    <c:v>29/05</c:v>
                  </c:pt>
                  <c:pt idx="12">
                    <c:v>05/06</c:v>
                  </c:pt>
                  <c:pt idx="13">
                    <c:v>12/06</c:v>
                  </c:pt>
                  <c:pt idx="14">
                    <c:v>19/06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45.6</c:v>
                </c:pt>
                <c:pt idx="1">
                  <c:v>45.2</c:v>
                </c:pt>
                <c:pt idx="2">
                  <c:v>44.5</c:v>
                </c:pt>
                <c:pt idx="3">
                  <c:v>47</c:v>
                </c:pt>
                <c:pt idx="4">
                  <c:v>43.5</c:v>
                </c:pt>
                <c:pt idx="5">
                  <c:v>43.5</c:v>
                </c:pt>
                <c:pt idx="6">
                  <c:v>43.7</c:v>
                </c:pt>
                <c:pt idx="7">
                  <c:v>42.1</c:v>
                </c:pt>
                <c:pt idx="8">
                  <c:v>50.7</c:v>
                </c:pt>
                <c:pt idx="9">
                  <c:v>54.7</c:v>
                </c:pt>
                <c:pt idx="10">
                  <c:v>54.7</c:v>
                </c:pt>
                <c:pt idx="11">
                  <c:v>52.3</c:v>
                </c:pt>
                <c:pt idx="12">
                  <c:v>51.8</c:v>
                </c:pt>
                <c:pt idx="13">
                  <c:v>54.6</c:v>
                </c:pt>
                <c:pt idx="14">
                  <c:v>55.7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5F7F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B5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8B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9525" cap="flat">
              <a:solidFill>
                <a:srgbClr val="1E2E4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9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F5F7F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ITULO">
    <p:bg>
      <p:bgPr>
        <a:solidFill>
          <a:srgbClr val="F28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B1424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0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Tab1" Type="http://schemas.openxmlformats.org/officeDocument/2006/relationships/image" Target="../media/tableau_embudo.png"/><Relationship Id="rIdTab2" Type="http://schemas.openxmlformats.org/officeDocument/2006/relationships/image" Target="../media/tableau_edad.png"/><Relationship Id="rIdTab3" Type="http://schemas.openxmlformats.org/officeDocument/2006/relationships/image" Target="../media/tableau_genero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463040"/>
            <a:ext cx="6949440" cy="6949440"/>
          </a:xfrm>
          <a:prstGeom prst="ellipse">
            <a:avLst/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3" name="a3_sol"/>
          <p:cNvSpPr/>
          <p:nvPr/>
        </p:nvSpPr>
        <p:spPr>
          <a:xfrm>
            <a:off x="8275320" y="685800"/>
            <a:ext cx="3291840" cy="329184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" name="a3_ab"/>
          <p:cNvSpPr txBox="1"/>
          <p:nvPr/>
        </p:nvSpPr>
        <p:spPr>
          <a:xfrm>
            <a:off x="8275320" y="68580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80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A/B</a:t>
            </a:r>
            <a:endParaRPr lang="es-ES" sz="8000" dirty="0"/>
          </a:p>
        </p:txBody>
      </p:sp>
      <p:sp>
        <p:nvSpPr>
          <p:cNvPr id="5" name="a1_eti"/>
          <p:cNvSpPr txBox="1"/>
          <p:nvPr/>
        </p:nvSpPr>
        <p:spPr>
          <a:xfrm>
            <a:off x="54864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spc="4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VANGUARD · PROYECTO 2</a:t>
            </a:r>
            <a:endParaRPr lang="es-ES" sz="1400" dirty="0"/>
          </a:p>
        </p:txBody>
      </p:sp>
      <p:sp>
        <p:nvSpPr>
          <p:cNvPr id="6" name="a1_tit"/>
          <p:cNvSpPr txBox="1"/>
          <p:nvPr/>
        </p:nvSpPr>
        <p:spPr>
          <a:xfrm>
            <a:off x="548640" y="150876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s-ES" sz="80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¿Vale lo</a:t>
            </a:r>
            <a:endParaRPr lang="es-ES" sz="8000" dirty="0"/>
          </a:p>
          <a:p>
            <a:pPr indent="0" marL="0">
              <a:lnSpc>
                <a:spcPct val="90000"/>
              </a:lnSpc>
              <a:buNone/>
            </a:pPr>
            <a:r>
              <a:rPr lang="es-ES" sz="80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</a:t>
            </a:r>
            <a:pPr indent="0" marL="0">
              <a:lnSpc>
                <a:spcPct val="90000"/>
              </a:lnSpc>
              <a:buNone/>
            </a:pPr>
            <a:r>
              <a:rPr lang="es-ES" sz="80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cuesta</a:t>
            </a:r>
            <a:pPr indent="0" marL="0">
              <a:lnSpc>
                <a:spcPct val="90000"/>
              </a:lnSpc>
              <a:buNone/>
            </a:pPr>
            <a:r>
              <a:rPr lang="es-ES" sz="80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s-ES" sz="8000" dirty="0"/>
          </a:p>
        </p:txBody>
      </p:sp>
      <p:sp>
        <p:nvSpPr>
          <p:cNvPr id="7" name="a2_sub"/>
          <p:cNvSpPr txBox="1"/>
          <p:nvPr/>
        </p:nvSpPr>
        <p:spPr>
          <a:xfrm>
            <a:off x="548640" y="4343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20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nuevo proceso online de Vanguard, puesto a prueba con más de 50.000 clientes</a:t>
            </a:r>
            <a:endParaRPr lang="es-ES" sz="2000" dirty="0"/>
          </a:p>
        </p:txBody>
      </p:sp>
      <p:sp>
        <p:nvSpPr>
          <p:cNvPr id="8" name="a4_av0"/>
          <p:cNvSpPr/>
          <p:nvPr/>
        </p:nvSpPr>
        <p:spPr>
          <a:xfrm>
            <a:off x="548640" y="5669280"/>
            <a:ext cx="457200" cy="45720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a4_ini0"/>
          <p:cNvSpPr txBox="1"/>
          <p:nvPr/>
        </p:nvSpPr>
        <p:spPr>
          <a:xfrm>
            <a:off x="54864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6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</a:t>
            </a:r>
            <a:endParaRPr lang="es-ES" sz="1600" dirty="0"/>
          </a:p>
        </p:txBody>
      </p:sp>
      <p:sp>
        <p:nvSpPr>
          <p:cNvPr id="10" name="a4_nom0"/>
          <p:cNvSpPr txBox="1"/>
          <p:nvPr/>
        </p:nvSpPr>
        <p:spPr>
          <a:xfrm>
            <a:off x="1143000" y="5669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6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João Miguel Pais</a:t>
            </a:r>
            <a:endParaRPr lang="es-ES" sz="1600" dirty="0"/>
          </a:p>
        </p:txBody>
      </p:sp>
      <p:sp>
        <p:nvSpPr>
          <p:cNvPr id="11" name="a4_av1"/>
          <p:cNvSpPr/>
          <p:nvPr/>
        </p:nvSpPr>
        <p:spPr>
          <a:xfrm>
            <a:off x="3474720" y="5669280"/>
            <a:ext cx="457200" cy="457200"/>
          </a:xfrm>
          <a:prstGeom prst="ellipse">
            <a:avLst/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2" name="a4_ini1"/>
          <p:cNvSpPr txBox="1"/>
          <p:nvPr/>
        </p:nvSpPr>
        <p:spPr>
          <a:xfrm>
            <a:off x="347472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6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s-ES" sz="1600" dirty="0"/>
          </a:p>
        </p:txBody>
      </p:sp>
      <p:sp>
        <p:nvSpPr>
          <p:cNvPr id="13" name="a4_nom1"/>
          <p:cNvSpPr txBox="1"/>
          <p:nvPr/>
        </p:nvSpPr>
        <p:spPr>
          <a:xfrm>
            <a:off x="4069080" y="5669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6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Emmanuel Chukwuemeka Amadi Agebi</a:t>
            </a:r>
            <a:endParaRPr lang="es-E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1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1_u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914400" cy="914400"/>
          </a:xfrm>
          <a:prstGeom prst="rect">
            <a:avLst/>
          </a:prstGeom>
        </p:spPr>
      </p:pic>
      <p:pic>
        <p:nvPicPr>
          <p:cNvPr id="3" name="a1_u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88720"/>
            <a:ext cx="914400" cy="914400"/>
          </a:xfrm>
          <a:prstGeom prst="rect">
            <a:avLst/>
          </a:prstGeom>
        </p:spPr>
      </p:pic>
      <p:pic>
        <p:nvPicPr>
          <p:cNvPr id="4" name="a1_u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188720"/>
            <a:ext cx="914400" cy="914400"/>
          </a:xfrm>
          <a:prstGeom prst="rect">
            <a:avLst/>
          </a:prstGeom>
        </p:spPr>
      </p:pic>
      <p:sp>
        <p:nvSpPr>
          <p:cNvPr id="5" name="a2_n"/>
          <p:cNvSpPr txBox="1"/>
          <p:nvPr/>
        </p:nvSpPr>
        <p:spPr>
          <a:xfrm>
            <a:off x="548640" y="23774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0" b="1" dirty="0">
                <a:solidFill>
                  <a:srgbClr val="FF5C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de cada 3</a:t>
            </a:r>
            <a:endParaRPr lang="es-ES" sz="11000" dirty="0"/>
          </a:p>
        </p:txBody>
      </p:sp>
      <p:sp>
        <p:nvSpPr>
          <p:cNvPr id="6" name="a3_t"/>
          <p:cNvSpPr txBox="1"/>
          <p:nvPr/>
        </p:nvSpPr>
        <p:spPr>
          <a:xfrm>
            <a:off x="548640" y="3886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4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no terminaba el proceso online con el diseño antiguo (34 %).</a:t>
            </a:r>
            <a:endParaRPr lang="es-ES" sz="2400" dirty="0"/>
          </a:p>
        </p:txBody>
      </p:sp>
      <p:sp>
        <p:nvSpPr>
          <p:cNvPr id="7" name="a4_q"/>
          <p:cNvSpPr txBox="1"/>
          <p:nvPr/>
        </p:nvSpPr>
        <p:spPr>
          <a:xfrm>
            <a:off x="548640" y="4846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3200" dirty="0">
                <a:solidFill>
                  <a:srgbClr val="9AA8B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Vanguard lo rediseñó. </a:t>
            </a:r>
            <a:pPr indent="0" marL="0">
              <a:buNone/>
            </a:pPr>
            <a:r>
              <a:rPr lang="es-ES" sz="32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¿Funcionó?</a:t>
            </a:r>
            <a:endParaRPr lang="es-E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2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experimento: dos diseños, cinco pasos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327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· EL RETO</a:t>
            </a:r>
            <a:endParaRPr lang="es-ES" sz="1200" dirty="0"/>
          </a:p>
        </p:txBody>
      </p:sp>
      <p:sp>
        <p:nvSpPr>
          <p:cNvPr id="10" name="a1_fl"/>
          <p:cNvSpPr/>
          <p:nvPr/>
        </p:nvSpPr>
        <p:spPr>
          <a:xfrm>
            <a:off x="548640" y="1783080"/>
            <a:ext cx="11094415" cy="1188720"/>
          </a:xfrm>
          <a:prstGeom prst="roundRect">
            <a:avLst>
              <a:gd name="adj" fmla="val 13846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1" name="a1_l"/>
          <p:cNvSpPr/>
          <p:nvPr/>
        </p:nvSpPr>
        <p:spPr>
          <a:xfrm>
            <a:off x="1417320" y="2194560"/>
            <a:ext cx="9509760" cy="0"/>
          </a:xfrm>
          <a:prstGeom prst="line">
            <a:avLst/>
          </a:prstGeom>
          <a:noFill/>
          <a:ln w="31750">
            <a:solidFill>
              <a:srgbClr val="2A3B57"/>
            </a:solidFill>
            <a:prstDash val="solid"/>
          </a:ln>
        </p:spPr>
      </p:sp>
      <p:sp>
        <p:nvSpPr>
          <p:cNvPr id="12" name="a1_p0"/>
          <p:cNvSpPr/>
          <p:nvPr/>
        </p:nvSpPr>
        <p:spPr>
          <a:xfrm>
            <a:off x="1188720" y="1965960"/>
            <a:ext cx="457200" cy="457200"/>
          </a:xfrm>
          <a:prstGeom prst="ellipse">
            <a:avLst/>
          </a:prstGeom>
          <a:solidFill>
            <a:srgbClr val="F5F7FA"/>
          </a:solidFill>
          <a:ln w="38100">
            <a:solidFill>
              <a:srgbClr val="15233A"/>
            </a:solidFill>
            <a:prstDash val="solid"/>
          </a:ln>
        </p:spPr>
      </p:sp>
      <p:sp>
        <p:nvSpPr>
          <p:cNvPr id="13" name="a1_n0"/>
          <p:cNvSpPr txBox="1"/>
          <p:nvPr/>
        </p:nvSpPr>
        <p:spPr>
          <a:xfrm>
            <a:off x="1188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4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s-ES" sz="1400" dirty="0"/>
          </a:p>
        </p:txBody>
      </p:sp>
      <p:sp>
        <p:nvSpPr>
          <p:cNvPr id="14" name="a1_t0"/>
          <p:cNvSpPr txBox="1"/>
          <p:nvPr/>
        </p:nvSpPr>
        <p:spPr>
          <a:xfrm>
            <a:off x="59436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s-ES" sz="1400" dirty="0"/>
          </a:p>
        </p:txBody>
      </p:sp>
      <p:sp>
        <p:nvSpPr>
          <p:cNvPr id="15" name="a1_p1"/>
          <p:cNvSpPr/>
          <p:nvPr/>
        </p:nvSpPr>
        <p:spPr>
          <a:xfrm>
            <a:off x="3566160" y="1965960"/>
            <a:ext cx="457200" cy="457200"/>
          </a:xfrm>
          <a:prstGeom prst="ellipse">
            <a:avLst/>
          </a:prstGeom>
          <a:solidFill>
            <a:srgbClr val="F5F7FA"/>
          </a:solidFill>
          <a:ln w="38100">
            <a:solidFill>
              <a:srgbClr val="15233A"/>
            </a:solidFill>
            <a:prstDash val="solid"/>
          </a:ln>
        </p:spPr>
      </p:sp>
      <p:sp>
        <p:nvSpPr>
          <p:cNvPr id="16" name="a1_n1"/>
          <p:cNvSpPr txBox="1"/>
          <p:nvPr/>
        </p:nvSpPr>
        <p:spPr>
          <a:xfrm>
            <a:off x="35661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4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s-ES" sz="1400" dirty="0"/>
          </a:p>
        </p:txBody>
      </p:sp>
      <p:sp>
        <p:nvSpPr>
          <p:cNvPr id="17" name="a1_t1"/>
          <p:cNvSpPr txBox="1"/>
          <p:nvPr/>
        </p:nvSpPr>
        <p:spPr>
          <a:xfrm>
            <a:off x="297180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step_1</a:t>
            </a:r>
            <a:endParaRPr lang="es-ES" sz="1400" dirty="0"/>
          </a:p>
        </p:txBody>
      </p:sp>
      <p:sp>
        <p:nvSpPr>
          <p:cNvPr id="18" name="a1_p2"/>
          <p:cNvSpPr/>
          <p:nvPr/>
        </p:nvSpPr>
        <p:spPr>
          <a:xfrm>
            <a:off x="5943600" y="1965960"/>
            <a:ext cx="457200" cy="457200"/>
          </a:xfrm>
          <a:prstGeom prst="ellipse">
            <a:avLst/>
          </a:prstGeom>
          <a:solidFill>
            <a:srgbClr val="F5F7FA"/>
          </a:solidFill>
          <a:ln w="38100">
            <a:solidFill>
              <a:srgbClr val="15233A"/>
            </a:solidFill>
            <a:prstDash val="solid"/>
          </a:ln>
        </p:spPr>
      </p:sp>
      <p:sp>
        <p:nvSpPr>
          <p:cNvPr id="19" name="a1_n2"/>
          <p:cNvSpPr txBox="1"/>
          <p:nvPr/>
        </p:nvSpPr>
        <p:spPr>
          <a:xfrm>
            <a:off x="59436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4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s-ES" sz="1400" dirty="0"/>
          </a:p>
        </p:txBody>
      </p:sp>
      <p:sp>
        <p:nvSpPr>
          <p:cNvPr id="20" name="a1_t2"/>
          <p:cNvSpPr txBox="1"/>
          <p:nvPr/>
        </p:nvSpPr>
        <p:spPr>
          <a:xfrm>
            <a:off x="534924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step_2</a:t>
            </a:r>
            <a:endParaRPr lang="es-ES" sz="1400" dirty="0"/>
          </a:p>
        </p:txBody>
      </p:sp>
      <p:sp>
        <p:nvSpPr>
          <p:cNvPr id="21" name="a1_p3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F5F7FA"/>
          </a:solidFill>
          <a:ln w="38100">
            <a:solidFill>
              <a:srgbClr val="15233A"/>
            </a:solidFill>
            <a:prstDash val="solid"/>
          </a:ln>
        </p:spPr>
      </p:sp>
      <p:sp>
        <p:nvSpPr>
          <p:cNvPr id="22" name="a1_n3"/>
          <p:cNvSpPr txBox="1"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4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s-ES" sz="1400" dirty="0"/>
          </a:p>
        </p:txBody>
      </p:sp>
      <p:sp>
        <p:nvSpPr>
          <p:cNvPr id="23" name="a1_t3"/>
          <p:cNvSpPr txBox="1"/>
          <p:nvPr/>
        </p:nvSpPr>
        <p:spPr>
          <a:xfrm>
            <a:off x="772668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step_3</a:t>
            </a:r>
            <a:endParaRPr lang="es-ES" sz="1400" dirty="0"/>
          </a:p>
        </p:txBody>
      </p:sp>
      <p:sp>
        <p:nvSpPr>
          <p:cNvPr id="24" name="a1_p4"/>
          <p:cNvSpPr/>
          <p:nvPr/>
        </p:nvSpPr>
        <p:spPr>
          <a:xfrm>
            <a:off x="10698480" y="1965960"/>
            <a:ext cx="457200" cy="457200"/>
          </a:xfrm>
          <a:prstGeom prst="ellipse">
            <a:avLst/>
          </a:prstGeom>
          <a:solidFill>
            <a:srgbClr val="F28E2B"/>
          </a:solidFill>
          <a:ln w="38100">
            <a:solidFill>
              <a:srgbClr val="15233A"/>
            </a:solidFill>
            <a:prstDash val="solid"/>
          </a:ln>
        </p:spPr>
      </p:sp>
      <p:sp>
        <p:nvSpPr>
          <p:cNvPr id="25" name="a1_n4"/>
          <p:cNvSpPr txBox="1"/>
          <p:nvPr/>
        </p:nvSpPr>
        <p:spPr>
          <a:xfrm>
            <a:off x="10698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4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s-ES" sz="1400" dirty="0"/>
          </a:p>
        </p:txBody>
      </p:sp>
      <p:sp>
        <p:nvSpPr>
          <p:cNvPr id="26" name="a1_t4"/>
          <p:cNvSpPr txBox="1"/>
          <p:nvPr/>
        </p:nvSpPr>
        <p:spPr>
          <a:xfrm>
            <a:off x="1010412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</a:t>
            </a:r>
            <a:endParaRPr lang="es-ES" sz="1400" dirty="0"/>
          </a:p>
        </p:txBody>
      </p:sp>
      <p:sp>
        <p:nvSpPr>
          <p:cNvPr id="27" name="a2_c"/>
          <p:cNvSpPr/>
          <p:nvPr/>
        </p:nvSpPr>
        <p:spPr>
          <a:xfrm>
            <a:off x="548640" y="3200400"/>
            <a:ext cx="5394960" cy="1828800"/>
          </a:xfrm>
          <a:prstGeom prst="roundRect">
            <a:avLst>
              <a:gd name="adj" fmla="val 9000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8" name="a2_d_c"/>
          <p:cNvSpPr/>
          <p:nvPr/>
        </p:nvSpPr>
        <p:spPr>
          <a:xfrm>
            <a:off x="868680" y="3611880"/>
            <a:ext cx="1005840" cy="1005840"/>
          </a:xfrm>
          <a:prstGeom prst="ellipse">
            <a:avLst/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pic>
        <p:nvPicPr>
          <p:cNvPr id="29" name="a2_d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" y="3873398"/>
            <a:ext cx="482803" cy="482803"/>
          </a:xfrm>
          <a:prstGeom prst="rect">
            <a:avLst/>
          </a:prstGeom>
        </p:spPr>
      </p:pic>
      <p:sp>
        <p:nvSpPr>
          <p:cNvPr id="30" name="a2_n"/>
          <p:cNvSpPr txBox="1"/>
          <p:nvPr/>
        </p:nvSpPr>
        <p:spPr>
          <a:xfrm>
            <a:off x="210312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400" b="1" dirty="0">
                <a:solidFill>
                  <a:srgbClr val="6C9B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Control</a:t>
            </a:r>
            <a:endParaRPr lang="es-ES" sz="2400" dirty="0"/>
          </a:p>
        </p:txBody>
      </p:sp>
      <p:sp>
        <p:nvSpPr>
          <p:cNvPr id="31" name="a2_x"/>
          <p:cNvSpPr txBox="1"/>
          <p:nvPr/>
        </p:nvSpPr>
        <p:spPr>
          <a:xfrm>
            <a:off x="21031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diseño antiguo</a:t>
            </a:r>
            <a:endParaRPr lang="es-ES" sz="1400" dirty="0"/>
          </a:p>
        </p:txBody>
      </p:sp>
      <p:sp>
        <p:nvSpPr>
          <p:cNvPr id="32" name="a2_k"/>
          <p:cNvSpPr txBox="1"/>
          <p:nvPr/>
        </p:nvSpPr>
        <p:spPr>
          <a:xfrm>
            <a:off x="210312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30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23.500 clientes</a:t>
            </a:r>
            <a:endParaRPr lang="es-ES" sz="3000" dirty="0"/>
          </a:p>
        </p:txBody>
      </p:sp>
      <p:sp>
        <p:nvSpPr>
          <p:cNvPr id="33" name="a3_c"/>
          <p:cNvSpPr/>
          <p:nvPr/>
        </p:nvSpPr>
        <p:spPr>
          <a:xfrm>
            <a:off x="6245352" y="3200400"/>
            <a:ext cx="5394960" cy="1828800"/>
          </a:xfrm>
          <a:prstGeom prst="roundRect">
            <a:avLst>
              <a:gd name="adj" fmla="val 9000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34" name="a3_d_c"/>
          <p:cNvSpPr/>
          <p:nvPr/>
        </p:nvSpPr>
        <p:spPr>
          <a:xfrm>
            <a:off x="6565392" y="3611880"/>
            <a:ext cx="1005840" cy="100584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pic>
        <p:nvPicPr>
          <p:cNvPr id="35" name="a3_d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910" y="3873398"/>
            <a:ext cx="482803" cy="482803"/>
          </a:xfrm>
          <a:prstGeom prst="rect">
            <a:avLst/>
          </a:prstGeom>
        </p:spPr>
      </p:pic>
      <p:sp>
        <p:nvSpPr>
          <p:cNvPr id="36" name="a3_n"/>
          <p:cNvSpPr txBox="1"/>
          <p:nvPr/>
        </p:nvSpPr>
        <p:spPr>
          <a:xfrm>
            <a:off x="7799832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4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</a:t>
            </a:r>
            <a:endParaRPr lang="es-ES" sz="2400" dirty="0"/>
          </a:p>
        </p:txBody>
      </p:sp>
      <p:sp>
        <p:nvSpPr>
          <p:cNvPr id="37" name="a3_x"/>
          <p:cNvSpPr txBox="1"/>
          <p:nvPr/>
        </p:nvSpPr>
        <p:spPr>
          <a:xfrm>
            <a:off x="7799832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diseño nuevo, con avisos en cada paso</a:t>
            </a:r>
            <a:endParaRPr lang="es-ES" sz="1400" dirty="0"/>
          </a:p>
        </p:txBody>
      </p:sp>
      <p:sp>
        <p:nvSpPr>
          <p:cNvPr id="38" name="a3_k"/>
          <p:cNvSpPr txBox="1"/>
          <p:nvPr/>
        </p:nvSpPr>
        <p:spPr>
          <a:xfrm>
            <a:off x="7799832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30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27.000 clientes</a:t>
            </a:r>
            <a:endParaRPr lang="es-ES" sz="3000" dirty="0"/>
          </a:p>
        </p:txBody>
      </p:sp>
      <p:sp>
        <p:nvSpPr>
          <p:cNvPr id="39" name="a4_v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vara de medir: </a:t>
            </a:r>
            <a:pPr indent="0" marL="0">
              <a:buNone/>
            </a:pPr>
            <a:r>
              <a:rPr lang="es-ES" sz="20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es rentable si la tasa de finalización sube al menos un 5 %.</a:t>
            </a:r>
            <a:endParaRPr lang="es-E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3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25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30" grpId="0" animBg="1"/>
      <p:bldP spid="31" grpId="0" animBg="1"/>
      <p:bldP spid="32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nos preguntamos antes de mirar los datos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327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· EL RETO</a:t>
            </a:r>
            <a:endParaRPr lang="es-ES" sz="1200" dirty="0"/>
          </a:p>
        </p:txBody>
      </p:sp>
      <p:sp>
        <p:nvSpPr>
          <p:cNvPr id="10" name="a1_c"/>
          <p:cNvSpPr/>
          <p:nvPr/>
        </p:nvSpPr>
        <p:spPr>
          <a:xfrm>
            <a:off x="548640" y="1783080"/>
            <a:ext cx="3931920" cy="4343400"/>
          </a:xfrm>
          <a:prstGeom prst="roundRect">
            <a:avLst>
              <a:gd name="adj" fmla="val 418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a1_t"/>
          <p:cNvSpPr txBox="1"/>
          <p:nvPr/>
        </p:nvSpPr>
        <p:spPr>
          <a:xfrm>
            <a:off x="86868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200" kern="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PREGUNTAS DE VANGUARD</a:t>
            </a:r>
            <a:endParaRPr lang="es-ES" sz="1200" dirty="0"/>
          </a:p>
        </p:txBody>
      </p:sp>
      <p:sp>
        <p:nvSpPr>
          <p:cNvPr id="12" name="a1_q"/>
          <p:cNvSpPr txBox="1"/>
          <p:nvPr/>
        </p:nvSpPr>
        <p:spPr>
          <a:xfrm>
            <a:off x="868680" y="246888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s-ES" sz="19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¿Quiénes son los clientes?</a:t>
            </a:r>
            <a:endParaRPr lang="es-E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s-ES" sz="19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¿Completan más con el nuevo diseño?</a:t>
            </a:r>
            <a:endParaRPr lang="es-E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s-ES" sz="19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¿Lo bastante para que compense?</a:t>
            </a:r>
            <a:endParaRPr lang="es-E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s-ES" sz="19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¿El experimento estaba bien hecho?</a:t>
            </a:r>
            <a:endParaRPr lang="es-ES" sz="1900" dirty="0"/>
          </a:p>
        </p:txBody>
      </p:sp>
      <p:sp>
        <p:nvSpPr>
          <p:cNvPr id="13" name="a2_t"/>
          <p:cNvSpPr txBox="1"/>
          <p:nvPr/>
        </p:nvSpPr>
        <p:spPr>
          <a:xfrm>
            <a:off x="48006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2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NUESTRAS HIPÓTESIS</a:t>
            </a:r>
            <a:endParaRPr lang="es-ES" sz="1200" dirty="0"/>
          </a:p>
        </p:txBody>
      </p:sp>
      <p:sp>
        <p:nvSpPr>
          <p:cNvPr id="14" name="a3_p"/>
          <p:cNvSpPr/>
          <p:nvPr/>
        </p:nvSpPr>
        <p:spPr>
          <a:xfrm>
            <a:off x="4800600" y="2194560"/>
            <a:ext cx="6839712" cy="475488"/>
          </a:xfrm>
          <a:prstGeom prst="roundRect">
            <a:avLst>
              <a:gd name="adj" fmla="val 3461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5" name="a3_c"/>
          <p:cNvSpPr txBox="1"/>
          <p:nvPr/>
        </p:nvSpPr>
        <p:spPr>
          <a:xfrm>
            <a:off x="4983480" y="219456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H1</a:t>
            </a:r>
            <a:endParaRPr lang="es-ES" sz="1400" dirty="0"/>
          </a:p>
        </p:txBody>
      </p:sp>
      <p:sp>
        <p:nvSpPr>
          <p:cNvPr id="16" name="a3_h"/>
          <p:cNvSpPr txBox="1"/>
          <p:nvPr/>
        </p:nvSpPr>
        <p:spPr>
          <a:xfrm>
            <a:off x="5623560" y="219456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nuevo diseño hace que más clientes terminen</a:t>
            </a:r>
            <a:endParaRPr lang="es-ES" sz="1500" dirty="0"/>
          </a:p>
        </p:txBody>
      </p:sp>
      <p:sp>
        <p:nvSpPr>
          <p:cNvPr id="17" name="a3_q"/>
          <p:cNvSpPr txBox="1"/>
          <p:nvPr/>
        </p:nvSpPr>
        <p:spPr>
          <a:xfrm>
            <a:off x="11109960" y="219456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2000" b="1" dirty="0">
                <a:solidFill>
                  <a:srgbClr val="9AA8B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s-ES" sz="2000" dirty="0"/>
          </a:p>
        </p:txBody>
      </p:sp>
      <p:sp>
        <p:nvSpPr>
          <p:cNvPr id="18" name="a4_p"/>
          <p:cNvSpPr/>
          <p:nvPr/>
        </p:nvSpPr>
        <p:spPr>
          <a:xfrm>
            <a:off x="4800600" y="2761488"/>
            <a:ext cx="6839712" cy="475488"/>
          </a:xfrm>
          <a:prstGeom prst="roundRect">
            <a:avLst>
              <a:gd name="adj" fmla="val 3461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9" name="a4_c"/>
          <p:cNvSpPr txBox="1"/>
          <p:nvPr/>
        </p:nvSpPr>
        <p:spPr>
          <a:xfrm>
            <a:off x="4983480" y="27614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H2</a:t>
            </a:r>
            <a:endParaRPr lang="es-ES" sz="1400" dirty="0"/>
          </a:p>
        </p:txBody>
      </p:sp>
      <p:sp>
        <p:nvSpPr>
          <p:cNvPr id="20" name="a4_h"/>
          <p:cNvSpPr txBox="1"/>
          <p:nvPr/>
        </p:nvSpPr>
        <p:spPr>
          <a:xfrm>
            <a:off x="5623560" y="276148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mejora llega al 5 % que pide Vanguard</a:t>
            </a:r>
            <a:endParaRPr lang="es-ES" sz="1500" dirty="0"/>
          </a:p>
        </p:txBody>
      </p:sp>
      <p:sp>
        <p:nvSpPr>
          <p:cNvPr id="21" name="a4_q"/>
          <p:cNvSpPr txBox="1"/>
          <p:nvPr/>
        </p:nvSpPr>
        <p:spPr>
          <a:xfrm>
            <a:off x="11109960" y="276148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2000" b="1" dirty="0">
                <a:solidFill>
                  <a:srgbClr val="9AA8B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s-ES" sz="2000" dirty="0"/>
          </a:p>
        </p:txBody>
      </p:sp>
      <p:sp>
        <p:nvSpPr>
          <p:cNvPr id="22" name="a5_p"/>
          <p:cNvSpPr/>
          <p:nvPr/>
        </p:nvSpPr>
        <p:spPr>
          <a:xfrm>
            <a:off x="4800600" y="3328416"/>
            <a:ext cx="6839712" cy="475488"/>
          </a:xfrm>
          <a:prstGeom prst="roundRect">
            <a:avLst>
              <a:gd name="adj" fmla="val 3461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3" name="a5_c"/>
          <p:cNvSpPr txBox="1"/>
          <p:nvPr/>
        </p:nvSpPr>
        <p:spPr>
          <a:xfrm>
            <a:off x="4983480" y="332841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H3</a:t>
            </a:r>
            <a:endParaRPr lang="es-ES" sz="1400" dirty="0"/>
          </a:p>
        </p:txBody>
      </p:sp>
      <p:sp>
        <p:nvSpPr>
          <p:cNvPr id="24" name="a5_h"/>
          <p:cNvSpPr txBox="1"/>
          <p:nvPr/>
        </p:nvSpPr>
        <p:spPr>
          <a:xfrm>
            <a:off x="5623560" y="332841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edad cambia el efecto del diseño</a:t>
            </a:r>
            <a:endParaRPr lang="es-ES" sz="1500" dirty="0"/>
          </a:p>
        </p:txBody>
      </p:sp>
      <p:sp>
        <p:nvSpPr>
          <p:cNvPr id="25" name="a5_q"/>
          <p:cNvSpPr txBox="1"/>
          <p:nvPr/>
        </p:nvSpPr>
        <p:spPr>
          <a:xfrm>
            <a:off x="11109960" y="332841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2000" b="1" dirty="0">
                <a:solidFill>
                  <a:srgbClr val="9AA8B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s-ES" sz="2000" dirty="0"/>
          </a:p>
        </p:txBody>
      </p:sp>
      <p:sp>
        <p:nvSpPr>
          <p:cNvPr id="26" name="a6_p"/>
          <p:cNvSpPr/>
          <p:nvPr/>
        </p:nvSpPr>
        <p:spPr>
          <a:xfrm>
            <a:off x="4800600" y="3895344"/>
            <a:ext cx="6839712" cy="475488"/>
          </a:xfrm>
          <a:prstGeom prst="roundRect">
            <a:avLst>
              <a:gd name="adj" fmla="val 3461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7" name="a6_c"/>
          <p:cNvSpPr txBox="1"/>
          <p:nvPr/>
        </p:nvSpPr>
        <p:spPr>
          <a:xfrm>
            <a:off x="4983480" y="389534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H5</a:t>
            </a:r>
            <a:endParaRPr lang="es-ES" sz="1400" dirty="0"/>
          </a:p>
        </p:txBody>
      </p:sp>
      <p:sp>
        <p:nvSpPr>
          <p:cNvPr id="28" name="a6_h"/>
          <p:cNvSpPr txBox="1"/>
          <p:nvPr/>
        </p:nvSpPr>
        <p:spPr>
          <a:xfrm>
            <a:off x="5623560" y="3895344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nuevo diseño provoca más errores</a:t>
            </a:r>
            <a:endParaRPr lang="es-ES" sz="1500" dirty="0"/>
          </a:p>
        </p:txBody>
      </p:sp>
      <p:sp>
        <p:nvSpPr>
          <p:cNvPr id="29" name="a6_q"/>
          <p:cNvSpPr txBox="1"/>
          <p:nvPr/>
        </p:nvSpPr>
        <p:spPr>
          <a:xfrm>
            <a:off x="11109960" y="389534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2000" b="1" dirty="0">
                <a:solidFill>
                  <a:srgbClr val="9AA8B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s-ES" sz="2000" dirty="0"/>
          </a:p>
        </p:txBody>
      </p:sp>
      <p:sp>
        <p:nvSpPr>
          <p:cNvPr id="30" name="a7_p"/>
          <p:cNvSpPr/>
          <p:nvPr/>
        </p:nvSpPr>
        <p:spPr>
          <a:xfrm>
            <a:off x="4800600" y="4462272"/>
            <a:ext cx="6839712" cy="475488"/>
          </a:xfrm>
          <a:prstGeom prst="roundRect">
            <a:avLst>
              <a:gd name="adj" fmla="val 3461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31" name="a7_c"/>
          <p:cNvSpPr txBox="1"/>
          <p:nvPr/>
        </p:nvSpPr>
        <p:spPr>
          <a:xfrm>
            <a:off x="4983480" y="446227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H6</a:t>
            </a:r>
            <a:endParaRPr lang="es-ES" sz="1400" dirty="0"/>
          </a:p>
        </p:txBody>
      </p:sp>
      <p:sp>
        <p:nvSpPr>
          <p:cNvPr id="32" name="a7_h"/>
          <p:cNvSpPr txBox="1"/>
          <p:nvPr/>
        </p:nvSpPr>
        <p:spPr>
          <a:xfrm>
            <a:off x="5623560" y="446227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ventaja se mantiene en el tiempo</a:t>
            </a:r>
            <a:endParaRPr lang="es-ES" sz="1500" dirty="0"/>
          </a:p>
        </p:txBody>
      </p:sp>
      <p:sp>
        <p:nvSpPr>
          <p:cNvPr id="33" name="a7_q"/>
          <p:cNvSpPr txBox="1"/>
          <p:nvPr/>
        </p:nvSpPr>
        <p:spPr>
          <a:xfrm>
            <a:off x="11109960" y="446227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2000" b="1" dirty="0">
                <a:solidFill>
                  <a:srgbClr val="9AA8B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s-ES" sz="2000" dirty="0"/>
          </a:p>
        </p:txBody>
      </p:sp>
      <p:sp>
        <p:nvSpPr>
          <p:cNvPr id="34" name="a8_p"/>
          <p:cNvSpPr/>
          <p:nvPr/>
        </p:nvSpPr>
        <p:spPr>
          <a:xfrm>
            <a:off x="4800600" y="5029200"/>
            <a:ext cx="6839712" cy="475488"/>
          </a:xfrm>
          <a:prstGeom prst="roundRect">
            <a:avLst>
              <a:gd name="adj" fmla="val 3461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35" name="a8_c"/>
          <p:cNvSpPr txBox="1"/>
          <p:nvPr/>
        </p:nvSpPr>
        <p:spPr>
          <a:xfrm>
            <a:off x="4983480" y="502920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H7</a:t>
            </a:r>
            <a:endParaRPr lang="es-ES" sz="1400" dirty="0"/>
          </a:p>
        </p:txBody>
      </p:sp>
      <p:sp>
        <p:nvSpPr>
          <p:cNvPr id="36" name="a8_h"/>
          <p:cNvSpPr txBox="1"/>
          <p:nvPr/>
        </p:nvSpPr>
        <p:spPr>
          <a:xfrm>
            <a:off x="5623560" y="502920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los mayores les cuesta más</a:t>
            </a:r>
            <a:endParaRPr lang="es-ES" sz="1500" dirty="0"/>
          </a:p>
        </p:txBody>
      </p:sp>
      <p:sp>
        <p:nvSpPr>
          <p:cNvPr id="37" name="a8_q"/>
          <p:cNvSpPr txBox="1"/>
          <p:nvPr/>
        </p:nvSpPr>
        <p:spPr>
          <a:xfrm>
            <a:off x="11109960" y="502920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2000" b="1" dirty="0">
                <a:solidFill>
                  <a:srgbClr val="9AA8B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s-ES" sz="2000" dirty="0"/>
          </a:p>
        </p:txBody>
      </p:sp>
      <p:sp>
        <p:nvSpPr>
          <p:cNvPr id="38" name="a9_p"/>
          <p:cNvSpPr/>
          <p:nvPr/>
        </p:nvSpPr>
        <p:spPr>
          <a:xfrm>
            <a:off x="4800600" y="5596128"/>
            <a:ext cx="6839712" cy="475488"/>
          </a:xfrm>
          <a:prstGeom prst="roundRect">
            <a:avLst>
              <a:gd name="adj" fmla="val 3461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39" name="a9_c"/>
          <p:cNvSpPr txBox="1"/>
          <p:nvPr/>
        </p:nvSpPr>
        <p:spPr>
          <a:xfrm>
            <a:off x="4983480" y="55961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s-ES" sz="1400" dirty="0"/>
          </a:p>
        </p:txBody>
      </p:sp>
      <p:sp>
        <p:nvSpPr>
          <p:cNvPr id="40" name="a9_h"/>
          <p:cNvSpPr txBox="1"/>
          <p:nvPr/>
        </p:nvSpPr>
        <p:spPr>
          <a:xfrm>
            <a:off x="5623560" y="559612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experimento repartió 50/50 y de forma estable</a:t>
            </a:r>
            <a:endParaRPr lang="es-ES" sz="1500" dirty="0"/>
          </a:p>
        </p:txBody>
      </p:sp>
      <p:sp>
        <p:nvSpPr>
          <p:cNvPr id="41" name="a9_q"/>
          <p:cNvSpPr txBox="1"/>
          <p:nvPr/>
        </p:nvSpPr>
        <p:spPr>
          <a:xfrm>
            <a:off x="11109960" y="559612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2000" b="1" dirty="0">
                <a:solidFill>
                  <a:srgbClr val="9AA8B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s-E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4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75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25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0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Spoiler: la respuesta en 10 segundos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327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· EL RETO</a:t>
            </a:r>
            <a:endParaRPr lang="es-ES" sz="1200" dirty="0"/>
          </a:p>
        </p:txBody>
      </p:sp>
      <p:sp>
        <p:nvSpPr>
          <p:cNvPr id="10" name="a1_c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467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pic>
        <p:nvPicPr>
          <p:cNvPr id="11" name="a1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502920" cy="502920"/>
          </a:xfrm>
          <a:prstGeom prst="rect">
            <a:avLst/>
          </a:prstGeom>
        </p:spPr>
      </p:pic>
      <p:sp>
        <p:nvSpPr>
          <p:cNvPr id="12" name="a1_n"/>
          <p:cNvSpPr txBox="1"/>
          <p:nvPr/>
        </p:nvSpPr>
        <p:spPr>
          <a:xfrm>
            <a:off x="868680" y="26974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70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+3,7</a:t>
            </a:r>
            <a:endParaRPr lang="es-ES" sz="7000" dirty="0"/>
          </a:p>
        </p:txBody>
      </p:sp>
      <p:sp>
        <p:nvSpPr>
          <p:cNvPr id="13" name="a1_l"/>
          <p:cNvSpPr txBox="1"/>
          <p:nvPr/>
        </p:nvSpPr>
        <p:spPr>
          <a:xfrm>
            <a:off x="914400" y="39776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9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puntos más de clientes terminan</a:t>
            </a:r>
            <a:endParaRPr lang="es-ES" sz="1900" dirty="0"/>
          </a:p>
        </p:txBody>
      </p:sp>
      <p:sp>
        <p:nvSpPr>
          <p:cNvPr id="14" name="a1_s"/>
          <p:cNvSpPr txBox="1"/>
          <p:nvPr/>
        </p:nvSpPr>
        <p:spPr>
          <a:xfrm>
            <a:off x="914400" y="4800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69,3 % frente a 65,6 %. Es real: p &lt; 0,0001</a:t>
            </a:r>
            <a:endParaRPr lang="es-ES" sz="1300" dirty="0"/>
          </a:p>
        </p:txBody>
      </p:sp>
      <p:sp>
        <p:nvSpPr>
          <p:cNvPr id="15" name="a2_c"/>
          <p:cNvSpPr/>
          <p:nvPr/>
        </p:nvSpPr>
        <p:spPr>
          <a:xfrm>
            <a:off x="4315968" y="1783080"/>
            <a:ext cx="3520440" cy="4206240"/>
          </a:xfrm>
          <a:prstGeom prst="roundRect">
            <a:avLst>
              <a:gd name="adj" fmla="val 467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pic>
        <p:nvPicPr>
          <p:cNvPr id="16" name="a2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103120"/>
            <a:ext cx="502920" cy="502920"/>
          </a:xfrm>
          <a:prstGeom prst="rect">
            <a:avLst/>
          </a:prstGeom>
        </p:spPr>
      </p:pic>
      <p:sp>
        <p:nvSpPr>
          <p:cNvPr id="17" name="a2_n"/>
          <p:cNvSpPr txBox="1"/>
          <p:nvPr/>
        </p:nvSpPr>
        <p:spPr>
          <a:xfrm>
            <a:off x="4636008" y="26974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70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5 %</a:t>
            </a:r>
            <a:endParaRPr lang="es-ES" sz="7000" dirty="0"/>
          </a:p>
        </p:txBody>
      </p:sp>
      <p:sp>
        <p:nvSpPr>
          <p:cNvPr id="18" name="a2_l"/>
          <p:cNvSpPr txBox="1"/>
          <p:nvPr/>
        </p:nvSpPr>
        <p:spPr>
          <a:xfrm>
            <a:off x="4681728" y="39776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9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mínimo que paga el rediseño</a:t>
            </a:r>
            <a:endParaRPr lang="es-ES" sz="1900" dirty="0"/>
          </a:p>
        </p:txBody>
      </p:sp>
      <p:sp>
        <p:nvSpPr>
          <p:cNvPr id="19" name="a2_s"/>
          <p:cNvSpPr txBox="1"/>
          <p:nvPr/>
        </p:nvSpPr>
        <p:spPr>
          <a:xfrm>
            <a:off x="4681728" y="4800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asegurado: no se puede afirmar que se alcance</a:t>
            </a:r>
            <a:endParaRPr lang="es-ES" sz="1300" dirty="0"/>
          </a:p>
        </p:txBody>
      </p:sp>
      <p:sp>
        <p:nvSpPr>
          <p:cNvPr id="20" name="a3_c"/>
          <p:cNvSpPr/>
          <p:nvPr/>
        </p:nvSpPr>
        <p:spPr>
          <a:xfrm>
            <a:off x="8083296" y="1783080"/>
            <a:ext cx="3520440" cy="4206240"/>
          </a:xfrm>
          <a:prstGeom prst="roundRect">
            <a:avLst>
              <a:gd name="adj" fmla="val 467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pic>
        <p:nvPicPr>
          <p:cNvPr id="21" name="a3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03120"/>
            <a:ext cx="502920" cy="502920"/>
          </a:xfrm>
          <a:prstGeom prst="rect">
            <a:avLst/>
          </a:prstGeom>
        </p:spPr>
      </p:pic>
      <p:sp>
        <p:nvSpPr>
          <p:cNvPr id="22" name="a3_n"/>
          <p:cNvSpPr txBox="1"/>
          <p:nvPr/>
        </p:nvSpPr>
        <p:spPr>
          <a:xfrm>
            <a:off x="8403336" y="26974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7000" b="1" dirty="0">
                <a:solidFill>
                  <a:srgbClr val="FF5C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33 %</a:t>
            </a:r>
            <a:endParaRPr lang="es-ES" sz="7000" dirty="0"/>
          </a:p>
        </p:txBody>
      </p:sp>
      <p:sp>
        <p:nvSpPr>
          <p:cNvPr id="23" name="a3_l"/>
          <p:cNvSpPr txBox="1"/>
          <p:nvPr/>
        </p:nvSpPr>
        <p:spPr>
          <a:xfrm>
            <a:off x="8449056" y="39776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9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vuelve atrás con el diseño nuevo</a:t>
            </a:r>
            <a:endParaRPr lang="es-ES" sz="1900" dirty="0"/>
          </a:p>
        </p:txBody>
      </p:sp>
      <p:sp>
        <p:nvSpPr>
          <p:cNvPr id="24" name="a3_s"/>
          <p:cNvSpPr txBox="1"/>
          <p:nvPr/>
        </p:nvSpPr>
        <p:spPr>
          <a:xfrm>
            <a:off x="8449056" y="4800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Frente al 26 % con el antiguo; sobre todo en step_1 y en los mayores de 45</a:t>
            </a:r>
            <a:endParaRPr lang="es-E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5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D97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3359" y="347472"/>
            <a:ext cx="219456" cy="219456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D9761A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D9761A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D9761A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8" name="a1_paso"/>
          <p:cNvSpPr txBox="1"/>
          <p:nvPr/>
        </p:nvSpPr>
        <p:spPr>
          <a:xfrm>
            <a:off x="457200" y="1097280"/>
            <a:ext cx="11430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0" b="1" dirty="0">
                <a:solidFill>
                  <a:srgbClr val="FFB4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step_1</a:t>
            </a:r>
            <a:endParaRPr lang="es-ES" sz="15000" dirty="0"/>
          </a:p>
        </p:txBody>
      </p:sp>
      <p:sp>
        <p:nvSpPr>
          <p:cNvPr id="9" name="a2_eti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spc="300" kern="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2 DE 5 · LOS DATOS</a:t>
            </a:r>
            <a:endParaRPr lang="es-ES" sz="1500" dirty="0"/>
          </a:p>
        </p:txBody>
      </p:sp>
      <p:sp>
        <p:nvSpPr>
          <p:cNvPr id="10" name="a2_q"/>
          <p:cNvSpPr txBox="1"/>
          <p:nvPr/>
        </p:nvSpPr>
        <p:spPr>
          <a:xfrm>
            <a:off x="548640" y="4343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44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¿Con qué datos trabajamos y quién es el cliente?</a:t>
            </a:r>
            <a:endParaRPr lang="es-E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B1424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6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755.000 clics. 13 problemas. 50.500 clientes.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335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STEP_1 · LOS DATOS</a:t>
            </a:r>
            <a:endParaRPr lang="es-ES" sz="1200" dirty="0"/>
          </a:p>
        </p:txBody>
      </p:sp>
      <p:sp>
        <p:nvSpPr>
          <p:cNvPr id="10" name="a1_f0"/>
          <p:cNvSpPr/>
          <p:nvPr/>
        </p:nvSpPr>
        <p:spPr>
          <a:xfrm>
            <a:off x="548640" y="1783080"/>
            <a:ext cx="3337560" cy="1234440"/>
          </a:xfrm>
          <a:prstGeom prst="roundRect">
            <a:avLst>
              <a:gd name="adj" fmla="val 13333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1" name="a1_d0_c"/>
          <p:cNvSpPr/>
          <p:nvPr/>
        </p:nvSpPr>
        <p:spPr>
          <a:xfrm>
            <a:off x="777240" y="2084832"/>
            <a:ext cx="640080" cy="640080"/>
          </a:xfrm>
          <a:prstGeom prst="ellipse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pic>
        <p:nvPicPr>
          <p:cNvPr id="12" name="a1_d0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251253"/>
            <a:ext cx="307238" cy="307238"/>
          </a:xfrm>
          <a:prstGeom prst="rect">
            <a:avLst/>
          </a:prstGeom>
        </p:spPr>
      </p:pic>
      <p:sp>
        <p:nvSpPr>
          <p:cNvPr id="13" name="a1_t0"/>
          <p:cNvSpPr txBox="1"/>
          <p:nvPr/>
        </p:nvSpPr>
        <p:spPr>
          <a:xfrm>
            <a:off x="1600200" y="19659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7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</a:t>
            </a:r>
            <a:endParaRPr lang="es-ES" sz="1700" dirty="0"/>
          </a:p>
        </p:txBody>
      </p:sp>
      <p:sp>
        <p:nvSpPr>
          <p:cNvPr id="14" name="a1_x0"/>
          <p:cNvSpPr txBox="1"/>
          <p:nvPr/>
        </p:nvSpPr>
        <p:spPr>
          <a:xfrm>
            <a:off x="1600200" y="23500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70.600 clientes: edad, género, antigüedad, saldo</a:t>
            </a:r>
            <a:endParaRPr lang="es-ES" sz="1300" dirty="0"/>
          </a:p>
        </p:txBody>
      </p:sp>
      <p:sp>
        <p:nvSpPr>
          <p:cNvPr id="15" name="a1_f1"/>
          <p:cNvSpPr/>
          <p:nvPr/>
        </p:nvSpPr>
        <p:spPr>
          <a:xfrm>
            <a:off x="548640" y="3218688"/>
            <a:ext cx="3337560" cy="1234440"/>
          </a:xfrm>
          <a:prstGeom prst="roundRect">
            <a:avLst>
              <a:gd name="adj" fmla="val 13333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6" name="a1_d1_c"/>
          <p:cNvSpPr/>
          <p:nvPr/>
        </p:nvSpPr>
        <p:spPr>
          <a:xfrm>
            <a:off x="777240" y="3520440"/>
            <a:ext cx="640080" cy="640080"/>
          </a:xfrm>
          <a:prstGeom prst="ellipse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pic>
        <p:nvPicPr>
          <p:cNvPr id="17" name="a1_d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3686861"/>
            <a:ext cx="307238" cy="307238"/>
          </a:xfrm>
          <a:prstGeom prst="rect">
            <a:avLst/>
          </a:prstGeom>
        </p:spPr>
      </p:pic>
      <p:sp>
        <p:nvSpPr>
          <p:cNvPr id="18" name="a1_t1"/>
          <p:cNvSpPr txBox="1"/>
          <p:nvPr/>
        </p:nvSpPr>
        <p:spPr>
          <a:xfrm>
            <a:off x="1600200" y="34015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7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</a:t>
            </a:r>
            <a:endParaRPr lang="es-ES" sz="1700" dirty="0"/>
          </a:p>
        </p:txBody>
      </p:sp>
      <p:sp>
        <p:nvSpPr>
          <p:cNvPr id="19" name="a1_x1"/>
          <p:cNvSpPr txBox="1"/>
          <p:nvPr/>
        </p:nvSpPr>
        <p:spPr>
          <a:xfrm>
            <a:off x="1600200" y="37856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70.600 clientes, 20.100 sin grupo</a:t>
            </a:r>
            <a:endParaRPr lang="es-ES" sz="1300" dirty="0"/>
          </a:p>
        </p:txBody>
      </p:sp>
      <p:sp>
        <p:nvSpPr>
          <p:cNvPr id="20" name="a1_f2"/>
          <p:cNvSpPr/>
          <p:nvPr/>
        </p:nvSpPr>
        <p:spPr>
          <a:xfrm>
            <a:off x="548640" y="4654296"/>
            <a:ext cx="3337560" cy="1234440"/>
          </a:xfrm>
          <a:prstGeom prst="roundRect">
            <a:avLst>
              <a:gd name="adj" fmla="val 13333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1" name="a1_d2_c"/>
          <p:cNvSpPr/>
          <p:nvPr/>
        </p:nvSpPr>
        <p:spPr>
          <a:xfrm>
            <a:off x="777240" y="4956048"/>
            <a:ext cx="640080" cy="640080"/>
          </a:xfrm>
          <a:prstGeom prst="ellipse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pic>
        <p:nvPicPr>
          <p:cNvPr id="22" name="a1_d2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5122469"/>
            <a:ext cx="307238" cy="307238"/>
          </a:xfrm>
          <a:prstGeom prst="rect">
            <a:avLst/>
          </a:prstGeom>
        </p:spPr>
      </p:pic>
      <p:sp>
        <p:nvSpPr>
          <p:cNvPr id="23" name="a1_t2"/>
          <p:cNvSpPr txBox="1"/>
          <p:nvPr/>
        </p:nvSpPr>
        <p:spPr>
          <a:xfrm>
            <a:off x="1600200" y="483717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7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Clics web</a:t>
            </a:r>
            <a:endParaRPr lang="es-ES" sz="1700" dirty="0"/>
          </a:p>
        </p:txBody>
      </p:sp>
      <p:sp>
        <p:nvSpPr>
          <p:cNvPr id="24" name="a1_x2"/>
          <p:cNvSpPr txBox="1"/>
          <p:nvPr/>
        </p:nvSpPr>
        <p:spPr>
          <a:xfrm>
            <a:off x="1600200" y="522122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755.000 clics en dos archivos</a:t>
            </a:r>
            <a:endParaRPr lang="es-ES" sz="1300" dirty="0"/>
          </a:p>
        </p:txBody>
      </p:sp>
      <p:sp>
        <p:nvSpPr>
          <p:cNvPr id="25" name="a2_f1"/>
          <p:cNvSpPr/>
          <p:nvPr/>
        </p:nvSpPr>
        <p:spPr>
          <a:xfrm>
            <a:off x="4041648" y="3611880"/>
            <a:ext cx="548640" cy="411480"/>
          </a:xfrm>
          <a:prstGeom prst="rightArrow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6" name="a2_m"/>
          <p:cNvSpPr/>
          <p:nvPr/>
        </p:nvSpPr>
        <p:spPr>
          <a:xfrm>
            <a:off x="4754880" y="1783080"/>
            <a:ext cx="3566160" cy="4114800"/>
          </a:xfrm>
          <a:prstGeom prst="roundRect">
            <a:avLst>
              <a:gd name="adj" fmla="val 4615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7" name="a2_e_c"/>
          <p:cNvSpPr/>
          <p:nvPr/>
        </p:nvSpPr>
        <p:spPr>
          <a:xfrm>
            <a:off x="5029200" y="2011680"/>
            <a:ext cx="731520" cy="73152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28" name="a2_e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395" y="2201875"/>
            <a:ext cx="351130" cy="351130"/>
          </a:xfrm>
          <a:prstGeom prst="rect">
            <a:avLst/>
          </a:prstGeom>
        </p:spPr>
      </p:pic>
      <p:sp>
        <p:nvSpPr>
          <p:cNvPr id="29" name="a2_t"/>
          <p:cNvSpPr txBox="1"/>
          <p:nvPr/>
        </p:nvSpPr>
        <p:spPr>
          <a:xfrm>
            <a:off x="5029200" y="2880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8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problemas de calidad, cada uno con su decisión</a:t>
            </a:r>
            <a:endParaRPr lang="es-ES" sz="1800" dirty="0"/>
          </a:p>
        </p:txBody>
      </p:sp>
      <p:sp>
        <p:nvSpPr>
          <p:cNvPr id="30" name="a2_b"/>
          <p:cNvSpPr txBox="1"/>
          <p:nvPr/>
        </p:nvSpPr>
        <p:spPr>
          <a:xfrm>
            <a:off x="5029200" y="38404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40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20.100 clientes sin grupo: fuera</a:t>
            </a:r>
            <a:endParaRPr lang="es-E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40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10.800 clics repetidos: eliminados</a:t>
            </a:r>
            <a:endParaRPr lang="es-E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40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columnas que repetían información: fuera</a:t>
            </a:r>
            <a:endParaRPr lang="es-ES" sz="1400" dirty="0"/>
          </a:p>
        </p:txBody>
      </p:sp>
      <p:sp>
        <p:nvSpPr>
          <p:cNvPr id="31" name="a3_f2"/>
          <p:cNvSpPr/>
          <p:nvPr/>
        </p:nvSpPr>
        <p:spPr>
          <a:xfrm>
            <a:off x="8485632" y="3611880"/>
            <a:ext cx="548640" cy="411480"/>
          </a:xfrm>
          <a:prstGeom prst="rightArrow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32" name="a3_r"/>
          <p:cNvSpPr/>
          <p:nvPr/>
        </p:nvSpPr>
        <p:spPr>
          <a:xfrm>
            <a:off x="9189720" y="1783080"/>
            <a:ext cx="2450592" cy="4114800"/>
          </a:xfrm>
          <a:prstGeom prst="roundRect">
            <a:avLst>
              <a:gd name="adj" fmla="val 6716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33" name="a3_n1"/>
          <p:cNvSpPr txBox="1"/>
          <p:nvPr/>
        </p:nvSpPr>
        <p:spPr>
          <a:xfrm>
            <a:off x="9418320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36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50.500</a:t>
            </a:r>
            <a:endParaRPr lang="es-ES" sz="3600" dirty="0"/>
          </a:p>
        </p:txBody>
      </p:sp>
      <p:sp>
        <p:nvSpPr>
          <p:cNvPr id="34" name="a3_l1"/>
          <p:cNvSpPr txBox="1"/>
          <p:nvPr/>
        </p:nvSpPr>
        <p:spPr>
          <a:xfrm>
            <a:off x="941832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</a:t>
            </a:r>
            <a:endParaRPr lang="es-ES" sz="1400" dirty="0"/>
          </a:p>
        </p:txBody>
      </p:sp>
      <p:sp>
        <p:nvSpPr>
          <p:cNvPr id="35" name="a3_n2"/>
          <p:cNvSpPr txBox="1"/>
          <p:nvPr/>
        </p:nvSpPr>
        <p:spPr>
          <a:xfrm>
            <a:off x="9418320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36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317.000</a:t>
            </a:r>
            <a:endParaRPr lang="es-ES" sz="3600" dirty="0"/>
          </a:p>
        </p:txBody>
      </p:sp>
      <p:sp>
        <p:nvSpPr>
          <p:cNvPr id="36" name="a3_l2"/>
          <p:cNvSpPr txBox="1"/>
          <p:nvPr/>
        </p:nvSpPr>
        <p:spPr>
          <a:xfrm>
            <a:off x="941832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clics limpios</a:t>
            </a:r>
            <a:endParaRPr lang="es-ES" sz="1400" dirty="0"/>
          </a:p>
        </p:txBody>
      </p:sp>
      <p:sp>
        <p:nvSpPr>
          <p:cNvPr id="37" name="a3_l3"/>
          <p:cNvSpPr txBox="1"/>
          <p:nvPr/>
        </p:nvSpPr>
        <p:spPr>
          <a:xfrm>
            <a:off x="9418320" y="4617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27.000</a:t>
            </a:r>
            <a:endParaRPr lang="es-ES" sz="1500" dirty="0"/>
          </a:p>
          <a:p>
            <a:pPr indent="0" marL="0">
              <a:buNone/>
            </a:pPr>
            <a:r>
              <a:rPr lang="es-ES" sz="1500" b="1" dirty="0">
                <a:solidFill>
                  <a:srgbClr val="6C9B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23.500</a:t>
            </a:r>
            <a:endParaRPr lang="es-E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7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8" grpId="0" animBg="1"/>
      <p:bldP spid="19" grpId="0" animBg="1"/>
      <p:bldP spid="23" grpId="0" animBg="1"/>
      <p:bldP spid="24" grpId="0" animBg="1"/>
      <p:bldP spid="29" grpId="0" animBg="1"/>
      <p:bldP spid="30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Conoce al cliente típico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335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STEP_1 · LOS DATOS</a:t>
            </a:r>
            <a:endParaRPr lang="es-ES" sz="1200" dirty="0"/>
          </a:p>
        </p:txBody>
      </p:sp>
      <p:sp>
        <p:nvSpPr>
          <p:cNvPr id="10" name="a1_b"/>
          <p:cNvSpPr/>
          <p:nvPr/>
        </p:nvSpPr>
        <p:spPr>
          <a:xfrm>
            <a:off x="548640" y="1783080"/>
            <a:ext cx="4937760" cy="4206240"/>
          </a:xfrm>
          <a:prstGeom prst="roundRect">
            <a:avLst>
              <a:gd name="adj" fmla="val 3913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1" name="a1_top"/>
          <p:cNvSpPr/>
          <p:nvPr/>
        </p:nvSpPr>
        <p:spPr>
          <a:xfrm>
            <a:off x="548640" y="1783080"/>
            <a:ext cx="4937760" cy="1371600"/>
          </a:xfrm>
          <a:prstGeom prst="roundRect">
            <a:avLst>
              <a:gd name="adj" fmla="val 12000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2" name="a1_topb"/>
          <p:cNvSpPr/>
          <p:nvPr/>
        </p:nvSpPr>
        <p:spPr>
          <a:xfrm>
            <a:off x="548640" y="2834640"/>
            <a:ext cx="4937760" cy="32004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a1_av_c"/>
          <p:cNvSpPr/>
          <p:nvPr/>
        </p:nvSpPr>
        <p:spPr>
          <a:xfrm>
            <a:off x="868680" y="2029968"/>
            <a:ext cx="868680" cy="86868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14" name="a1_av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55825"/>
            <a:ext cx="416966" cy="416966"/>
          </a:xfrm>
          <a:prstGeom prst="rect">
            <a:avLst/>
          </a:prstGeom>
        </p:spPr>
      </p:pic>
      <p:sp>
        <p:nvSpPr>
          <p:cNvPr id="15" name="a1_nom"/>
          <p:cNvSpPr txBox="1"/>
          <p:nvPr/>
        </p:nvSpPr>
        <p:spPr>
          <a:xfrm>
            <a:off x="1920240" y="2011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4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cliente típico</a:t>
            </a:r>
            <a:endParaRPr lang="es-ES" sz="2400" dirty="0"/>
          </a:p>
          <a:p>
            <a:pPr indent="0" marL="0">
              <a:buNone/>
            </a:pPr>
            <a:r>
              <a:rPr lang="es-ES" sz="130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mediana de los 50.500 clientes del test</a:t>
            </a:r>
            <a:endParaRPr lang="es-ES" sz="2400" dirty="0"/>
          </a:p>
        </p:txBody>
      </p:sp>
      <p:sp>
        <p:nvSpPr>
          <p:cNvPr id="16" name="a2_n0"/>
          <p:cNvSpPr txBox="1"/>
          <p:nvPr/>
        </p:nvSpPr>
        <p:spPr>
          <a:xfrm>
            <a:off x="96012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 años</a:t>
            </a:r>
            <a:endParaRPr lang="es-ES" sz="2200" dirty="0"/>
          </a:p>
        </p:txBody>
      </p:sp>
      <p:sp>
        <p:nvSpPr>
          <p:cNvPr id="17" name="a2_d0"/>
          <p:cNvSpPr txBox="1"/>
          <p:nvPr/>
        </p:nvSpPr>
        <p:spPr>
          <a:xfrm>
            <a:off x="3337560" y="3383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edad</a:t>
            </a:r>
            <a:endParaRPr lang="es-ES" sz="1400" dirty="0"/>
          </a:p>
        </p:txBody>
      </p:sp>
      <p:sp>
        <p:nvSpPr>
          <p:cNvPr id="18" name="a2_n1"/>
          <p:cNvSpPr txBox="1"/>
          <p:nvPr/>
        </p:nvSpPr>
        <p:spPr>
          <a:xfrm>
            <a:off x="9601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años</a:t>
            </a:r>
            <a:endParaRPr lang="es-ES" sz="2200" dirty="0"/>
          </a:p>
        </p:txBody>
      </p:sp>
      <p:sp>
        <p:nvSpPr>
          <p:cNvPr id="19" name="a2_d1"/>
          <p:cNvSpPr txBox="1"/>
          <p:nvPr/>
        </p:nvSpPr>
        <p:spPr>
          <a:xfrm>
            <a:off x="333756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Vanguard</a:t>
            </a:r>
            <a:endParaRPr lang="es-ES" sz="1400" dirty="0"/>
          </a:p>
        </p:txBody>
      </p:sp>
      <p:sp>
        <p:nvSpPr>
          <p:cNvPr id="20" name="a2_n2"/>
          <p:cNvSpPr txBox="1"/>
          <p:nvPr/>
        </p:nvSpPr>
        <p:spPr>
          <a:xfrm>
            <a:off x="960120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visita</a:t>
            </a:r>
            <a:endParaRPr lang="es-ES" sz="2200" dirty="0"/>
          </a:p>
        </p:txBody>
      </p:sp>
      <p:sp>
        <p:nvSpPr>
          <p:cNvPr id="21" name="a2_d2"/>
          <p:cNvSpPr txBox="1"/>
          <p:nvPr/>
        </p:nvSpPr>
        <p:spPr>
          <a:xfrm>
            <a:off x="3337560" y="4663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hacer el proceso</a:t>
            </a:r>
            <a:endParaRPr lang="es-ES" sz="1400" dirty="0"/>
          </a:p>
        </p:txBody>
      </p:sp>
      <p:sp>
        <p:nvSpPr>
          <p:cNvPr id="22" name="a2_n3"/>
          <p:cNvSpPr txBox="1"/>
          <p:nvPr/>
        </p:nvSpPr>
        <p:spPr>
          <a:xfrm>
            <a:off x="960120" y="5303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Miércoles, 11 h</a:t>
            </a:r>
            <a:endParaRPr lang="es-ES" sz="2200" dirty="0"/>
          </a:p>
        </p:txBody>
      </p:sp>
      <p:sp>
        <p:nvSpPr>
          <p:cNvPr id="23" name="a2_d3"/>
          <p:cNvSpPr txBox="1"/>
          <p:nvPr/>
        </p:nvSpPr>
        <p:spPr>
          <a:xfrm>
            <a:off x="3337560" y="5303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hora punta</a:t>
            </a:r>
            <a:endParaRPr lang="es-ES" sz="1400" dirty="0"/>
          </a:p>
        </p:txBody>
      </p:sp>
      <p:sp>
        <p:nvSpPr>
          <p:cNvPr id="24" name="a3_c"/>
          <p:cNvSpPr/>
          <p:nvPr/>
        </p:nvSpPr>
        <p:spPr>
          <a:xfrm>
            <a:off x="5806440" y="1783080"/>
            <a:ext cx="5833872" cy="1280160"/>
          </a:xfrm>
          <a:prstGeom prst="roundRect">
            <a:avLst>
              <a:gd name="adj" fmla="val 12857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5" name="a3_n"/>
          <p:cNvSpPr txBox="1"/>
          <p:nvPr/>
        </p:nvSpPr>
        <p:spPr>
          <a:xfrm>
            <a:off x="6126480" y="17830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4000" b="1" dirty="0">
                <a:solidFill>
                  <a:srgbClr val="6C9B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92 %</a:t>
            </a:r>
            <a:endParaRPr lang="es-ES" sz="4000" dirty="0"/>
          </a:p>
        </p:txBody>
      </p:sp>
      <p:sp>
        <p:nvSpPr>
          <p:cNvPr id="26" name="a3_t"/>
          <p:cNvSpPr txBox="1"/>
          <p:nvPr/>
        </p:nvSpPr>
        <p:spPr>
          <a:xfrm>
            <a:off x="8001000" y="178308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lleva 5 años o más como cliente: casi nadie es nuevo</a:t>
            </a:r>
            <a:endParaRPr lang="es-ES" sz="1400" dirty="0"/>
          </a:p>
        </p:txBody>
      </p:sp>
      <p:sp>
        <p:nvSpPr>
          <p:cNvPr id="27" name="a4_c"/>
          <p:cNvSpPr/>
          <p:nvPr/>
        </p:nvSpPr>
        <p:spPr>
          <a:xfrm>
            <a:off x="5806440" y="3246120"/>
            <a:ext cx="5833872" cy="1280160"/>
          </a:xfrm>
          <a:prstGeom prst="roundRect">
            <a:avLst>
              <a:gd name="adj" fmla="val 12857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8" name="a4_n"/>
          <p:cNvSpPr txBox="1"/>
          <p:nvPr/>
        </p:nvSpPr>
        <p:spPr>
          <a:xfrm>
            <a:off x="6126480" y="32461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4000" b="1" dirty="0">
                <a:solidFill>
                  <a:srgbClr val="6C9B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74 %</a:t>
            </a:r>
            <a:endParaRPr lang="es-ES" sz="4000" dirty="0"/>
          </a:p>
        </p:txBody>
      </p:sp>
      <p:sp>
        <p:nvSpPr>
          <p:cNvPr id="29" name="a4_t"/>
          <p:cNvSpPr txBox="1"/>
          <p:nvPr/>
        </p:nvSpPr>
        <p:spPr>
          <a:xfrm>
            <a:off x="8001000" y="324612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hace el proceso en una sola visita; quien vuelve otro día completa más</a:t>
            </a:r>
            <a:endParaRPr lang="es-ES" sz="1400" dirty="0"/>
          </a:p>
        </p:txBody>
      </p:sp>
      <p:sp>
        <p:nvSpPr>
          <p:cNvPr id="30" name="a5_c"/>
          <p:cNvSpPr/>
          <p:nvPr/>
        </p:nvSpPr>
        <p:spPr>
          <a:xfrm>
            <a:off x="5806440" y="4709160"/>
            <a:ext cx="5833872" cy="1280160"/>
          </a:xfrm>
          <a:prstGeom prst="roundRect">
            <a:avLst>
              <a:gd name="adj" fmla="val 12857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31" name="a5_n"/>
          <p:cNvSpPr txBox="1"/>
          <p:nvPr/>
        </p:nvSpPr>
        <p:spPr>
          <a:xfrm>
            <a:off x="6126480" y="4709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40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56 %</a:t>
            </a:r>
            <a:endParaRPr lang="es-ES" sz="4000" dirty="0"/>
          </a:p>
        </p:txBody>
      </p:sp>
      <p:sp>
        <p:nvSpPr>
          <p:cNvPr id="32" name="a5_t"/>
          <p:cNvSpPr txBox="1"/>
          <p:nvPr/>
        </p:nvSpPr>
        <p:spPr>
          <a:xfrm>
            <a:off x="8001000" y="47091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tiene 45 años o más. Retened este dato: ahí está el problema</a:t>
            </a:r>
            <a:endParaRPr lang="es-E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8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5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D97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3439" y="347472"/>
            <a:ext cx="219456" cy="219456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D9761A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D9761A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8" name="a1_paso"/>
          <p:cNvSpPr txBox="1"/>
          <p:nvPr/>
        </p:nvSpPr>
        <p:spPr>
          <a:xfrm>
            <a:off x="457200" y="1097280"/>
            <a:ext cx="11430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0" b="1" dirty="0">
                <a:solidFill>
                  <a:srgbClr val="FFB4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step_2</a:t>
            </a:r>
            <a:endParaRPr lang="es-ES" sz="15000" dirty="0"/>
          </a:p>
        </p:txBody>
      </p:sp>
      <p:sp>
        <p:nvSpPr>
          <p:cNvPr id="9" name="a2_eti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spc="300" kern="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3 DE 5 · QUÉ PASÓ</a:t>
            </a:r>
            <a:endParaRPr lang="es-ES" sz="1500" dirty="0"/>
          </a:p>
        </p:txBody>
      </p:sp>
      <p:sp>
        <p:nvSpPr>
          <p:cNvPr id="10" name="a2_q"/>
          <p:cNvSpPr txBox="1"/>
          <p:nvPr/>
        </p:nvSpPr>
        <p:spPr>
          <a:xfrm>
            <a:off x="548640" y="4343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44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¿Qué pasó con el nuevo diseño?</a:t>
            </a:r>
            <a:endParaRPr lang="es-E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B1424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9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3 KPI: el Test gana en dos de tres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343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STEP_2 · QUÉ PASÓ</a:t>
            </a:r>
            <a:endParaRPr lang="es-ES" sz="1200" dirty="0"/>
          </a:p>
        </p:txBody>
      </p:sp>
      <p:sp>
        <p:nvSpPr>
          <p:cNvPr id="10" name="a1_fg"/>
          <p:cNvSpPr/>
          <p:nvPr/>
        </p:nvSpPr>
        <p:spPr>
          <a:xfrm>
            <a:off x="548640" y="1783080"/>
            <a:ext cx="6355080" cy="4343400"/>
          </a:xfrm>
          <a:prstGeom prst="roundRect">
            <a:avLst>
              <a:gd name="adj" fmla="val 3789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1" name="a1_cap"/>
          <p:cNvSpPr txBox="1"/>
          <p:nvPr/>
        </p:nvSpPr>
        <p:spPr>
          <a:xfrm>
            <a:off x="822960" y="19202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1 en detalle: % de clientes que llega a cada paso</a:t>
            </a:r>
            <a:endParaRPr lang="es-ES" sz="1300" dirty="0"/>
          </a:p>
        </p:txBody>
      </p:sp>
      <p:graphicFrame>
        <p:nvGraphicFramePr>
          <p:cNvPr id="12" name="a1_ch" descr=""/>
          <p:cNvGraphicFramePr/>
          <p:nvPr/>
        </p:nvGraphicFramePr>
        <p:xfrm>
          <a:off x="685800" y="2240280"/>
          <a:ext cx="60807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a2_c"/>
          <p:cNvSpPr/>
          <p:nvPr/>
        </p:nvSpPr>
        <p:spPr>
          <a:xfrm>
            <a:off x="7132320" y="1783080"/>
            <a:ext cx="4507992" cy="1344168"/>
          </a:xfrm>
          <a:prstGeom prst="roundRect">
            <a:avLst>
              <a:gd name="adj" fmla="val 1224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4" name="a2_n"/>
          <p:cNvSpPr txBox="1"/>
          <p:nvPr/>
        </p:nvSpPr>
        <p:spPr>
          <a:xfrm>
            <a:off x="7360920" y="1892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 1 · </a:t>
            </a:r>
            <a:pPr indent="0" marL="0">
              <a:buNone/>
            </a:pPr>
            <a:r>
              <a:rPr lang="es-ES" sz="15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Tasa de finalización</a:t>
            </a:r>
            <a:endParaRPr lang="es-ES" sz="1500" dirty="0"/>
          </a:p>
        </p:txBody>
      </p:sp>
      <p:sp>
        <p:nvSpPr>
          <p:cNvPr id="15" name="a2_d"/>
          <p:cNvSpPr txBox="1"/>
          <p:nvPr/>
        </p:nvSpPr>
        <p:spPr>
          <a:xfrm>
            <a:off x="7360920" y="2212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que llegan a confirm / clientes del grupo</a:t>
            </a:r>
            <a:endParaRPr lang="es-ES" sz="1200" dirty="0"/>
          </a:p>
        </p:txBody>
      </p:sp>
      <p:sp>
        <p:nvSpPr>
          <p:cNvPr id="16" name="a2_v"/>
          <p:cNvSpPr txBox="1"/>
          <p:nvPr/>
        </p:nvSpPr>
        <p:spPr>
          <a:xfrm>
            <a:off x="7360920" y="25511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9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65,6 % → 69,3 %</a:t>
            </a:r>
            <a:endParaRPr lang="es-ES" sz="1900" dirty="0"/>
          </a:p>
        </p:txBody>
      </p:sp>
      <p:sp>
        <p:nvSpPr>
          <p:cNvPr id="17" name="a2_b"/>
          <p:cNvSpPr/>
          <p:nvPr/>
        </p:nvSpPr>
        <p:spPr>
          <a:xfrm>
            <a:off x="10058400" y="260604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8" name="a2_g"/>
          <p:cNvSpPr txBox="1"/>
          <p:nvPr/>
        </p:nvSpPr>
        <p:spPr>
          <a:xfrm>
            <a:off x="10058400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Gana Test</a:t>
            </a:r>
            <a:endParaRPr lang="es-ES" sz="1200" dirty="0"/>
          </a:p>
        </p:txBody>
      </p:sp>
      <p:sp>
        <p:nvSpPr>
          <p:cNvPr id="19" name="a3_c"/>
          <p:cNvSpPr/>
          <p:nvPr/>
        </p:nvSpPr>
        <p:spPr>
          <a:xfrm>
            <a:off x="7132320" y="3291840"/>
            <a:ext cx="4507992" cy="1344168"/>
          </a:xfrm>
          <a:prstGeom prst="roundRect">
            <a:avLst>
              <a:gd name="adj" fmla="val 1224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0" name="a3_n"/>
          <p:cNvSpPr txBox="1"/>
          <p:nvPr/>
        </p:nvSpPr>
        <p:spPr>
          <a:xfrm>
            <a:off x="7360920" y="3401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 2 · </a:t>
            </a:r>
            <a:pPr indent="0" marL="0">
              <a:buNone/>
            </a:pPr>
            <a:r>
              <a:rPr lang="es-ES" sz="15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Tiempo en cada paso</a:t>
            </a:r>
            <a:endParaRPr lang="es-ES" sz="1500" dirty="0"/>
          </a:p>
        </p:txBody>
      </p:sp>
      <p:sp>
        <p:nvSpPr>
          <p:cNvPr id="21" name="a3_d"/>
          <p:cNvSpPr txBox="1"/>
          <p:nvPr/>
        </p:nvSpPr>
        <p:spPr>
          <a:xfrm>
            <a:off x="7360920" y="3721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 por paso: más rápido salvo en step_1</a:t>
            </a:r>
            <a:endParaRPr lang="es-ES" sz="1200" dirty="0"/>
          </a:p>
        </p:txBody>
      </p:sp>
      <p:sp>
        <p:nvSpPr>
          <p:cNvPr id="22" name="a3_v"/>
          <p:cNvSpPr txBox="1"/>
          <p:nvPr/>
        </p:nvSpPr>
        <p:spPr>
          <a:xfrm>
            <a:off x="7360920" y="40599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9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s menos en total</a:t>
            </a:r>
            <a:endParaRPr lang="es-ES" sz="1900" dirty="0"/>
          </a:p>
        </p:txBody>
      </p:sp>
      <p:sp>
        <p:nvSpPr>
          <p:cNvPr id="23" name="a3_b"/>
          <p:cNvSpPr/>
          <p:nvPr/>
        </p:nvSpPr>
        <p:spPr>
          <a:xfrm>
            <a:off x="10058400" y="411480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4" name="a3_g"/>
          <p:cNvSpPr txBox="1"/>
          <p:nvPr/>
        </p:nvSpPr>
        <p:spPr>
          <a:xfrm>
            <a:off x="10058400" y="4114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Gana Test</a:t>
            </a:r>
            <a:endParaRPr lang="es-ES" sz="1200" dirty="0"/>
          </a:p>
        </p:txBody>
      </p:sp>
      <p:sp>
        <p:nvSpPr>
          <p:cNvPr id="25" name="a4_c"/>
          <p:cNvSpPr/>
          <p:nvPr/>
        </p:nvSpPr>
        <p:spPr>
          <a:xfrm>
            <a:off x="7132320" y="4800600"/>
            <a:ext cx="4507992" cy="1344168"/>
          </a:xfrm>
          <a:prstGeom prst="roundRect">
            <a:avLst>
              <a:gd name="adj" fmla="val 1224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6" name="a4_n"/>
          <p:cNvSpPr txBox="1"/>
          <p:nvPr/>
        </p:nvSpPr>
        <p:spPr>
          <a:xfrm>
            <a:off x="7360920" y="4910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 3 · </a:t>
            </a:r>
            <a:pPr indent="0" marL="0">
              <a:buNone/>
            </a:pPr>
            <a:r>
              <a:rPr lang="es-ES" sz="15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Tasa de errores</a:t>
            </a:r>
            <a:endParaRPr lang="es-ES" sz="1500" dirty="0"/>
          </a:p>
        </p:txBody>
      </p:sp>
      <p:sp>
        <p:nvSpPr>
          <p:cNvPr id="27" name="a4_d"/>
          <p:cNvSpPr txBox="1"/>
          <p:nvPr/>
        </p:nvSpPr>
        <p:spPr>
          <a:xfrm>
            <a:off x="7360920" y="5230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pasos hacia atrás / total de pasos</a:t>
            </a:r>
            <a:endParaRPr lang="es-ES" sz="1200" dirty="0"/>
          </a:p>
        </p:txBody>
      </p:sp>
      <p:sp>
        <p:nvSpPr>
          <p:cNvPr id="28" name="a4_v"/>
          <p:cNvSpPr txBox="1"/>
          <p:nvPr/>
        </p:nvSpPr>
        <p:spPr>
          <a:xfrm>
            <a:off x="7360920" y="55686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9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7 % → 9 %</a:t>
            </a:r>
            <a:endParaRPr lang="es-ES" sz="1900" dirty="0"/>
          </a:p>
        </p:txBody>
      </p:sp>
      <p:sp>
        <p:nvSpPr>
          <p:cNvPr id="29" name="a4_b"/>
          <p:cNvSpPr/>
          <p:nvPr/>
        </p:nvSpPr>
        <p:spPr>
          <a:xfrm>
            <a:off x="10058400" y="562356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30" name="a4_g"/>
          <p:cNvSpPr txBox="1"/>
          <p:nvPr/>
        </p:nvSpPr>
        <p:spPr>
          <a:xfrm>
            <a:off x="10058400" y="5623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Gana Control</a:t>
            </a:r>
            <a:endParaRPr lang="es-E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10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Graphic spid="12" grpId="0">
        <p:bldAsOne/>
      </p:bldGraphic>
      <p:bldP spid="14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Dónde se pierden: el mapa de las vueltas atrás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343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STEP_2 · QUÉ PASÓ</a:t>
            </a:r>
            <a:endParaRPr lang="es-ES" sz="1200" dirty="0"/>
          </a:p>
        </p:txBody>
      </p:sp>
      <p:sp>
        <p:nvSpPr>
          <p:cNvPr id="10" name="a1_fg"/>
          <p:cNvSpPr/>
          <p:nvPr/>
        </p:nvSpPr>
        <p:spPr>
          <a:xfrm>
            <a:off x="548640" y="1783080"/>
            <a:ext cx="7818120" cy="4343400"/>
          </a:xfrm>
          <a:prstGeom prst="roundRect">
            <a:avLst>
              <a:gd name="adj" fmla="val 3789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1" name="a2_c0"/>
          <p:cNvSpPr/>
          <p:nvPr/>
        </p:nvSpPr>
        <p:spPr>
          <a:xfrm>
            <a:off x="1325880" y="2395728"/>
            <a:ext cx="6400800" cy="3108960"/>
          </a:xfrm>
          <a:prstGeom prst="blockArc">
            <a:avLst>
              <a:gd name="adj1" fmla="val 10800000"/>
              <a:gd name="adj2" fmla="val 21600000"/>
              <a:gd name="adj3" fmla="val 1546"/>
            </a:avLst>
          </a:prstGeom>
          <a:solidFill>
            <a:srgbClr val="6C9BD2">
              <a:alpha val="85000"/>
            </a:srgbClr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2" name="a3_t0"/>
          <p:cNvSpPr/>
          <p:nvPr/>
        </p:nvSpPr>
        <p:spPr>
          <a:xfrm>
            <a:off x="1325880" y="2395728"/>
            <a:ext cx="6400800" cy="3108960"/>
          </a:xfrm>
          <a:prstGeom prst="blockArc">
            <a:avLst>
              <a:gd name="adj1" fmla="val 0"/>
              <a:gd name="adj2" fmla="val 10800000"/>
              <a:gd name="adj3" fmla="val 1137"/>
            </a:avLst>
          </a:prstGeom>
          <a:solidFill>
            <a:srgbClr val="F28E2B">
              <a:alpha val="90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a2_c1"/>
          <p:cNvSpPr/>
          <p:nvPr/>
        </p:nvSpPr>
        <p:spPr>
          <a:xfrm>
            <a:off x="1325880" y="2462022"/>
            <a:ext cx="4800600" cy="2976372"/>
          </a:xfrm>
          <a:prstGeom prst="blockArc">
            <a:avLst>
              <a:gd name="adj1" fmla="val 10800000"/>
              <a:gd name="adj2" fmla="val 21600000"/>
              <a:gd name="adj3" fmla="val 2611"/>
            </a:avLst>
          </a:prstGeom>
          <a:solidFill>
            <a:srgbClr val="6C9BD2">
              <a:alpha val="85000"/>
            </a:srgbClr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4" name="a3_t1"/>
          <p:cNvSpPr/>
          <p:nvPr/>
        </p:nvSpPr>
        <p:spPr>
          <a:xfrm>
            <a:off x="1325880" y="2462022"/>
            <a:ext cx="4800600" cy="2976372"/>
          </a:xfrm>
          <a:prstGeom prst="blockArc">
            <a:avLst>
              <a:gd name="adj1" fmla="val 0"/>
              <a:gd name="adj2" fmla="val 10800000"/>
              <a:gd name="adj3" fmla="val 4646"/>
            </a:avLst>
          </a:prstGeom>
          <a:solidFill>
            <a:srgbClr val="F28E2B">
              <a:alpha val="90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5" name="a2_c2"/>
          <p:cNvSpPr/>
          <p:nvPr/>
        </p:nvSpPr>
        <p:spPr>
          <a:xfrm>
            <a:off x="2926080" y="2462022"/>
            <a:ext cx="4800600" cy="2976372"/>
          </a:xfrm>
          <a:prstGeom prst="blockArc">
            <a:avLst>
              <a:gd name="adj1" fmla="val 10800000"/>
              <a:gd name="adj2" fmla="val 21600000"/>
              <a:gd name="adj3" fmla="val 938"/>
            </a:avLst>
          </a:prstGeom>
          <a:solidFill>
            <a:srgbClr val="6C9BD2">
              <a:alpha val="85000"/>
            </a:srgbClr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6" name="a3_t2"/>
          <p:cNvSpPr/>
          <p:nvPr/>
        </p:nvSpPr>
        <p:spPr>
          <a:xfrm>
            <a:off x="2926080" y="2462022"/>
            <a:ext cx="4800600" cy="2976372"/>
          </a:xfrm>
          <a:prstGeom prst="blockArc">
            <a:avLst>
              <a:gd name="adj1" fmla="val 0"/>
              <a:gd name="adj2" fmla="val 10800000"/>
              <a:gd name="adj3" fmla="val 846"/>
            </a:avLst>
          </a:prstGeom>
          <a:solidFill>
            <a:srgbClr val="F28E2B">
              <a:alpha val="90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7" name="a2_c3"/>
          <p:cNvSpPr/>
          <p:nvPr/>
        </p:nvSpPr>
        <p:spPr>
          <a:xfrm>
            <a:off x="1325880" y="2958084"/>
            <a:ext cx="3200400" cy="1984248"/>
          </a:xfrm>
          <a:prstGeom prst="blockArc">
            <a:avLst>
              <a:gd name="adj1" fmla="val 10800000"/>
              <a:gd name="adj2" fmla="val 21600000"/>
              <a:gd name="adj3" fmla="val 3172"/>
            </a:avLst>
          </a:prstGeom>
          <a:solidFill>
            <a:srgbClr val="6C9BD2">
              <a:alpha val="85000"/>
            </a:srgbClr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8" name="a3_t3"/>
          <p:cNvSpPr/>
          <p:nvPr/>
        </p:nvSpPr>
        <p:spPr>
          <a:xfrm>
            <a:off x="1325880" y="2958084"/>
            <a:ext cx="3200400" cy="1984248"/>
          </a:xfrm>
          <a:prstGeom prst="blockArc">
            <a:avLst>
              <a:gd name="adj1" fmla="val 0"/>
              <a:gd name="adj2" fmla="val 10800000"/>
              <a:gd name="adj3" fmla="val 5482"/>
            </a:avLst>
          </a:prstGeom>
          <a:solidFill>
            <a:srgbClr val="F28E2B">
              <a:alpha val="90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a2_c4"/>
          <p:cNvSpPr/>
          <p:nvPr/>
        </p:nvSpPr>
        <p:spPr>
          <a:xfrm>
            <a:off x="2926080" y="2958084"/>
            <a:ext cx="3200400" cy="1984248"/>
          </a:xfrm>
          <a:prstGeom prst="blockArc">
            <a:avLst>
              <a:gd name="adj1" fmla="val 10800000"/>
              <a:gd name="adj2" fmla="val 21600000"/>
              <a:gd name="adj3" fmla="val 3290"/>
            </a:avLst>
          </a:prstGeom>
          <a:solidFill>
            <a:srgbClr val="6C9BD2">
              <a:alpha val="85000"/>
            </a:srgbClr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20" name="a3_t4"/>
          <p:cNvSpPr/>
          <p:nvPr/>
        </p:nvSpPr>
        <p:spPr>
          <a:xfrm>
            <a:off x="2926080" y="2958084"/>
            <a:ext cx="3200400" cy="1984248"/>
          </a:xfrm>
          <a:prstGeom prst="blockArc">
            <a:avLst>
              <a:gd name="adj1" fmla="val 0"/>
              <a:gd name="adj2" fmla="val 10800000"/>
              <a:gd name="adj3" fmla="val 1816"/>
            </a:avLst>
          </a:prstGeom>
          <a:solidFill>
            <a:srgbClr val="F28E2B">
              <a:alpha val="90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1" name="a2_c5"/>
          <p:cNvSpPr/>
          <p:nvPr/>
        </p:nvSpPr>
        <p:spPr>
          <a:xfrm>
            <a:off x="1325880" y="3454146"/>
            <a:ext cx="1600200" cy="992124"/>
          </a:xfrm>
          <a:prstGeom prst="blockArc">
            <a:avLst>
              <a:gd name="adj1" fmla="val 10800000"/>
              <a:gd name="adj2" fmla="val 21600000"/>
              <a:gd name="adj3" fmla="val 15233"/>
            </a:avLst>
          </a:prstGeom>
          <a:solidFill>
            <a:srgbClr val="6C9BD2">
              <a:alpha val="85000"/>
            </a:srgbClr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22" name="a3_t5"/>
          <p:cNvSpPr/>
          <p:nvPr/>
        </p:nvSpPr>
        <p:spPr>
          <a:xfrm>
            <a:off x="1325880" y="3454146"/>
            <a:ext cx="1600200" cy="992124"/>
          </a:xfrm>
          <a:prstGeom prst="blockArc">
            <a:avLst>
              <a:gd name="adj1" fmla="val 0"/>
              <a:gd name="adj2" fmla="val 10800000"/>
              <a:gd name="adj3" fmla="val 35484"/>
            </a:avLst>
          </a:prstGeom>
          <a:solidFill>
            <a:srgbClr val="F28E2B">
              <a:alpha val="90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3" name="a2_c6"/>
          <p:cNvSpPr/>
          <p:nvPr/>
        </p:nvSpPr>
        <p:spPr>
          <a:xfrm>
            <a:off x="2926080" y="3454146"/>
            <a:ext cx="1600200" cy="992124"/>
          </a:xfrm>
          <a:prstGeom prst="blockArc">
            <a:avLst>
              <a:gd name="adj1" fmla="val 10800000"/>
              <a:gd name="adj2" fmla="val 21600000"/>
              <a:gd name="adj3" fmla="val 9511"/>
            </a:avLst>
          </a:prstGeom>
          <a:solidFill>
            <a:srgbClr val="6C9BD2">
              <a:alpha val="85000"/>
            </a:srgbClr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24" name="a3_t6"/>
          <p:cNvSpPr/>
          <p:nvPr/>
        </p:nvSpPr>
        <p:spPr>
          <a:xfrm>
            <a:off x="2926080" y="3454146"/>
            <a:ext cx="1600200" cy="992124"/>
          </a:xfrm>
          <a:prstGeom prst="blockArc">
            <a:avLst>
              <a:gd name="adj1" fmla="val 0"/>
              <a:gd name="adj2" fmla="val 10800000"/>
              <a:gd name="adj3" fmla="val 18446"/>
            </a:avLst>
          </a:prstGeom>
          <a:solidFill>
            <a:srgbClr val="F28E2B">
              <a:alpha val="90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5" name="a2_c7"/>
          <p:cNvSpPr/>
          <p:nvPr/>
        </p:nvSpPr>
        <p:spPr>
          <a:xfrm>
            <a:off x="4526280" y="3454146"/>
            <a:ext cx="1600200" cy="992124"/>
          </a:xfrm>
          <a:prstGeom prst="blockArc">
            <a:avLst>
              <a:gd name="adj1" fmla="val 10800000"/>
              <a:gd name="adj2" fmla="val 21600000"/>
              <a:gd name="adj3" fmla="val 14629"/>
            </a:avLst>
          </a:prstGeom>
          <a:solidFill>
            <a:srgbClr val="6C9BD2">
              <a:alpha val="85000"/>
            </a:srgbClr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26" name="a3_t7"/>
          <p:cNvSpPr/>
          <p:nvPr/>
        </p:nvSpPr>
        <p:spPr>
          <a:xfrm>
            <a:off x="4526280" y="3454146"/>
            <a:ext cx="1600200" cy="992124"/>
          </a:xfrm>
          <a:prstGeom prst="blockArc">
            <a:avLst>
              <a:gd name="adj1" fmla="val 0"/>
              <a:gd name="adj2" fmla="val 10800000"/>
              <a:gd name="adj3" fmla="val 14057"/>
            </a:avLst>
          </a:prstGeom>
          <a:solidFill>
            <a:srgbClr val="F28E2B">
              <a:alpha val="90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7" name="a1_lin"/>
          <p:cNvSpPr/>
          <p:nvPr/>
        </p:nvSpPr>
        <p:spPr>
          <a:xfrm>
            <a:off x="1325880" y="3950208"/>
            <a:ext cx="6400800" cy="0"/>
          </a:xfrm>
          <a:prstGeom prst="line">
            <a:avLst/>
          </a:prstGeom>
          <a:noFill/>
          <a:ln w="25400">
            <a:solidFill>
              <a:srgbClr val="2A3B57"/>
            </a:solidFill>
            <a:prstDash val="solid"/>
          </a:ln>
        </p:spPr>
      </p:sp>
      <p:sp>
        <p:nvSpPr>
          <p:cNvPr id="28" name="a1_n0"/>
          <p:cNvSpPr/>
          <p:nvPr/>
        </p:nvSpPr>
        <p:spPr>
          <a:xfrm>
            <a:off x="777240" y="3758184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25400">
            <a:solidFill>
              <a:srgbClr val="15233A"/>
            </a:solidFill>
            <a:prstDash val="solid"/>
          </a:ln>
        </p:spPr>
      </p:sp>
      <p:sp>
        <p:nvSpPr>
          <p:cNvPr id="29" name="a1_tx0"/>
          <p:cNvSpPr txBox="1"/>
          <p:nvPr/>
        </p:nvSpPr>
        <p:spPr>
          <a:xfrm>
            <a:off x="777240" y="3758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s-ES" sz="1200" dirty="0"/>
          </a:p>
        </p:txBody>
      </p:sp>
      <p:sp>
        <p:nvSpPr>
          <p:cNvPr id="30" name="a1_n1"/>
          <p:cNvSpPr/>
          <p:nvPr/>
        </p:nvSpPr>
        <p:spPr>
          <a:xfrm>
            <a:off x="2377440" y="3758184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5C6C"/>
          </a:solidFill>
          <a:ln w="25400">
            <a:solidFill>
              <a:srgbClr val="15233A"/>
            </a:solidFill>
            <a:prstDash val="solid"/>
          </a:ln>
        </p:spPr>
      </p:sp>
      <p:sp>
        <p:nvSpPr>
          <p:cNvPr id="31" name="a1_tx1"/>
          <p:cNvSpPr txBox="1"/>
          <p:nvPr/>
        </p:nvSpPr>
        <p:spPr>
          <a:xfrm>
            <a:off x="2377440" y="3758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step_1</a:t>
            </a:r>
            <a:endParaRPr lang="es-ES" sz="1200" dirty="0"/>
          </a:p>
        </p:txBody>
      </p:sp>
      <p:sp>
        <p:nvSpPr>
          <p:cNvPr id="32" name="a1_n2"/>
          <p:cNvSpPr/>
          <p:nvPr/>
        </p:nvSpPr>
        <p:spPr>
          <a:xfrm>
            <a:off x="3977640" y="3758184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25400">
            <a:solidFill>
              <a:srgbClr val="15233A"/>
            </a:solidFill>
            <a:prstDash val="solid"/>
          </a:ln>
        </p:spPr>
      </p:sp>
      <p:sp>
        <p:nvSpPr>
          <p:cNvPr id="33" name="a1_tx2"/>
          <p:cNvSpPr txBox="1"/>
          <p:nvPr/>
        </p:nvSpPr>
        <p:spPr>
          <a:xfrm>
            <a:off x="3977640" y="3758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step_2</a:t>
            </a:r>
            <a:endParaRPr lang="es-ES" sz="1200" dirty="0"/>
          </a:p>
        </p:txBody>
      </p:sp>
      <p:sp>
        <p:nvSpPr>
          <p:cNvPr id="34" name="a1_n3"/>
          <p:cNvSpPr/>
          <p:nvPr/>
        </p:nvSpPr>
        <p:spPr>
          <a:xfrm>
            <a:off x="5577840" y="3758184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25400">
            <a:solidFill>
              <a:srgbClr val="15233A"/>
            </a:solidFill>
            <a:prstDash val="solid"/>
          </a:ln>
        </p:spPr>
      </p:sp>
      <p:sp>
        <p:nvSpPr>
          <p:cNvPr id="35" name="a1_tx3"/>
          <p:cNvSpPr txBox="1"/>
          <p:nvPr/>
        </p:nvSpPr>
        <p:spPr>
          <a:xfrm>
            <a:off x="5577840" y="3758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step_3</a:t>
            </a:r>
            <a:endParaRPr lang="es-ES" sz="1200" dirty="0"/>
          </a:p>
        </p:txBody>
      </p:sp>
      <p:sp>
        <p:nvSpPr>
          <p:cNvPr id="36" name="a1_n4"/>
          <p:cNvSpPr/>
          <p:nvPr/>
        </p:nvSpPr>
        <p:spPr>
          <a:xfrm>
            <a:off x="7178040" y="3758184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25400">
            <a:solidFill>
              <a:srgbClr val="15233A"/>
            </a:solidFill>
            <a:prstDash val="solid"/>
          </a:ln>
        </p:spPr>
      </p:sp>
      <p:sp>
        <p:nvSpPr>
          <p:cNvPr id="37" name="a1_tx4"/>
          <p:cNvSpPr txBox="1"/>
          <p:nvPr/>
        </p:nvSpPr>
        <p:spPr>
          <a:xfrm>
            <a:off x="7178040" y="3758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</a:t>
            </a:r>
            <a:endParaRPr lang="es-ES" sz="1200" dirty="0"/>
          </a:p>
        </p:txBody>
      </p:sp>
      <p:sp>
        <p:nvSpPr>
          <p:cNvPr id="38" name="a2_lc"/>
          <p:cNvSpPr txBox="1"/>
          <p:nvPr/>
        </p:nvSpPr>
        <p:spPr>
          <a:xfrm>
            <a:off x="8229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6C9B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· vueltas por encima</a:t>
            </a:r>
            <a:endParaRPr lang="es-ES" sz="1300" dirty="0"/>
          </a:p>
        </p:txBody>
      </p:sp>
      <p:sp>
        <p:nvSpPr>
          <p:cNvPr id="39" name="a3_lt"/>
          <p:cNvSpPr txBox="1"/>
          <p:nvPr/>
        </p:nvSpPr>
        <p:spPr>
          <a:xfrm>
            <a:off x="82296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· vueltas por debajo</a:t>
            </a:r>
            <a:endParaRPr lang="es-ES" sz="1300" dirty="0"/>
          </a:p>
        </p:txBody>
      </p:sp>
      <p:sp>
        <p:nvSpPr>
          <p:cNvPr id="40" name="a2_e1"/>
          <p:cNvSpPr txBox="1"/>
          <p:nvPr/>
        </p:nvSpPr>
        <p:spPr>
          <a:xfrm>
            <a:off x="1417320" y="3154680"/>
            <a:ext cx="1508760" cy="274320"/>
          </a:xfrm>
          <a:prstGeom prst="rect">
            <a:avLst/>
          </a:prstGeom>
          <a:solidFill>
            <a:srgbClr val="152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100" b="1" dirty="0">
                <a:solidFill>
                  <a:srgbClr val="6C9B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step_1 → start: 2.500</a:t>
            </a:r>
            <a:endParaRPr lang="es-ES" sz="1100" dirty="0"/>
          </a:p>
        </p:txBody>
      </p:sp>
      <p:sp>
        <p:nvSpPr>
          <p:cNvPr id="41" name="a3_e1"/>
          <p:cNvSpPr txBox="1"/>
          <p:nvPr/>
        </p:nvSpPr>
        <p:spPr>
          <a:xfrm>
            <a:off x="1417320" y="4617720"/>
            <a:ext cx="1508760" cy="274320"/>
          </a:xfrm>
          <a:prstGeom prst="rect">
            <a:avLst/>
          </a:prstGeom>
          <a:solidFill>
            <a:srgbClr val="152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100" b="1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step_1 → start: 6.400</a:t>
            </a:r>
            <a:endParaRPr lang="es-ES" sz="1100" dirty="0"/>
          </a:p>
        </p:txBody>
      </p:sp>
      <p:sp>
        <p:nvSpPr>
          <p:cNvPr id="42" name="a4_c"/>
          <p:cNvSpPr/>
          <p:nvPr/>
        </p:nvSpPr>
        <p:spPr>
          <a:xfrm>
            <a:off x="8595360" y="1783080"/>
            <a:ext cx="3044952" cy="1344168"/>
          </a:xfrm>
          <a:prstGeom prst="roundRect">
            <a:avLst>
              <a:gd name="adj" fmla="val 1224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43" name="a4_n"/>
          <p:cNvSpPr txBox="1"/>
          <p:nvPr/>
        </p:nvSpPr>
        <p:spPr>
          <a:xfrm>
            <a:off x="8823960" y="190195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800" b="1" dirty="0">
                <a:solidFill>
                  <a:srgbClr val="FF5C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del doble</a:t>
            </a:r>
            <a:endParaRPr lang="es-ES" sz="2800" dirty="0"/>
          </a:p>
        </p:txBody>
      </p:sp>
      <p:sp>
        <p:nvSpPr>
          <p:cNvPr id="44" name="a4_l"/>
          <p:cNvSpPr txBox="1"/>
          <p:nvPr/>
        </p:nvSpPr>
        <p:spPr>
          <a:xfrm>
            <a:off x="8823960" y="24963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vueltas de step_1 a start con el diseño nuevo</a:t>
            </a:r>
            <a:endParaRPr lang="es-ES" sz="1300" dirty="0"/>
          </a:p>
        </p:txBody>
      </p:sp>
      <p:sp>
        <p:nvSpPr>
          <p:cNvPr id="45" name="a4_c"/>
          <p:cNvSpPr/>
          <p:nvPr/>
        </p:nvSpPr>
        <p:spPr>
          <a:xfrm>
            <a:off x="8595360" y="3291840"/>
            <a:ext cx="3044952" cy="1344168"/>
          </a:xfrm>
          <a:prstGeom prst="roundRect">
            <a:avLst>
              <a:gd name="adj" fmla="val 1224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46" name="a4_n"/>
          <p:cNvSpPr txBox="1"/>
          <p:nvPr/>
        </p:nvSpPr>
        <p:spPr>
          <a:xfrm>
            <a:off x="8823960" y="34107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800" b="1" dirty="0">
                <a:solidFill>
                  <a:srgbClr val="FF5C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 s</a:t>
            </a:r>
            <a:endParaRPr lang="es-ES" sz="2800" dirty="0"/>
          </a:p>
        </p:txBody>
      </p:sp>
      <p:sp>
        <p:nvSpPr>
          <p:cNvPr id="47" name="a4_l"/>
          <p:cNvSpPr txBox="1"/>
          <p:nvPr/>
        </p:nvSpPr>
        <p:spPr>
          <a:xfrm>
            <a:off x="8823960" y="400507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step_1 frente a 20 s: el único paso más lento</a:t>
            </a:r>
            <a:endParaRPr lang="es-ES" sz="1300" dirty="0"/>
          </a:p>
        </p:txBody>
      </p:sp>
      <p:sp>
        <p:nvSpPr>
          <p:cNvPr id="48" name="a5_c"/>
          <p:cNvSpPr/>
          <p:nvPr/>
        </p:nvSpPr>
        <p:spPr>
          <a:xfrm>
            <a:off x="8595360" y="4800600"/>
            <a:ext cx="3044952" cy="1344168"/>
          </a:xfrm>
          <a:prstGeom prst="roundRect">
            <a:avLst>
              <a:gd name="adj" fmla="val 1224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49" name="a5_n"/>
          <p:cNvSpPr txBox="1"/>
          <p:nvPr/>
        </p:nvSpPr>
        <p:spPr>
          <a:xfrm>
            <a:off x="8823960" y="491947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8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s menos</a:t>
            </a:r>
            <a:endParaRPr lang="es-ES" sz="2800" dirty="0"/>
          </a:p>
        </p:txBody>
      </p:sp>
      <p:sp>
        <p:nvSpPr>
          <p:cNvPr id="50" name="a5_l"/>
          <p:cNvSpPr txBox="1"/>
          <p:nvPr/>
        </p:nvSpPr>
        <p:spPr>
          <a:xfrm>
            <a:off x="8823960" y="551383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terminar el proceso: en conjunto, el Test es más rápido</a:t>
            </a:r>
            <a:endParaRPr lang="es-E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11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2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0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3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6" grpId="0" animBg="1"/>
      <p:bldP spid="47" grpId="0" animBg="1"/>
      <p:bldP spid="49" grpId="0" animBg="1"/>
      <p:bldP spid="5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D97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3519" y="347472"/>
            <a:ext cx="219456" cy="219456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D9761A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8" name="a1_paso"/>
          <p:cNvSpPr txBox="1"/>
          <p:nvPr/>
        </p:nvSpPr>
        <p:spPr>
          <a:xfrm>
            <a:off x="457200" y="1097280"/>
            <a:ext cx="11430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0" b="1" dirty="0">
                <a:solidFill>
                  <a:srgbClr val="FFB4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step_3</a:t>
            </a:r>
            <a:endParaRPr lang="es-ES" sz="15000" dirty="0"/>
          </a:p>
        </p:txBody>
      </p:sp>
      <p:sp>
        <p:nvSpPr>
          <p:cNvPr id="9" name="a2_eti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spc="300" kern="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4 DE 5 · ¿ES REAL?</a:t>
            </a:r>
            <a:endParaRPr lang="es-ES" sz="1500" dirty="0"/>
          </a:p>
        </p:txBody>
      </p:sp>
      <p:sp>
        <p:nvSpPr>
          <p:cNvPr id="10" name="a2_q"/>
          <p:cNvSpPr txBox="1"/>
          <p:nvPr/>
        </p:nvSpPr>
        <p:spPr>
          <a:xfrm>
            <a:off x="548640" y="4343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44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¿Es real… y es suficiente?</a:t>
            </a:r>
            <a:endParaRPr lang="es-E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B1424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12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Real, sí. Suficiente, no está demostrado.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351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STEP_3 · ¿ES REAL?</a:t>
            </a:r>
            <a:endParaRPr lang="es-ES" sz="1200" dirty="0"/>
          </a:p>
        </p:txBody>
      </p:sp>
      <p:sp>
        <p:nvSpPr>
          <p:cNvPr id="10" name="a1_fg"/>
          <p:cNvSpPr/>
          <p:nvPr/>
        </p:nvSpPr>
        <p:spPr>
          <a:xfrm>
            <a:off x="548640" y="1783080"/>
            <a:ext cx="7223760" cy="4343400"/>
          </a:xfrm>
          <a:prstGeom prst="roundRect">
            <a:avLst>
              <a:gd name="adj" fmla="val 3789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1" name="a1_cap"/>
          <p:cNvSpPr txBox="1"/>
          <p:nvPr/>
        </p:nvSpPr>
        <p:spPr>
          <a:xfrm>
            <a:off x="868680" y="19659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 del Test, en puntos, con su margen de error · t de Welch, α = 0,05</a:t>
            </a:r>
            <a:endParaRPr lang="es-ES" sz="1400" dirty="0"/>
          </a:p>
        </p:txBody>
      </p:sp>
      <p:sp>
        <p:nvSpPr>
          <p:cNvPr id="12" name="a1_eje"/>
          <p:cNvSpPr/>
          <p:nvPr/>
        </p:nvSpPr>
        <p:spPr>
          <a:xfrm>
            <a:off x="1143000" y="4572000"/>
            <a:ext cx="5943600" cy="0"/>
          </a:xfrm>
          <a:prstGeom prst="line">
            <a:avLst/>
          </a:prstGeom>
          <a:noFill/>
          <a:ln w="25400">
            <a:solidFill>
              <a:srgbClr val="2A3B57"/>
            </a:solidFill>
            <a:prstDash val="solid"/>
          </a:ln>
        </p:spPr>
      </p:sp>
      <p:sp>
        <p:nvSpPr>
          <p:cNvPr id="13" name="a1_tl0"/>
          <p:cNvSpPr txBox="1"/>
          <p:nvPr/>
        </p:nvSpPr>
        <p:spPr>
          <a:xfrm>
            <a:off x="86868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s-ES" sz="1200" dirty="0"/>
          </a:p>
        </p:txBody>
      </p:sp>
      <p:sp>
        <p:nvSpPr>
          <p:cNvPr id="14" name="a1_tl1"/>
          <p:cNvSpPr txBox="1"/>
          <p:nvPr/>
        </p:nvSpPr>
        <p:spPr>
          <a:xfrm>
            <a:off x="185928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s-ES" sz="1200" dirty="0"/>
          </a:p>
        </p:txBody>
      </p:sp>
      <p:sp>
        <p:nvSpPr>
          <p:cNvPr id="15" name="a1_tl2"/>
          <p:cNvSpPr txBox="1"/>
          <p:nvPr/>
        </p:nvSpPr>
        <p:spPr>
          <a:xfrm>
            <a:off x="284988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s-ES" sz="1200" dirty="0"/>
          </a:p>
        </p:txBody>
      </p:sp>
      <p:sp>
        <p:nvSpPr>
          <p:cNvPr id="16" name="a1_tl3"/>
          <p:cNvSpPr txBox="1"/>
          <p:nvPr/>
        </p:nvSpPr>
        <p:spPr>
          <a:xfrm>
            <a:off x="384048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s-ES" sz="1200" dirty="0"/>
          </a:p>
        </p:txBody>
      </p:sp>
      <p:sp>
        <p:nvSpPr>
          <p:cNvPr id="17" name="a1_tl4"/>
          <p:cNvSpPr txBox="1"/>
          <p:nvPr/>
        </p:nvSpPr>
        <p:spPr>
          <a:xfrm>
            <a:off x="483108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s-ES" sz="1200" dirty="0"/>
          </a:p>
        </p:txBody>
      </p:sp>
      <p:sp>
        <p:nvSpPr>
          <p:cNvPr id="18" name="a1_tl5"/>
          <p:cNvSpPr txBox="1"/>
          <p:nvPr/>
        </p:nvSpPr>
        <p:spPr>
          <a:xfrm>
            <a:off x="582168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s-ES" sz="1200" dirty="0"/>
          </a:p>
        </p:txBody>
      </p:sp>
      <p:sp>
        <p:nvSpPr>
          <p:cNvPr id="19" name="a1_tl6"/>
          <p:cNvSpPr txBox="1"/>
          <p:nvPr/>
        </p:nvSpPr>
        <p:spPr>
          <a:xfrm>
            <a:off x="6812280" y="4681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s-ES" sz="1200" dirty="0"/>
          </a:p>
        </p:txBody>
      </p:sp>
      <p:sp>
        <p:nvSpPr>
          <p:cNvPr id="20" name="a3_l"/>
          <p:cNvSpPr/>
          <p:nvPr/>
        </p:nvSpPr>
        <p:spPr>
          <a:xfrm>
            <a:off x="1143000" y="2560320"/>
            <a:ext cx="0" cy="2011680"/>
          </a:xfrm>
          <a:prstGeom prst="line">
            <a:avLst/>
          </a:prstGeom>
          <a:noFill/>
          <a:ln w="25400">
            <a:solidFill>
              <a:srgbClr val="6B7C96"/>
            </a:solidFill>
            <a:prstDash val="dash"/>
          </a:ln>
        </p:spPr>
      </p:sp>
      <p:sp>
        <p:nvSpPr>
          <p:cNvPr id="21" name="a3_t"/>
          <p:cNvSpPr txBox="1"/>
          <p:nvPr/>
        </p:nvSpPr>
        <p:spPr>
          <a:xfrm>
            <a:off x="274320" y="5029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· sin mejora</a:t>
            </a:r>
            <a:endParaRPr lang="es-ES" sz="1200" dirty="0"/>
          </a:p>
        </p:txBody>
      </p:sp>
      <p:sp>
        <p:nvSpPr>
          <p:cNvPr id="22" name="a4_l"/>
          <p:cNvSpPr/>
          <p:nvPr/>
        </p:nvSpPr>
        <p:spPr>
          <a:xfrm>
            <a:off x="4392168" y="2560320"/>
            <a:ext cx="0" cy="2011680"/>
          </a:xfrm>
          <a:prstGeom prst="line">
            <a:avLst/>
          </a:prstGeom>
          <a:noFill/>
          <a:ln w="25400">
            <a:solidFill>
              <a:srgbClr val="F5F7FA"/>
            </a:solidFill>
            <a:prstDash val="dash"/>
          </a:ln>
        </p:spPr>
      </p:sp>
      <p:sp>
        <p:nvSpPr>
          <p:cNvPr id="23" name="a4_t"/>
          <p:cNvSpPr txBox="1"/>
          <p:nvPr/>
        </p:nvSpPr>
        <p:spPr>
          <a:xfrm>
            <a:off x="3523488" y="5029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 · 5 % relativo</a:t>
            </a:r>
            <a:endParaRPr lang="es-ES" sz="1200" dirty="0"/>
          </a:p>
        </p:txBody>
      </p:sp>
      <p:sp>
        <p:nvSpPr>
          <p:cNvPr id="24" name="a5_l"/>
          <p:cNvSpPr/>
          <p:nvPr/>
        </p:nvSpPr>
        <p:spPr>
          <a:xfrm>
            <a:off x="6096000" y="2560320"/>
            <a:ext cx="0" cy="2011680"/>
          </a:xfrm>
          <a:prstGeom prst="line">
            <a:avLst/>
          </a:prstGeom>
          <a:noFill/>
          <a:ln w="25400">
            <a:solidFill>
              <a:srgbClr val="FF5C6C"/>
            </a:solidFill>
            <a:prstDash val="dash"/>
          </a:ln>
        </p:spPr>
      </p:sp>
      <p:sp>
        <p:nvSpPr>
          <p:cNvPr id="25" name="a5_t"/>
          <p:cNvSpPr txBox="1"/>
          <p:nvPr/>
        </p:nvSpPr>
        <p:spPr>
          <a:xfrm>
            <a:off x="5227320" y="5029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FF5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5 puntos</a:t>
            </a:r>
            <a:endParaRPr lang="es-ES" sz="1200" dirty="0"/>
          </a:p>
        </p:txBody>
      </p:sp>
      <p:sp>
        <p:nvSpPr>
          <p:cNvPr id="26" name="a2_ic"/>
          <p:cNvSpPr/>
          <p:nvPr/>
        </p:nvSpPr>
        <p:spPr>
          <a:xfrm>
            <a:off x="4015740" y="3675888"/>
            <a:ext cx="1584960" cy="256032"/>
          </a:xfrm>
          <a:prstGeom prst="roundRect">
            <a:avLst>
              <a:gd name="adj" fmla="val 50000"/>
            </a:avLst>
          </a:prstGeom>
          <a:solidFill>
            <a:srgbClr val="F28E2B">
              <a:alpha val="50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7" name="a2_pt"/>
          <p:cNvSpPr/>
          <p:nvPr/>
        </p:nvSpPr>
        <p:spPr>
          <a:xfrm>
            <a:off x="4616196" y="3611880"/>
            <a:ext cx="384048" cy="384048"/>
          </a:xfrm>
          <a:prstGeom prst="ellipse">
            <a:avLst/>
          </a:prstGeom>
          <a:solidFill>
            <a:srgbClr val="F28E2B"/>
          </a:solidFill>
          <a:ln w="25400">
            <a:solidFill>
              <a:srgbClr val="15233A"/>
            </a:solidFill>
            <a:prstDash val="solid"/>
          </a:ln>
        </p:spPr>
      </p:sp>
      <p:sp>
        <p:nvSpPr>
          <p:cNvPr id="28" name="a2_lab"/>
          <p:cNvSpPr txBox="1"/>
          <p:nvPr/>
        </p:nvSpPr>
        <p:spPr>
          <a:xfrm>
            <a:off x="3573780" y="3063240"/>
            <a:ext cx="2468880" cy="384048"/>
          </a:xfrm>
          <a:prstGeom prst="rect">
            <a:avLst/>
          </a:prstGeom>
          <a:solidFill>
            <a:srgbClr val="152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+3,7 (entre 2,9 y 4,5)</a:t>
            </a:r>
            <a:endParaRPr lang="es-ES" sz="1500" dirty="0"/>
          </a:p>
        </p:txBody>
      </p:sp>
      <p:sp>
        <p:nvSpPr>
          <p:cNvPr id="29" name="a3_v"/>
          <p:cNvSpPr/>
          <p:nvPr/>
        </p:nvSpPr>
        <p:spPr>
          <a:xfrm>
            <a:off x="8001000" y="1783080"/>
            <a:ext cx="3639312" cy="1344168"/>
          </a:xfrm>
          <a:prstGeom prst="roundRect">
            <a:avLst>
              <a:gd name="adj" fmla="val 1224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pic>
        <p:nvPicPr>
          <p:cNvPr id="30" name="a3_v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29968"/>
            <a:ext cx="411480" cy="411480"/>
          </a:xfrm>
          <a:prstGeom prst="rect">
            <a:avLst/>
          </a:prstGeom>
        </p:spPr>
      </p:pic>
      <p:sp>
        <p:nvSpPr>
          <p:cNvPr id="31" name="a3_vq"/>
          <p:cNvSpPr txBox="1"/>
          <p:nvPr/>
        </p:nvSpPr>
        <p:spPr>
          <a:xfrm>
            <a:off x="877824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· ¿completa más?</a:t>
            </a:r>
            <a:endParaRPr lang="es-ES" sz="1300" dirty="0"/>
          </a:p>
        </p:txBody>
      </p:sp>
      <p:sp>
        <p:nvSpPr>
          <p:cNvPr id="32" name="a3_vr"/>
          <p:cNvSpPr txBox="1"/>
          <p:nvPr/>
        </p:nvSpPr>
        <p:spPr>
          <a:xfrm>
            <a:off x="877824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900" b="1" dirty="0">
                <a:solidFill>
                  <a:srgbClr val="3DD6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Sí, y no es azar</a:t>
            </a:r>
            <a:endParaRPr lang="es-ES" sz="1900" dirty="0"/>
          </a:p>
        </p:txBody>
      </p:sp>
      <p:sp>
        <p:nvSpPr>
          <p:cNvPr id="33" name="a3_vp"/>
          <p:cNvSpPr txBox="1"/>
          <p:nvPr/>
        </p:nvSpPr>
        <p:spPr>
          <a:xfrm>
            <a:off x="8778240" y="2697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&lt; 0,0001 · lejos del 0</a:t>
            </a:r>
            <a:endParaRPr lang="es-ES" sz="1200" dirty="0"/>
          </a:p>
        </p:txBody>
      </p:sp>
      <p:sp>
        <p:nvSpPr>
          <p:cNvPr id="34" name="a4_v"/>
          <p:cNvSpPr/>
          <p:nvPr/>
        </p:nvSpPr>
        <p:spPr>
          <a:xfrm>
            <a:off x="8001000" y="3291840"/>
            <a:ext cx="3639312" cy="1344168"/>
          </a:xfrm>
          <a:prstGeom prst="roundRect">
            <a:avLst>
              <a:gd name="adj" fmla="val 1224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pic>
        <p:nvPicPr>
          <p:cNvPr id="35" name="a4_v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538728"/>
            <a:ext cx="411480" cy="411480"/>
          </a:xfrm>
          <a:prstGeom prst="rect">
            <a:avLst/>
          </a:prstGeom>
        </p:spPr>
      </p:pic>
      <p:sp>
        <p:nvSpPr>
          <p:cNvPr id="36" name="a4_vq"/>
          <p:cNvSpPr txBox="1"/>
          <p:nvPr/>
        </p:nvSpPr>
        <p:spPr>
          <a:xfrm>
            <a:off x="87782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 · ¿+5 % relativo?</a:t>
            </a:r>
            <a:endParaRPr lang="es-ES" sz="1300" dirty="0"/>
          </a:p>
        </p:txBody>
      </p:sp>
      <p:sp>
        <p:nvSpPr>
          <p:cNvPr id="37" name="a4_vr"/>
          <p:cNvSpPr txBox="1"/>
          <p:nvPr/>
        </p:nvSpPr>
        <p:spPr>
          <a:xfrm>
            <a:off x="8778240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9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demostrado</a:t>
            </a:r>
            <a:endParaRPr lang="es-ES" sz="1900" dirty="0"/>
          </a:p>
        </p:txBody>
      </p:sp>
      <p:sp>
        <p:nvSpPr>
          <p:cNvPr id="38" name="a4_vp"/>
          <p:cNvSpPr txBox="1"/>
          <p:nvPr/>
        </p:nvSpPr>
        <p:spPr>
          <a:xfrm>
            <a:off x="8778240" y="4206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= 0,16 · el margen cruza el 3,3</a:t>
            </a:r>
            <a:endParaRPr lang="es-ES" sz="1200" dirty="0"/>
          </a:p>
        </p:txBody>
      </p:sp>
      <p:sp>
        <p:nvSpPr>
          <p:cNvPr id="39" name="a5_v"/>
          <p:cNvSpPr/>
          <p:nvPr/>
        </p:nvSpPr>
        <p:spPr>
          <a:xfrm>
            <a:off x="8001000" y="4800600"/>
            <a:ext cx="3639312" cy="1344168"/>
          </a:xfrm>
          <a:prstGeom prst="roundRect">
            <a:avLst>
              <a:gd name="adj" fmla="val 1224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pic>
        <p:nvPicPr>
          <p:cNvPr id="40" name="a5_v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047488"/>
            <a:ext cx="411480" cy="411480"/>
          </a:xfrm>
          <a:prstGeom prst="rect">
            <a:avLst/>
          </a:prstGeom>
        </p:spPr>
      </p:pic>
      <p:sp>
        <p:nvSpPr>
          <p:cNvPr id="41" name="a5_vq"/>
          <p:cNvSpPr txBox="1"/>
          <p:nvPr/>
        </p:nvSpPr>
        <p:spPr>
          <a:xfrm>
            <a:off x="877824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 · ¿+5 puntos?</a:t>
            </a:r>
            <a:endParaRPr lang="es-ES" sz="1300" dirty="0"/>
          </a:p>
        </p:txBody>
      </p:sp>
      <p:sp>
        <p:nvSpPr>
          <p:cNvPr id="42" name="a5_vr"/>
          <p:cNvSpPr txBox="1"/>
          <p:nvPr/>
        </p:nvSpPr>
        <p:spPr>
          <a:xfrm>
            <a:off x="8778240" y="5303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900" b="1" dirty="0">
                <a:solidFill>
                  <a:srgbClr val="FF5C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llega</a:t>
            </a:r>
            <a:endParaRPr lang="es-ES" sz="1900" dirty="0"/>
          </a:p>
        </p:txBody>
      </p:sp>
      <p:sp>
        <p:nvSpPr>
          <p:cNvPr id="43" name="a5_vp"/>
          <p:cNvSpPr txBox="1"/>
          <p:nvPr/>
        </p:nvSpPr>
        <p:spPr>
          <a:xfrm>
            <a:off x="8778240" y="5715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≈ 1 · todo por debajo del 5</a:t>
            </a:r>
            <a:endParaRPr lang="es-E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13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25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3" grpId="0" animBg="1"/>
      <p:bldP spid="25" grpId="0" animBg="1"/>
      <p:bldP spid="28" grpId="0" animBg="1"/>
      <p:bldP spid="31" grpId="0" animBg="1"/>
      <p:bldP spid="32" grpId="0" animBg="1"/>
      <p:bldP spid="33" grpId="0" animBg="1"/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¿A quién ayuda y a quién confunde?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351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STEP_3 · ¿ES REAL?</a:t>
            </a:r>
            <a:endParaRPr lang="es-ES" sz="1200" dirty="0"/>
          </a:p>
        </p:txBody>
      </p:sp>
      <p:sp>
        <p:nvSpPr>
          <p:cNvPr id="10" name="a1_fg"/>
          <p:cNvSpPr/>
          <p:nvPr/>
        </p:nvSpPr>
        <p:spPr>
          <a:xfrm>
            <a:off x="548640" y="1783080"/>
            <a:ext cx="7589520" cy="4343400"/>
          </a:xfrm>
          <a:prstGeom prst="roundRect">
            <a:avLst>
              <a:gd name="adj" fmla="val 3789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1" name="a1_ex"/>
          <p:cNvSpPr/>
          <p:nvPr/>
        </p:nvSpPr>
        <p:spPr>
          <a:xfrm>
            <a:off x="1417320" y="5486400"/>
            <a:ext cx="630936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12" name="a1_ey"/>
          <p:cNvSpPr/>
          <p:nvPr/>
        </p:nvSpPr>
        <p:spPr>
          <a:xfrm>
            <a:off x="1417320" y="2148840"/>
            <a:ext cx="0" cy="333756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13" name="a1_mx"/>
          <p:cNvSpPr/>
          <p:nvPr/>
        </p:nvSpPr>
        <p:spPr>
          <a:xfrm>
            <a:off x="4572000" y="2148840"/>
            <a:ext cx="0" cy="3337560"/>
          </a:xfrm>
          <a:prstGeom prst="line">
            <a:avLst/>
          </a:prstGeom>
          <a:noFill/>
          <a:ln w="12700">
            <a:solidFill>
              <a:srgbClr val="2A3B57"/>
            </a:solidFill>
            <a:prstDash val="dash"/>
          </a:ln>
        </p:spPr>
      </p:sp>
      <p:sp>
        <p:nvSpPr>
          <p:cNvPr id="14" name="a1_my"/>
          <p:cNvSpPr/>
          <p:nvPr/>
        </p:nvSpPr>
        <p:spPr>
          <a:xfrm>
            <a:off x="1417320" y="3817620"/>
            <a:ext cx="6309360" cy="0"/>
          </a:xfrm>
          <a:prstGeom prst="line">
            <a:avLst/>
          </a:prstGeom>
          <a:noFill/>
          <a:ln w="12700">
            <a:solidFill>
              <a:srgbClr val="2A3B57"/>
            </a:solidFill>
            <a:prstDash val="dash"/>
          </a:ln>
        </p:spPr>
      </p:sp>
      <p:sp>
        <p:nvSpPr>
          <p:cNvPr id="15" name="a1_xt0"/>
          <p:cNvSpPr txBox="1"/>
          <p:nvPr/>
        </p:nvSpPr>
        <p:spPr>
          <a:xfrm>
            <a:off x="1143000" y="55412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1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</a:t>
            </a:r>
            <a:endParaRPr lang="es-ES" sz="1100" dirty="0"/>
          </a:p>
        </p:txBody>
      </p:sp>
      <p:sp>
        <p:nvSpPr>
          <p:cNvPr id="16" name="a1_xt2"/>
          <p:cNvSpPr txBox="1"/>
          <p:nvPr/>
        </p:nvSpPr>
        <p:spPr>
          <a:xfrm>
            <a:off x="2720340" y="55412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1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</a:t>
            </a:r>
            <a:endParaRPr lang="es-ES" sz="1100" dirty="0"/>
          </a:p>
        </p:txBody>
      </p:sp>
      <p:sp>
        <p:nvSpPr>
          <p:cNvPr id="17" name="a1_xt4"/>
          <p:cNvSpPr txBox="1"/>
          <p:nvPr/>
        </p:nvSpPr>
        <p:spPr>
          <a:xfrm>
            <a:off x="4297680" y="55412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1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</a:t>
            </a:r>
            <a:endParaRPr lang="es-ES" sz="1100" dirty="0"/>
          </a:p>
        </p:txBody>
      </p:sp>
      <p:sp>
        <p:nvSpPr>
          <p:cNvPr id="18" name="a1_xt6"/>
          <p:cNvSpPr txBox="1"/>
          <p:nvPr/>
        </p:nvSpPr>
        <p:spPr>
          <a:xfrm>
            <a:off x="5875020" y="55412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1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</a:t>
            </a:r>
            <a:endParaRPr lang="es-ES" sz="1100" dirty="0"/>
          </a:p>
        </p:txBody>
      </p:sp>
      <p:sp>
        <p:nvSpPr>
          <p:cNvPr id="19" name="a1_xt8"/>
          <p:cNvSpPr txBox="1"/>
          <p:nvPr/>
        </p:nvSpPr>
        <p:spPr>
          <a:xfrm>
            <a:off x="7452360" y="55412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1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</a:t>
            </a:r>
            <a:endParaRPr lang="es-ES" sz="1100" dirty="0"/>
          </a:p>
        </p:txBody>
      </p:sp>
      <p:sp>
        <p:nvSpPr>
          <p:cNvPr id="20" name="a1_yt0"/>
          <p:cNvSpPr txBox="1"/>
          <p:nvPr/>
        </p:nvSpPr>
        <p:spPr>
          <a:xfrm>
            <a:off x="914400" y="53583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sz="11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</a:t>
            </a:r>
            <a:endParaRPr lang="es-ES" sz="1100" dirty="0"/>
          </a:p>
        </p:txBody>
      </p:sp>
      <p:sp>
        <p:nvSpPr>
          <p:cNvPr id="21" name="a1_yt4"/>
          <p:cNvSpPr txBox="1"/>
          <p:nvPr/>
        </p:nvSpPr>
        <p:spPr>
          <a:xfrm>
            <a:off x="914400" y="4404795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sz="11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</a:t>
            </a:r>
            <a:endParaRPr lang="es-ES" sz="1100" dirty="0"/>
          </a:p>
        </p:txBody>
      </p:sp>
      <p:sp>
        <p:nvSpPr>
          <p:cNvPr id="22" name="a1_yt8"/>
          <p:cNvSpPr txBox="1"/>
          <p:nvPr/>
        </p:nvSpPr>
        <p:spPr>
          <a:xfrm>
            <a:off x="914400" y="3451207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sz="11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</a:t>
            </a:r>
            <a:endParaRPr lang="es-ES" sz="1100" dirty="0"/>
          </a:p>
        </p:txBody>
      </p:sp>
      <p:sp>
        <p:nvSpPr>
          <p:cNvPr id="23" name="a1_yt12"/>
          <p:cNvSpPr txBox="1"/>
          <p:nvPr/>
        </p:nvSpPr>
        <p:spPr>
          <a:xfrm>
            <a:off x="914400" y="249761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sz="11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</a:t>
            </a:r>
            <a:endParaRPr lang="es-ES" sz="1100" dirty="0"/>
          </a:p>
        </p:txBody>
      </p:sp>
      <p:sp>
        <p:nvSpPr>
          <p:cNvPr id="24" name="a1_xl"/>
          <p:cNvSpPr txBox="1"/>
          <p:nvPr/>
        </p:nvSpPr>
        <p:spPr>
          <a:xfrm>
            <a:off x="3108960" y="5788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Ventaja en finalización (puntos) →</a:t>
            </a:r>
            <a:endParaRPr lang="es-ES" sz="1200" dirty="0"/>
          </a:p>
        </p:txBody>
      </p:sp>
      <p:sp>
        <p:nvSpPr>
          <p:cNvPr id="25" name="a1_yl"/>
          <p:cNvSpPr txBox="1"/>
          <p:nvPr/>
        </p:nvSpPr>
        <p:spPr>
          <a:xfrm>
            <a:off x="1051560" y="1874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Más clientes con errores (puntos)</a:t>
            </a:r>
            <a:endParaRPr lang="es-ES" sz="1200" dirty="0"/>
          </a:p>
        </p:txBody>
      </p:sp>
      <p:sp>
        <p:nvSpPr>
          <p:cNvPr id="26" name="a1_q1"/>
          <p:cNvSpPr txBox="1"/>
          <p:nvPr/>
        </p:nvSpPr>
        <p:spPr>
          <a:xfrm>
            <a:off x="155448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spc="100" kern="0" dirty="0">
                <a:solidFill>
                  <a:srgbClr val="FF5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GANA POCO Y SE PIERDE</a:t>
            </a:r>
            <a:endParaRPr lang="es-ES" sz="1100" dirty="0"/>
          </a:p>
        </p:txBody>
      </p:sp>
      <p:sp>
        <p:nvSpPr>
          <p:cNvPr id="27" name="a1_q2"/>
          <p:cNvSpPr txBox="1"/>
          <p:nvPr/>
        </p:nvSpPr>
        <p:spPr>
          <a:xfrm>
            <a:off x="47091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spc="100" kern="0" dirty="0">
                <a:solidFill>
                  <a:srgbClr val="FFB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GANA, PERO SE PIERDE</a:t>
            </a:r>
            <a:endParaRPr lang="es-ES" sz="1100" dirty="0"/>
          </a:p>
        </p:txBody>
      </p:sp>
      <p:sp>
        <p:nvSpPr>
          <p:cNvPr id="28" name="a1_q3"/>
          <p:cNvSpPr txBox="1"/>
          <p:nvPr/>
        </p:nvSpPr>
        <p:spPr>
          <a:xfrm>
            <a:off x="4709160" y="5138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spc="100" kern="0" dirty="0">
                <a:solidFill>
                  <a:srgbClr val="3DD6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GANA MUCHO SIN PERDERSE</a:t>
            </a:r>
            <a:endParaRPr lang="es-ES" sz="1100" dirty="0"/>
          </a:p>
        </p:txBody>
      </p:sp>
      <p:sp>
        <p:nvSpPr>
          <p:cNvPr id="29" name="a2_b"/>
          <p:cNvSpPr/>
          <p:nvPr/>
        </p:nvSpPr>
        <p:spPr>
          <a:xfrm>
            <a:off x="6433907" y="4448679"/>
            <a:ext cx="692738" cy="692738"/>
          </a:xfrm>
          <a:prstGeom prst="ellipse">
            <a:avLst/>
          </a:prstGeom>
          <a:solidFill>
            <a:srgbClr val="3DD68C">
              <a:alpha val="85000"/>
            </a:srgbClr>
          </a:solidFill>
          <a:ln w="25400">
            <a:solidFill>
              <a:srgbClr val="15233A"/>
            </a:solidFill>
            <a:prstDash val="solid"/>
          </a:ln>
        </p:spPr>
      </p:sp>
      <p:sp>
        <p:nvSpPr>
          <p:cNvPr id="30" name="a2_t"/>
          <p:cNvSpPr txBox="1"/>
          <p:nvPr/>
        </p:nvSpPr>
        <p:spPr>
          <a:xfrm>
            <a:off x="6433907" y="4448679"/>
            <a:ext cx="692738" cy="69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&lt;30</a:t>
            </a:r>
            <a:endParaRPr lang="es-ES" sz="1300" dirty="0"/>
          </a:p>
        </p:txBody>
      </p:sp>
      <p:sp>
        <p:nvSpPr>
          <p:cNvPr id="31" name="a3_b"/>
          <p:cNvSpPr/>
          <p:nvPr/>
        </p:nvSpPr>
        <p:spPr>
          <a:xfrm>
            <a:off x="3228017" y="3968354"/>
            <a:ext cx="795158" cy="795158"/>
          </a:xfrm>
          <a:prstGeom prst="ellipse">
            <a:avLst/>
          </a:prstGeom>
          <a:solidFill>
            <a:srgbClr val="6C9BD2">
              <a:alpha val="85000"/>
            </a:srgbClr>
          </a:solidFill>
          <a:ln w="25400">
            <a:solidFill>
              <a:srgbClr val="15233A"/>
            </a:solidFill>
            <a:prstDash val="solid"/>
          </a:ln>
        </p:spPr>
      </p:sp>
      <p:sp>
        <p:nvSpPr>
          <p:cNvPr id="32" name="a3_t"/>
          <p:cNvSpPr txBox="1"/>
          <p:nvPr/>
        </p:nvSpPr>
        <p:spPr>
          <a:xfrm>
            <a:off x="3228017" y="3968354"/>
            <a:ext cx="795158" cy="795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30-44</a:t>
            </a:r>
            <a:endParaRPr lang="es-ES" sz="1300" dirty="0"/>
          </a:p>
        </p:txBody>
      </p:sp>
      <p:sp>
        <p:nvSpPr>
          <p:cNvPr id="33" name="a4_b"/>
          <p:cNvSpPr/>
          <p:nvPr/>
        </p:nvSpPr>
        <p:spPr>
          <a:xfrm>
            <a:off x="2425446" y="2667109"/>
            <a:ext cx="822960" cy="822960"/>
          </a:xfrm>
          <a:prstGeom prst="ellipse">
            <a:avLst/>
          </a:prstGeom>
          <a:solidFill>
            <a:srgbClr val="FF5C6C">
              <a:alpha val="85000"/>
            </a:srgbClr>
          </a:solidFill>
          <a:ln w="25400">
            <a:solidFill>
              <a:srgbClr val="15233A"/>
            </a:solidFill>
            <a:prstDash val="solid"/>
          </a:ln>
        </p:spPr>
      </p:sp>
      <p:sp>
        <p:nvSpPr>
          <p:cNvPr id="34" name="a4_t"/>
          <p:cNvSpPr txBox="1"/>
          <p:nvPr/>
        </p:nvSpPr>
        <p:spPr>
          <a:xfrm>
            <a:off x="2425446" y="2667109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45-59</a:t>
            </a:r>
            <a:endParaRPr lang="es-ES" sz="1300" dirty="0"/>
          </a:p>
        </p:txBody>
      </p:sp>
      <p:sp>
        <p:nvSpPr>
          <p:cNvPr id="35" name="a5_b"/>
          <p:cNvSpPr/>
          <p:nvPr/>
        </p:nvSpPr>
        <p:spPr>
          <a:xfrm>
            <a:off x="4816823" y="2477918"/>
            <a:ext cx="772226" cy="772226"/>
          </a:xfrm>
          <a:prstGeom prst="ellipse">
            <a:avLst/>
          </a:prstGeom>
          <a:solidFill>
            <a:srgbClr val="F28E2B">
              <a:alpha val="85000"/>
            </a:srgbClr>
          </a:solidFill>
          <a:ln w="25400">
            <a:solidFill>
              <a:srgbClr val="15233A"/>
            </a:solidFill>
            <a:prstDash val="solid"/>
          </a:ln>
        </p:spPr>
      </p:sp>
      <p:sp>
        <p:nvSpPr>
          <p:cNvPr id="36" name="a5_t"/>
          <p:cNvSpPr txBox="1"/>
          <p:nvPr/>
        </p:nvSpPr>
        <p:spPr>
          <a:xfrm>
            <a:off x="4816823" y="2477918"/>
            <a:ext cx="772226" cy="772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60+</a:t>
            </a:r>
            <a:endParaRPr lang="es-ES" sz="1300" dirty="0"/>
          </a:p>
        </p:txBody>
      </p:sp>
      <p:sp>
        <p:nvSpPr>
          <p:cNvPr id="37" name="a6_c"/>
          <p:cNvSpPr/>
          <p:nvPr/>
        </p:nvSpPr>
        <p:spPr>
          <a:xfrm>
            <a:off x="8366760" y="1783080"/>
            <a:ext cx="3273552" cy="4343400"/>
          </a:xfrm>
          <a:prstGeom prst="roundRect">
            <a:avLst>
              <a:gd name="adj" fmla="val 5028"/>
            </a:avLst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38" name="a6_n"/>
          <p:cNvSpPr txBox="1"/>
          <p:nvPr/>
        </p:nvSpPr>
        <p:spPr>
          <a:xfrm>
            <a:off x="8686800" y="2011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60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56 %</a:t>
            </a:r>
            <a:endParaRPr lang="es-ES" sz="6000" dirty="0"/>
          </a:p>
        </p:txBody>
      </p:sp>
      <p:sp>
        <p:nvSpPr>
          <p:cNvPr id="39" name="a6_l"/>
          <p:cNvSpPr txBox="1"/>
          <p:nvPr/>
        </p:nvSpPr>
        <p:spPr>
          <a:xfrm>
            <a:off x="8686800" y="3017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8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clientes tiene 45 años o más</a:t>
            </a:r>
            <a:endParaRPr lang="es-ES" sz="1800" dirty="0"/>
          </a:p>
        </p:txBody>
      </p:sp>
      <p:sp>
        <p:nvSpPr>
          <p:cNvPr id="40" name="a6_t"/>
          <p:cNvSpPr txBox="1"/>
          <p:nvPr/>
        </p:nvSpPr>
        <p:spPr>
          <a:xfrm>
            <a:off x="8686800" y="393192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40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son justo los que más se pierden: unos 10 puntos más de clientes con errores. Los menores de 30 son los grandes ganadores. (Tamaño del círculo = número de clientes del tramo.)</a:t>
            </a:r>
            <a:endParaRPr lang="es-E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14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25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75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39" grpId="0" animBg="1"/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clientes, dos experiencias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351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STEP_3 · ¿ES REAL?</a:t>
            </a:r>
            <a:endParaRPr lang="es-ES" sz="1200" dirty="0"/>
          </a:p>
        </p:txBody>
      </p:sp>
      <p:sp>
        <p:nvSpPr>
          <p:cNvPr id="10" name="a1_c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3789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1" name="a1_av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2" name="a1_ini"/>
          <p:cNvSpPr txBox="1"/>
          <p:nvPr/>
        </p:nvSpPr>
        <p:spPr>
          <a:xfrm>
            <a:off x="91440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30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</a:t>
            </a:r>
            <a:endParaRPr lang="es-ES" sz="3000" dirty="0"/>
          </a:p>
        </p:txBody>
      </p:sp>
      <p:sp>
        <p:nvSpPr>
          <p:cNvPr id="13" name="a1_nom"/>
          <p:cNvSpPr txBox="1"/>
          <p:nvPr/>
        </p:nvSpPr>
        <p:spPr>
          <a:xfrm>
            <a:off x="2011680" y="2057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Lucía, 28 años</a:t>
            </a:r>
            <a:endParaRPr lang="es-ES" sz="2400" dirty="0"/>
          </a:p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tramo de menos de 30 · 8.500 clientes</a:t>
            </a:r>
            <a:endParaRPr lang="es-ES" sz="2400" dirty="0"/>
          </a:p>
        </p:txBody>
      </p:sp>
      <p:sp>
        <p:nvSpPr>
          <p:cNvPr id="14" name="a1_l0"/>
          <p:cNvSpPr txBox="1"/>
          <p:nvPr/>
        </p:nvSpPr>
        <p:spPr>
          <a:xfrm>
            <a:off x="96012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Completa el proceso</a:t>
            </a:r>
            <a:endParaRPr lang="es-ES" sz="1400" dirty="0"/>
          </a:p>
        </p:txBody>
      </p:sp>
      <p:sp>
        <p:nvSpPr>
          <p:cNvPr id="15" name="a1_v0"/>
          <p:cNvSpPr txBox="1"/>
          <p:nvPr/>
        </p:nvSpPr>
        <p:spPr>
          <a:xfrm>
            <a:off x="3108960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400" b="1" dirty="0">
                <a:solidFill>
                  <a:srgbClr val="6C9B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68 %</a:t>
            </a:r>
            <a:pPr indent="0" marL="0">
              <a:buNone/>
            </a:pPr>
            <a:r>
              <a:rPr lang="es-ES" sz="2400" b="1" dirty="0">
                <a:solidFill>
                  <a:srgbClr val="6B7C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→  </a:t>
            </a:r>
            <a:pPr indent="0" marL="0">
              <a:buNone/>
            </a:pPr>
            <a:r>
              <a:rPr lang="es-ES" sz="2400" b="1" dirty="0">
                <a:solidFill>
                  <a:srgbClr val="3DD6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74 %</a:t>
            </a:r>
            <a:endParaRPr lang="es-ES" sz="2400" dirty="0"/>
          </a:p>
        </p:txBody>
      </p:sp>
      <p:sp>
        <p:nvSpPr>
          <p:cNvPr id="16" name="a1_l1"/>
          <p:cNvSpPr txBox="1"/>
          <p:nvPr/>
        </p:nvSpPr>
        <p:spPr>
          <a:xfrm>
            <a:off x="960120" y="3959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con algún error</a:t>
            </a:r>
            <a:endParaRPr lang="es-ES" sz="1400" dirty="0"/>
          </a:p>
        </p:txBody>
      </p:sp>
      <p:sp>
        <p:nvSpPr>
          <p:cNvPr id="17" name="a1_v1"/>
          <p:cNvSpPr txBox="1"/>
          <p:nvPr/>
        </p:nvSpPr>
        <p:spPr>
          <a:xfrm>
            <a:off x="3108960" y="39593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400" b="1" dirty="0">
                <a:solidFill>
                  <a:srgbClr val="6C9B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26 %</a:t>
            </a:r>
            <a:pPr indent="0" marL="0">
              <a:buNone/>
            </a:pPr>
            <a:r>
              <a:rPr lang="es-ES" sz="2400" b="1" dirty="0">
                <a:solidFill>
                  <a:srgbClr val="6B7C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→  </a:t>
            </a:r>
            <a:pPr indent="0" marL="0">
              <a:buNone/>
            </a:pPr>
            <a:r>
              <a:rPr lang="es-ES" sz="2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29 %</a:t>
            </a:r>
            <a:endParaRPr lang="es-ES" sz="2400" dirty="0"/>
          </a:p>
        </p:txBody>
      </p:sp>
      <p:sp>
        <p:nvSpPr>
          <p:cNvPr id="18" name="a1_f"/>
          <p:cNvSpPr txBox="1"/>
          <p:nvPr/>
        </p:nvSpPr>
        <p:spPr>
          <a:xfrm>
            <a:off x="960120" y="54406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3DD6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Gana 7 puntos y casi no se pierde</a:t>
            </a:r>
            <a:endParaRPr lang="es-ES" sz="1500" dirty="0"/>
          </a:p>
        </p:txBody>
      </p:sp>
      <p:sp>
        <p:nvSpPr>
          <p:cNvPr id="19" name="a2_c"/>
          <p:cNvSpPr/>
          <p:nvPr/>
        </p:nvSpPr>
        <p:spPr>
          <a:xfrm>
            <a:off x="6245352" y="1783080"/>
            <a:ext cx="5394960" cy="4343400"/>
          </a:xfrm>
          <a:prstGeom prst="roundRect">
            <a:avLst>
              <a:gd name="adj" fmla="val 3789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0" name="a2_av"/>
          <p:cNvSpPr/>
          <p:nvPr/>
        </p:nvSpPr>
        <p:spPr>
          <a:xfrm>
            <a:off x="6611112" y="2057400"/>
            <a:ext cx="914400" cy="91440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1" name="a2_ini"/>
          <p:cNvSpPr txBox="1"/>
          <p:nvPr/>
        </p:nvSpPr>
        <p:spPr>
          <a:xfrm>
            <a:off x="6611112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30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s-ES" sz="3000" dirty="0"/>
          </a:p>
        </p:txBody>
      </p:sp>
      <p:sp>
        <p:nvSpPr>
          <p:cNvPr id="22" name="a2_nom"/>
          <p:cNvSpPr txBox="1"/>
          <p:nvPr/>
        </p:nvSpPr>
        <p:spPr>
          <a:xfrm>
            <a:off x="7708392" y="2057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Antonio, 64 años</a:t>
            </a:r>
            <a:endParaRPr lang="es-ES" sz="2400" dirty="0"/>
          </a:p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tramo de 60 o más · 12.600 clientes</a:t>
            </a:r>
            <a:endParaRPr lang="es-ES" sz="2400" dirty="0"/>
          </a:p>
        </p:txBody>
      </p:sp>
      <p:sp>
        <p:nvSpPr>
          <p:cNvPr id="23" name="a2_l0"/>
          <p:cNvSpPr txBox="1"/>
          <p:nvPr/>
        </p:nvSpPr>
        <p:spPr>
          <a:xfrm>
            <a:off x="6656832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Completa el proceso</a:t>
            </a:r>
            <a:endParaRPr lang="es-ES" sz="1400" dirty="0"/>
          </a:p>
        </p:txBody>
      </p:sp>
      <p:sp>
        <p:nvSpPr>
          <p:cNvPr id="24" name="a2_v0"/>
          <p:cNvSpPr txBox="1"/>
          <p:nvPr/>
        </p:nvSpPr>
        <p:spPr>
          <a:xfrm>
            <a:off x="8805672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400" b="1" dirty="0">
                <a:solidFill>
                  <a:srgbClr val="6C9B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60 %</a:t>
            </a:r>
            <a:pPr indent="0" marL="0">
              <a:buNone/>
            </a:pPr>
            <a:r>
              <a:rPr lang="es-ES" sz="2400" b="1" dirty="0">
                <a:solidFill>
                  <a:srgbClr val="6B7C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→  </a:t>
            </a:r>
            <a:pPr indent="0" marL="0">
              <a:buNone/>
            </a:pPr>
            <a:r>
              <a:rPr lang="es-ES" sz="2400" b="1" dirty="0">
                <a:solidFill>
                  <a:srgbClr val="3DD6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65 %</a:t>
            </a:r>
            <a:endParaRPr lang="es-ES" sz="2400" dirty="0"/>
          </a:p>
        </p:txBody>
      </p:sp>
      <p:sp>
        <p:nvSpPr>
          <p:cNvPr id="25" name="a2_l1"/>
          <p:cNvSpPr txBox="1"/>
          <p:nvPr/>
        </p:nvSpPr>
        <p:spPr>
          <a:xfrm>
            <a:off x="6656832" y="39593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con algún error</a:t>
            </a:r>
            <a:endParaRPr lang="es-ES" sz="1400" dirty="0"/>
          </a:p>
        </p:txBody>
      </p:sp>
      <p:sp>
        <p:nvSpPr>
          <p:cNvPr id="26" name="a2_v1"/>
          <p:cNvSpPr txBox="1"/>
          <p:nvPr/>
        </p:nvSpPr>
        <p:spPr>
          <a:xfrm>
            <a:off x="8805672" y="39593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400" b="1" dirty="0">
                <a:solidFill>
                  <a:srgbClr val="6C9B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28 %</a:t>
            </a:r>
            <a:pPr indent="0" marL="0">
              <a:buNone/>
            </a:pPr>
            <a:r>
              <a:rPr lang="es-ES" sz="2400" b="1" dirty="0">
                <a:solidFill>
                  <a:srgbClr val="6B7C9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→  </a:t>
            </a:r>
            <a:pPr indent="0" marL="0">
              <a:buNone/>
            </a:pPr>
            <a:r>
              <a:rPr lang="es-ES" sz="2400" b="1" dirty="0">
                <a:solidFill>
                  <a:srgbClr val="FF5C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39 %</a:t>
            </a:r>
            <a:endParaRPr lang="es-ES" sz="2400" dirty="0"/>
          </a:p>
        </p:txBody>
      </p:sp>
      <p:sp>
        <p:nvSpPr>
          <p:cNvPr id="27" name="a2_f"/>
          <p:cNvSpPr txBox="1"/>
          <p:nvPr/>
        </p:nvSpPr>
        <p:spPr>
          <a:xfrm>
            <a:off x="6656832" y="54406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Termina más, pero se pierde mucho más</a:t>
            </a:r>
            <a:endParaRPr lang="es-ES" sz="1500" dirty="0"/>
          </a:p>
        </p:txBody>
      </p:sp>
      <p:sp>
        <p:nvSpPr>
          <p:cNvPr id="28" name="a3_nota"/>
          <p:cNvSpPr txBox="1"/>
          <p:nvPr/>
        </p:nvSpPr>
        <p:spPr>
          <a:xfrm>
            <a:off x="54864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ilustrativas: los números son los reales de su tramo de edad (diseño antiguo → diseño nuevo).</a:t>
            </a:r>
            <a:endParaRPr lang="es-E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15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ventaja se desinfla con las semanas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351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STEP_3 · ¿ES REAL?</a:t>
            </a:r>
            <a:endParaRPr lang="es-ES" sz="1200" dirty="0"/>
          </a:p>
        </p:txBody>
      </p:sp>
      <p:sp>
        <p:nvSpPr>
          <p:cNvPr id="10" name="a1_fg"/>
          <p:cNvSpPr/>
          <p:nvPr/>
        </p:nvSpPr>
        <p:spPr>
          <a:xfrm>
            <a:off x="548640" y="1783080"/>
            <a:ext cx="7269480" cy="4343400"/>
          </a:xfrm>
          <a:prstGeom prst="roundRect">
            <a:avLst>
              <a:gd name="adj" fmla="val 3789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graphicFrame>
        <p:nvGraphicFramePr>
          <p:cNvPr id="11" name="a1_ch" descr=""/>
          <p:cNvGraphicFramePr/>
          <p:nvPr/>
        </p:nvGraphicFramePr>
        <p:xfrm>
          <a:off x="731520" y="1874520"/>
          <a:ext cx="6903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a1_cap"/>
          <p:cNvSpPr txBox="1"/>
          <p:nvPr/>
        </p:nvSpPr>
        <p:spPr>
          <a:xfrm>
            <a:off x="822960" y="56692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de clientes de cada grupo, semana a semana: las líneas se cruzan el 8 de mayo</a:t>
            </a:r>
            <a:endParaRPr lang="es-ES" sz="1200" dirty="0"/>
          </a:p>
        </p:txBody>
      </p:sp>
      <p:sp>
        <p:nvSpPr>
          <p:cNvPr id="13" name="a2_cap"/>
          <p:cNvSpPr txBox="1"/>
          <p:nvPr/>
        </p:nvSpPr>
        <p:spPr>
          <a:xfrm>
            <a:off x="80924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Ventaja del Test según el mes de entrada</a:t>
            </a:r>
            <a:endParaRPr lang="es-ES" sz="1400" dirty="0"/>
          </a:p>
        </p:txBody>
      </p:sp>
      <p:sp>
        <p:nvSpPr>
          <p:cNvPr id="14" name="a2_m0"/>
          <p:cNvSpPr/>
          <p:nvPr/>
        </p:nvSpPr>
        <p:spPr>
          <a:xfrm>
            <a:off x="8092440" y="2240280"/>
            <a:ext cx="3547872" cy="603504"/>
          </a:xfrm>
          <a:prstGeom prst="roundRect">
            <a:avLst>
              <a:gd name="adj" fmla="val 27273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5" name="a2_mt0"/>
          <p:cNvSpPr txBox="1"/>
          <p:nvPr/>
        </p:nvSpPr>
        <p:spPr>
          <a:xfrm>
            <a:off x="8321040" y="224028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Marzo</a:t>
            </a:r>
            <a:endParaRPr lang="es-ES" sz="1500" dirty="0"/>
          </a:p>
        </p:txBody>
      </p:sp>
      <p:sp>
        <p:nvSpPr>
          <p:cNvPr id="16" name="a2_mv0"/>
          <p:cNvSpPr txBox="1"/>
          <p:nvPr/>
        </p:nvSpPr>
        <p:spPr>
          <a:xfrm>
            <a:off x="9692640" y="224028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sz="20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 pts</a:t>
            </a:r>
            <a:endParaRPr lang="es-ES" sz="2000" dirty="0"/>
          </a:p>
        </p:txBody>
      </p:sp>
      <p:sp>
        <p:nvSpPr>
          <p:cNvPr id="17" name="a2_m1"/>
          <p:cNvSpPr/>
          <p:nvPr/>
        </p:nvSpPr>
        <p:spPr>
          <a:xfrm>
            <a:off x="8092440" y="2971800"/>
            <a:ext cx="3547872" cy="603504"/>
          </a:xfrm>
          <a:prstGeom prst="roundRect">
            <a:avLst>
              <a:gd name="adj" fmla="val 27273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8" name="a2_mt1"/>
          <p:cNvSpPr txBox="1"/>
          <p:nvPr/>
        </p:nvSpPr>
        <p:spPr>
          <a:xfrm>
            <a:off x="8321040" y="297180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Abril</a:t>
            </a:r>
            <a:endParaRPr lang="es-ES" sz="1500" dirty="0"/>
          </a:p>
        </p:txBody>
      </p:sp>
      <p:sp>
        <p:nvSpPr>
          <p:cNvPr id="19" name="a2_mv1"/>
          <p:cNvSpPr txBox="1"/>
          <p:nvPr/>
        </p:nvSpPr>
        <p:spPr>
          <a:xfrm>
            <a:off x="9692640" y="29718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sz="20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+3 pts</a:t>
            </a:r>
            <a:endParaRPr lang="es-ES" sz="2000" dirty="0"/>
          </a:p>
        </p:txBody>
      </p:sp>
      <p:sp>
        <p:nvSpPr>
          <p:cNvPr id="20" name="a2_m2"/>
          <p:cNvSpPr/>
          <p:nvPr/>
        </p:nvSpPr>
        <p:spPr>
          <a:xfrm>
            <a:off x="8092440" y="3703320"/>
            <a:ext cx="3547872" cy="603504"/>
          </a:xfrm>
          <a:prstGeom prst="roundRect">
            <a:avLst>
              <a:gd name="adj" fmla="val 27273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1" name="a2_mt2"/>
          <p:cNvSpPr txBox="1"/>
          <p:nvPr/>
        </p:nvSpPr>
        <p:spPr>
          <a:xfrm>
            <a:off x="8321040" y="370332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Mayo</a:t>
            </a:r>
            <a:endParaRPr lang="es-ES" sz="1500" dirty="0"/>
          </a:p>
        </p:txBody>
      </p:sp>
      <p:sp>
        <p:nvSpPr>
          <p:cNvPr id="22" name="a2_mv2"/>
          <p:cNvSpPr txBox="1"/>
          <p:nvPr/>
        </p:nvSpPr>
        <p:spPr>
          <a:xfrm>
            <a:off x="9692640" y="370332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sz="20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+3 pts</a:t>
            </a:r>
            <a:endParaRPr lang="es-ES" sz="2000" dirty="0"/>
          </a:p>
        </p:txBody>
      </p:sp>
      <p:sp>
        <p:nvSpPr>
          <p:cNvPr id="23" name="a2_m3"/>
          <p:cNvSpPr/>
          <p:nvPr/>
        </p:nvSpPr>
        <p:spPr>
          <a:xfrm>
            <a:off x="8092440" y="4434840"/>
            <a:ext cx="3547872" cy="603504"/>
          </a:xfrm>
          <a:prstGeom prst="roundRect">
            <a:avLst>
              <a:gd name="adj" fmla="val 27273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4" name="a2_mt3"/>
          <p:cNvSpPr txBox="1"/>
          <p:nvPr/>
        </p:nvSpPr>
        <p:spPr>
          <a:xfrm>
            <a:off x="8321040" y="443484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</a:t>
            </a:r>
            <a:endParaRPr lang="es-ES" sz="1500" dirty="0"/>
          </a:p>
        </p:txBody>
      </p:sp>
      <p:sp>
        <p:nvSpPr>
          <p:cNvPr id="25" name="a2_mv3"/>
          <p:cNvSpPr txBox="1"/>
          <p:nvPr/>
        </p:nvSpPr>
        <p:spPr>
          <a:xfrm>
            <a:off x="9692640" y="443484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ES" sz="2000" b="1" dirty="0">
                <a:solidFill>
                  <a:srgbClr val="FF5C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0 pts</a:t>
            </a:r>
            <a:endParaRPr lang="es-ES" sz="2000" dirty="0"/>
          </a:p>
        </p:txBody>
      </p:sp>
      <p:sp>
        <p:nvSpPr>
          <p:cNvPr id="26" name="a3_c"/>
          <p:cNvSpPr/>
          <p:nvPr/>
        </p:nvSpPr>
        <p:spPr>
          <a:xfrm>
            <a:off x="8092440" y="5212080"/>
            <a:ext cx="3547872" cy="914400"/>
          </a:xfrm>
          <a:prstGeom prst="roundRect">
            <a:avLst>
              <a:gd name="adj" fmla="val 18000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7" name="a3_t"/>
          <p:cNvSpPr txBox="1"/>
          <p:nvPr/>
        </p:nvSpPr>
        <p:spPr>
          <a:xfrm>
            <a:off x="8321040" y="5212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el 7/5: </a:t>
            </a:r>
            <a:pPr indent="0" marL="0">
              <a:buNone/>
            </a:pPr>
            <a:r>
              <a:rPr lang="es-ES" sz="140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 pts, real</a:t>
            </a:r>
            <a:endParaRPr lang="es-ES" sz="1400" dirty="0"/>
          </a:p>
          <a:p>
            <a:pPr indent="0" marL="0">
              <a:buNone/>
            </a:pPr>
            <a:r>
              <a:rPr lang="es-ES" sz="14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el 8/5: </a:t>
            </a:r>
            <a:pPr indent="0" marL="0">
              <a:buNone/>
            </a:pPr>
            <a:r>
              <a:rPr lang="es-ES" sz="140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 pts, no significativa</a:t>
            </a:r>
            <a:endParaRPr lang="es-E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16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¿Estaba bien hecho el experimento?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351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STEP_3 · ¿ES REAL?</a:t>
            </a:r>
            <a:endParaRPr lang="es-ES" sz="1200" dirty="0"/>
          </a:p>
        </p:txBody>
      </p:sp>
      <p:sp>
        <p:nvSpPr>
          <p:cNvPr id="10" name="a1_s"/>
          <p:cNvSpPr txBox="1"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7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 en lo básico, con letra pequeña.</a:t>
            </a:r>
            <a:endParaRPr lang="es-ES" sz="1700" dirty="0"/>
          </a:p>
        </p:txBody>
      </p:sp>
      <p:sp>
        <p:nvSpPr>
          <p:cNvPr id="11" name="a2_c"/>
          <p:cNvSpPr/>
          <p:nvPr/>
        </p:nvSpPr>
        <p:spPr>
          <a:xfrm>
            <a:off x="548640" y="2011680"/>
            <a:ext cx="2606040" cy="4114800"/>
          </a:xfrm>
          <a:prstGeom prst="roundRect">
            <a:avLst>
              <a:gd name="adj" fmla="val 6316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2" name="a2_d_c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pic>
        <p:nvPicPr>
          <p:cNvPr id="13" name="a2_d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406701"/>
            <a:ext cx="307238" cy="307238"/>
          </a:xfrm>
          <a:prstGeom prst="rect">
            <a:avLst/>
          </a:prstGeom>
        </p:spPr>
      </p:pic>
      <p:sp>
        <p:nvSpPr>
          <p:cNvPr id="14" name="a2_t"/>
          <p:cNvSpPr txBox="1"/>
          <p:nvPr/>
        </p:nvSpPr>
        <p:spPr>
          <a:xfrm>
            <a:off x="822960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900" b="1" dirty="0">
                <a:solidFill>
                  <a:srgbClr val="3DD68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Aleatorización</a:t>
            </a:r>
            <a:endParaRPr lang="es-ES" sz="1900" dirty="0"/>
          </a:p>
        </p:txBody>
      </p:sp>
      <p:sp>
        <p:nvSpPr>
          <p:cNvPr id="15" name="a2_b"/>
          <p:cNvSpPr txBox="1"/>
          <p:nvPr/>
        </p:nvSpPr>
        <p:spPr>
          <a:xfrm>
            <a:off x="822960" y="35661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3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dos grupos tienen el mismo perfil: edad, saldo, antigüedad y género</a:t>
            </a:r>
            <a:endParaRPr lang="es-E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3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Pero el reparto fue 53/47, no 50/50</a:t>
            </a:r>
            <a:endParaRPr lang="es-ES" sz="1300" dirty="0"/>
          </a:p>
        </p:txBody>
      </p:sp>
      <p:sp>
        <p:nvSpPr>
          <p:cNvPr id="16" name="a3_c"/>
          <p:cNvSpPr/>
          <p:nvPr/>
        </p:nvSpPr>
        <p:spPr>
          <a:xfrm>
            <a:off x="3355848" y="2011680"/>
            <a:ext cx="2606040" cy="4114800"/>
          </a:xfrm>
          <a:prstGeom prst="roundRect">
            <a:avLst>
              <a:gd name="adj" fmla="val 6316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7" name="a3_d_c"/>
          <p:cNvSpPr/>
          <p:nvPr/>
        </p:nvSpPr>
        <p:spPr>
          <a:xfrm>
            <a:off x="3630168" y="2240280"/>
            <a:ext cx="640080" cy="640080"/>
          </a:xfrm>
          <a:prstGeom prst="ellipse">
            <a:avLst/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pic>
        <p:nvPicPr>
          <p:cNvPr id="18" name="a3_d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589" y="2406701"/>
            <a:ext cx="307238" cy="307238"/>
          </a:xfrm>
          <a:prstGeom prst="rect">
            <a:avLst/>
          </a:prstGeom>
        </p:spPr>
      </p:pic>
      <p:sp>
        <p:nvSpPr>
          <p:cNvPr id="19" name="a3_t"/>
          <p:cNvSpPr txBox="1"/>
          <p:nvPr/>
        </p:nvSpPr>
        <p:spPr>
          <a:xfrm>
            <a:off x="3630168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900" b="1" dirty="0">
                <a:solidFill>
                  <a:srgbClr val="6C9B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Duración</a:t>
            </a:r>
            <a:endParaRPr lang="es-ES" sz="1900" dirty="0"/>
          </a:p>
        </p:txBody>
      </p:sp>
      <p:sp>
        <p:nvSpPr>
          <p:cNvPr id="20" name="a3_b"/>
          <p:cNvSpPr txBox="1"/>
          <p:nvPr/>
        </p:nvSpPr>
        <p:spPr>
          <a:xfrm>
            <a:off x="3630168" y="35661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3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meses bastan para medir la diferencia (margen de menos de 1 punto)</a:t>
            </a:r>
            <a:endParaRPr lang="es-E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3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bastan para saber si la ventaja dura: baja de +5 a ≈ 0</a:t>
            </a:r>
            <a:endParaRPr lang="es-ES" sz="1300" dirty="0"/>
          </a:p>
        </p:txBody>
      </p:sp>
      <p:sp>
        <p:nvSpPr>
          <p:cNvPr id="21" name="a4_c"/>
          <p:cNvSpPr/>
          <p:nvPr/>
        </p:nvSpPr>
        <p:spPr>
          <a:xfrm>
            <a:off x="6163056" y="2011680"/>
            <a:ext cx="2606040" cy="4114800"/>
          </a:xfrm>
          <a:prstGeom prst="roundRect">
            <a:avLst>
              <a:gd name="adj" fmla="val 6316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2" name="a4_d_c"/>
          <p:cNvSpPr/>
          <p:nvPr/>
        </p:nvSpPr>
        <p:spPr>
          <a:xfrm>
            <a:off x="6437376" y="2240280"/>
            <a:ext cx="640080" cy="640080"/>
          </a:xfrm>
          <a:prstGeom prst="ellipse">
            <a:avLst/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pic>
        <p:nvPicPr>
          <p:cNvPr id="23" name="a4_d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797" y="2406701"/>
            <a:ext cx="307238" cy="307238"/>
          </a:xfrm>
          <a:prstGeom prst="rect">
            <a:avLst/>
          </a:prstGeom>
        </p:spPr>
      </p:pic>
      <p:sp>
        <p:nvSpPr>
          <p:cNvPr id="24" name="a4_t"/>
          <p:cNvSpPr txBox="1"/>
          <p:nvPr/>
        </p:nvSpPr>
        <p:spPr>
          <a:xfrm>
            <a:off x="6437376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900" b="1" dirty="0">
                <a:solidFill>
                  <a:srgbClr val="FF5C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Sesgos posibles</a:t>
            </a:r>
            <a:endParaRPr lang="es-ES" sz="1900" dirty="0"/>
          </a:p>
        </p:txBody>
      </p:sp>
      <p:sp>
        <p:nvSpPr>
          <p:cNvPr id="25" name="a4_b"/>
          <p:cNvSpPr txBox="1"/>
          <p:nvPr/>
        </p:nvSpPr>
        <p:spPr>
          <a:xfrm>
            <a:off x="6437376" y="35661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3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reparto cambió el 8 de mayo</a:t>
            </a:r>
            <a:endParaRPr lang="es-E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3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Junio: pocos clientes y pocos días para terminar</a:t>
            </a:r>
            <a:endParaRPr lang="es-E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3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Algunos dispositivos los usan varios clientes</a:t>
            </a:r>
            <a:endParaRPr lang="es-ES" sz="1300" dirty="0"/>
          </a:p>
        </p:txBody>
      </p:sp>
      <p:sp>
        <p:nvSpPr>
          <p:cNvPr id="26" name="a5_c"/>
          <p:cNvSpPr/>
          <p:nvPr/>
        </p:nvSpPr>
        <p:spPr>
          <a:xfrm>
            <a:off x="8970264" y="2011680"/>
            <a:ext cx="2606040" cy="4114800"/>
          </a:xfrm>
          <a:prstGeom prst="roundRect">
            <a:avLst>
              <a:gd name="adj" fmla="val 6316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7" name="a5_d_c"/>
          <p:cNvSpPr/>
          <p:nvPr/>
        </p:nvSpPr>
        <p:spPr>
          <a:xfrm>
            <a:off x="9244584" y="2240280"/>
            <a:ext cx="640080" cy="64008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pic>
        <p:nvPicPr>
          <p:cNvPr id="28" name="a5_d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005" y="2406701"/>
            <a:ext cx="307238" cy="307238"/>
          </a:xfrm>
          <a:prstGeom prst="rect">
            <a:avLst/>
          </a:prstGeom>
        </p:spPr>
      </p:pic>
      <p:sp>
        <p:nvSpPr>
          <p:cNvPr id="29" name="a5_t"/>
          <p:cNvSpPr txBox="1"/>
          <p:nvPr/>
        </p:nvSpPr>
        <p:spPr>
          <a:xfrm>
            <a:off x="9244584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9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Datos que faltan</a:t>
            </a:r>
            <a:endParaRPr lang="es-ES" sz="1900" dirty="0"/>
          </a:p>
        </p:txBody>
      </p:sp>
      <p:sp>
        <p:nvSpPr>
          <p:cNvPr id="30" name="a5_b"/>
          <p:cNvSpPr txBox="1"/>
          <p:nvPr/>
        </p:nvSpPr>
        <p:spPr>
          <a:xfrm>
            <a:off x="9244584" y="35661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3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de cada proceso y coste del diseño</a:t>
            </a:r>
            <a:endParaRPr lang="es-E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3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Dispositivo y mensajes de error</a:t>
            </a:r>
            <a:endParaRPr lang="es-E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" sz="13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Campañas de cada semana</a:t>
            </a:r>
            <a:endParaRPr lang="es-E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17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2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9" grpId="0" animBg="1"/>
      <p:bldP spid="20" grpId="0" animBg="1"/>
      <p:bldP spid="24" grpId="0" animBg="1"/>
      <p:bldP spid="25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Veredicto: qué se confirmó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351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STEP_3 · ¿ES REAL?</a:t>
            </a:r>
            <a:endParaRPr lang="es-ES" sz="1200" dirty="0"/>
          </a:p>
        </p:txBody>
      </p:sp>
      <p:sp>
        <p:nvSpPr>
          <p:cNvPr id="10" name="a1_p"/>
          <p:cNvSpPr/>
          <p:nvPr/>
        </p:nvSpPr>
        <p:spPr>
          <a:xfrm>
            <a:off x="548640" y="1783080"/>
            <a:ext cx="11094415" cy="530352"/>
          </a:xfrm>
          <a:prstGeom prst="roundRect">
            <a:avLst>
              <a:gd name="adj" fmla="val 31034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1" name="a1_c"/>
          <p:cNvSpPr txBox="1"/>
          <p:nvPr/>
        </p:nvSpPr>
        <p:spPr>
          <a:xfrm>
            <a:off x="777240" y="178308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H1</a:t>
            </a:r>
            <a:endParaRPr lang="es-ES" sz="1500" dirty="0"/>
          </a:p>
        </p:txBody>
      </p:sp>
      <p:sp>
        <p:nvSpPr>
          <p:cNvPr id="12" name="a1_h"/>
          <p:cNvSpPr txBox="1"/>
          <p:nvPr/>
        </p:nvSpPr>
        <p:spPr>
          <a:xfrm>
            <a:off x="1417320" y="178308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nuevo diseño hace que más clientes terminen</a:t>
            </a:r>
            <a:endParaRPr lang="es-ES" sz="1500" dirty="0"/>
          </a:p>
        </p:txBody>
      </p:sp>
      <p:sp>
        <p:nvSpPr>
          <p:cNvPr id="13" name="a1_b"/>
          <p:cNvSpPr/>
          <p:nvPr/>
        </p:nvSpPr>
        <p:spPr>
          <a:xfrm>
            <a:off x="6126480" y="187452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4" name="a1_v"/>
          <p:cNvSpPr txBox="1"/>
          <p:nvPr/>
        </p:nvSpPr>
        <p:spPr>
          <a:xfrm>
            <a:off x="6126480" y="18745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Confirmada</a:t>
            </a:r>
            <a:endParaRPr lang="es-ES" sz="1200" dirty="0"/>
          </a:p>
        </p:txBody>
      </p:sp>
      <p:sp>
        <p:nvSpPr>
          <p:cNvPr id="15" name="a1_x"/>
          <p:cNvSpPr txBox="1"/>
          <p:nvPr/>
        </p:nvSpPr>
        <p:spPr>
          <a:xfrm>
            <a:off x="7909560" y="17830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+3,7 puntos, y no es azar</a:t>
            </a:r>
            <a:endParaRPr lang="es-ES" sz="1300" dirty="0"/>
          </a:p>
        </p:txBody>
      </p:sp>
      <p:sp>
        <p:nvSpPr>
          <p:cNvPr id="16" name="a2_p"/>
          <p:cNvSpPr/>
          <p:nvPr/>
        </p:nvSpPr>
        <p:spPr>
          <a:xfrm>
            <a:off x="548640" y="2404872"/>
            <a:ext cx="11094415" cy="530352"/>
          </a:xfrm>
          <a:prstGeom prst="roundRect">
            <a:avLst>
              <a:gd name="adj" fmla="val 31034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7" name="a2_c"/>
          <p:cNvSpPr txBox="1"/>
          <p:nvPr/>
        </p:nvSpPr>
        <p:spPr>
          <a:xfrm>
            <a:off x="777240" y="240487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H2</a:t>
            </a:r>
            <a:endParaRPr lang="es-ES" sz="1500" dirty="0"/>
          </a:p>
        </p:txBody>
      </p:sp>
      <p:sp>
        <p:nvSpPr>
          <p:cNvPr id="18" name="a2_h"/>
          <p:cNvSpPr txBox="1"/>
          <p:nvPr/>
        </p:nvSpPr>
        <p:spPr>
          <a:xfrm>
            <a:off x="1417320" y="240487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mejora llega al 5 % que pide Vanguard</a:t>
            </a:r>
            <a:endParaRPr lang="es-ES" sz="1500" dirty="0"/>
          </a:p>
        </p:txBody>
      </p:sp>
      <p:sp>
        <p:nvSpPr>
          <p:cNvPr id="19" name="a2_b"/>
          <p:cNvSpPr/>
          <p:nvPr/>
        </p:nvSpPr>
        <p:spPr>
          <a:xfrm>
            <a:off x="6126480" y="2496312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20" name="a2_v"/>
          <p:cNvSpPr txBox="1"/>
          <p:nvPr/>
        </p:nvSpPr>
        <p:spPr>
          <a:xfrm>
            <a:off x="6126480" y="24963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demostrada</a:t>
            </a:r>
            <a:endParaRPr lang="es-ES" sz="1200" dirty="0"/>
          </a:p>
        </p:txBody>
      </p:sp>
      <p:sp>
        <p:nvSpPr>
          <p:cNvPr id="21" name="a2_x"/>
          <p:cNvSpPr txBox="1"/>
          <p:nvPr/>
        </p:nvSpPr>
        <p:spPr>
          <a:xfrm>
            <a:off x="7909560" y="240487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 puede afirmar</a:t>
            </a:r>
            <a:endParaRPr lang="es-ES" sz="1300" dirty="0"/>
          </a:p>
        </p:txBody>
      </p:sp>
      <p:sp>
        <p:nvSpPr>
          <p:cNvPr id="22" name="a3_p"/>
          <p:cNvSpPr/>
          <p:nvPr/>
        </p:nvSpPr>
        <p:spPr>
          <a:xfrm>
            <a:off x="548640" y="3026664"/>
            <a:ext cx="11094415" cy="530352"/>
          </a:xfrm>
          <a:prstGeom prst="roundRect">
            <a:avLst>
              <a:gd name="adj" fmla="val 31034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3" name="a3_c"/>
          <p:cNvSpPr txBox="1"/>
          <p:nvPr/>
        </p:nvSpPr>
        <p:spPr>
          <a:xfrm>
            <a:off x="777240" y="3026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H3</a:t>
            </a:r>
            <a:endParaRPr lang="es-ES" sz="1500" dirty="0"/>
          </a:p>
        </p:txBody>
      </p:sp>
      <p:sp>
        <p:nvSpPr>
          <p:cNvPr id="24" name="a3_h"/>
          <p:cNvSpPr txBox="1"/>
          <p:nvPr/>
        </p:nvSpPr>
        <p:spPr>
          <a:xfrm>
            <a:off x="1417320" y="302666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edad cambia el efecto del diseño</a:t>
            </a:r>
            <a:endParaRPr lang="es-ES" sz="1500" dirty="0"/>
          </a:p>
        </p:txBody>
      </p:sp>
      <p:sp>
        <p:nvSpPr>
          <p:cNvPr id="25" name="a3_b"/>
          <p:cNvSpPr/>
          <p:nvPr/>
        </p:nvSpPr>
        <p:spPr>
          <a:xfrm>
            <a:off x="6126480" y="3118104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26" name="a3_v"/>
          <p:cNvSpPr txBox="1"/>
          <p:nvPr/>
        </p:nvSpPr>
        <p:spPr>
          <a:xfrm>
            <a:off x="6126480" y="31181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Confirmada</a:t>
            </a:r>
            <a:endParaRPr lang="es-ES" sz="1200" dirty="0"/>
          </a:p>
        </p:txBody>
      </p:sp>
      <p:sp>
        <p:nvSpPr>
          <p:cNvPr id="27" name="a3_x"/>
          <p:cNvSpPr txBox="1"/>
          <p:nvPr/>
        </p:nvSpPr>
        <p:spPr>
          <a:xfrm>
            <a:off x="7909560" y="30266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ventaja en &lt;30 y en 60+</a:t>
            </a:r>
            <a:endParaRPr lang="es-ES" sz="1300" dirty="0"/>
          </a:p>
        </p:txBody>
      </p:sp>
      <p:sp>
        <p:nvSpPr>
          <p:cNvPr id="28" name="a4_p"/>
          <p:cNvSpPr/>
          <p:nvPr/>
        </p:nvSpPr>
        <p:spPr>
          <a:xfrm>
            <a:off x="548640" y="3648456"/>
            <a:ext cx="11094415" cy="530352"/>
          </a:xfrm>
          <a:prstGeom prst="roundRect">
            <a:avLst>
              <a:gd name="adj" fmla="val 31034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9" name="a4_c"/>
          <p:cNvSpPr txBox="1"/>
          <p:nvPr/>
        </p:nvSpPr>
        <p:spPr>
          <a:xfrm>
            <a:off x="777240" y="364845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H5</a:t>
            </a:r>
            <a:endParaRPr lang="es-ES" sz="1500" dirty="0"/>
          </a:p>
        </p:txBody>
      </p:sp>
      <p:sp>
        <p:nvSpPr>
          <p:cNvPr id="30" name="a4_h"/>
          <p:cNvSpPr txBox="1"/>
          <p:nvPr/>
        </p:nvSpPr>
        <p:spPr>
          <a:xfrm>
            <a:off x="1417320" y="364845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nuevo diseño provoca más errores</a:t>
            </a:r>
            <a:endParaRPr lang="es-ES" sz="1500" dirty="0"/>
          </a:p>
        </p:txBody>
      </p:sp>
      <p:sp>
        <p:nvSpPr>
          <p:cNvPr id="31" name="a4_b"/>
          <p:cNvSpPr/>
          <p:nvPr/>
        </p:nvSpPr>
        <p:spPr>
          <a:xfrm>
            <a:off x="6126480" y="3739896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32" name="a4_v"/>
          <p:cNvSpPr txBox="1"/>
          <p:nvPr/>
        </p:nvSpPr>
        <p:spPr>
          <a:xfrm>
            <a:off x="6126480" y="373989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Confirmada</a:t>
            </a:r>
            <a:endParaRPr lang="es-ES" sz="1200" dirty="0"/>
          </a:p>
        </p:txBody>
      </p:sp>
      <p:sp>
        <p:nvSpPr>
          <p:cNvPr id="33" name="a4_x"/>
          <p:cNvSpPr txBox="1"/>
          <p:nvPr/>
        </p:nvSpPr>
        <p:spPr>
          <a:xfrm>
            <a:off x="7909560" y="364845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33 % de clientes con errores frente a 26 %</a:t>
            </a:r>
            <a:endParaRPr lang="es-ES" sz="1300" dirty="0"/>
          </a:p>
        </p:txBody>
      </p:sp>
      <p:sp>
        <p:nvSpPr>
          <p:cNvPr id="34" name="a5_p"/>
          <p:cNvSpPr/>
          <p:nvPr/>
        </p:nvSpPr>
        <p:spPr>
          <a:xfrm>
            <a:off x="548640" y="4270248"/>
            <a:ext cx="11094415" cy="530352"/>
          </a:xfrm>
          <a:prstGeom prst="roundRect">
            <a:avLst>
              <a:gd name="adj" fmla="val 31034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35" name="a5_c"/>
          <p:cNvSpPr txBox="1"/>
          <p:nvPr/>
        </p:nvSpPr>
        <p:spPr>
          <a:xfrm>
            <a:off x="777240" y="427024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H6</a:t>
            </a:r>
            <a:endParaRPr lang="es-ES" sz="1500" dirty="0"/>
          </a:p>
        </p:txBody>
      </p:sp>
      <p:sp>
        <p:nvSpPr>
          <p:cNvPr id="36" name="a5_h"/>
          <p:cNvSpPr txBox="1"/>
          <p:nvPr/>
        </p:nvSpPr>
        <p:spPr>
          <a:xfrm>
            <a:off x="1417320" y="427024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ventaja se mantiene en el tiempo</a:t>
            </a:r>
            <a:endParaRPr lang="es-ES" sz="1500" dirty="0"/>
          </a:p>
        </p:txBody>
      </p:sp>
      <p:sp>
        <p:nvSpPr>
          <p:cNvPr id="37" name="a5_b"/>
          <p:cNvSpPr/>
          <p:nvPr/>
        </p:nvSpPr>
        <p:spPr>
          <a:xfrm>
            <a:off x="6126480" y="4361688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38" name="a5_v"/>
          <p:cNvSpPr txBox="1"/>
          <p:nvPr/>
        </p:nvSpPr>
        <p:spPr>
          <a:xfrm>
            <a:off x="6126480" y="43616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s-ES" sz="1200" dirty="0"/>
          </a:p>
        </p:txBody>
      </p:sp>
      <p:sp>
        <p:nvSpPr>
          <p:cNvPr id="39" name="a5_x"/>
          <p:cNvSpPr txBox="1"/>
          <p:nvPr/>
        </p:nvSpPr>
        <p:spPr>
          <a:xfrm>
            <a:off x="7909560" y="427024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+5 puntos en marzo a casi 0 en junio</a:t>
            </a:r>
            <a:endParaRPr lang="es-ES" sz="1300" dirty="0"/>
          </a:p>
        </p:txBody>
      </p:sp>
      <p:sp>
        <p:nvSpPr>
          <p:cNvPr id="40" name="a6_p"/>
          <p:cNvSpPr/>
          <p:nvPr/>
        </p:nvSpPr>
        <p:spPr>
          <a:xfrm>
            <a:off x="548640" y="4892040"/>
            <a:ext cx="11094415" cy="530352"/>
          </a:xfrm>
          <a:prstGeom prst="roundRect">
            <a:avLst>
              <a:gd name="adj" fmla="val 31034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41" name="a6_c"/>
          <p:cNvSpPr txBox="1"/>
          <p:nvPr/>
        </p:nvSpPr>
        <p:spPr>
          <a:xfrm>
            <a:off x="777240" y="489204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H7</a:t>
            </a:r>
            <a:endParaRPr lang="es-ES" sz="1500" dirty="0"/>
          </a:p>
        </p:txBody>
      </p:sp>
      <p:sp>
        <p:nvSpPr>
          <p:cNvPr id="42" name="a6_h"/>
          <p:cNvSpPr txBox="1"/>
          <p:nvPr/>
        </p:nvSpPr>
        <p:spPr>
          <a:xfrm>
            <a:off x="1417320" y="489204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los mayores les cuesta más</a:t>
            </a:r>
            <a:endParaRPr lang="es-ES" sz="1500" dirty="0"/>
          </a:p>
        </p:txBody>
      </p:sp>
      <p:sp>
        <p:nvSpPr>
          <p:cNvPr id="43" name="a6_b"/>
          <p:cNvSpPr/>
          <p:nvPr/>
        </p:nvSpPr>
        <p:spPr>
          <a:xfrm>
            <a:off x="6126480" y="498348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44" name="a6_v"/>
          <p:cNvSpPr txBox="1"/>
          <p:nvPr/>
        </p:nvSpPr>
        <p:spPr>
          <a:xfrm>
            <a:off x="6126480" y="4983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Confirmada</a:t>
            </a:r>
            <a:endParaRPr lang="es-ES" sz="1200" dirty="0"/>
          </a:p>
        </p:txBody>
      </p:sp>
      <p:sp>
        <p:nvSpPr>
          <p:cNvPr id="45" name="a6_x"/>
          <p:cNvSpPr txBox="1"/>
          <p:nvPr/>
        </p:nvSpPr>
        <p:spPr>
          <a:xfrm>
            <a:off x="7909560" y="48920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unos 10 puntos más de errores desde los 45</a:t>
            </a:r>
            <a:endParaRPr lang="es-ES" sz="1300" dirty="0"/>
          </a:p>
        </p:txBody>
      </p:sp>
      <p:sp>
        <p:nvSpPr>
          <p:cNvPr id="46" name="a7_p"/>
          <p:cNvSpPr/>
          <p:nvPr/>
        </p:nvSpPr>
        <p:spPr>
          <a:xfrm>
            <a:off x="548640" y="5513832"/>
            <a:ext cx="11094415" cy="530352"/>
          </a:xfrm>
          <a:prstGeom prst="roundRect">
            <a:avLst>
              <a:gd name="adj" fmla="val 31034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47" name="a7_c"/>
          <p:cNvSpPr txBox="1"/>
          <p:nvPr/>
        </p:nvSpPr>
        <p:spPr>
          <a:xfrm>
            <a:off x="777240" y="551383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s-ES" sz="1500" dirty="0"/>
          </a:p>
        </p:txBody>
      </p:sp>
      <p:sp>
        <p:nvSpPr>
          <p:cNvPr id="48" name="a7_h"/>
          <p:cNvSpPr txBox="1"/>
          <p:nvPr/>
        </p:nvSpPr>
        <p:spPr>
          <a:xfrm>
            <a:off x="1417320" y="551383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experimento repartió 50/50 y de forma estable</a:t>
            </a:r>
            <a:endParaRPr lang="es-ES" sz="1500" dirty="0"/>
          </a:p>
        </p:txBody>
      </p:sp>
      <p:sp>
        <p:nvSpPr>
          <p:cNvPr id="49" name="a7_b"/>
          <p:cNvSpPr/>
          <p:nvPr/>
        </p:nvSpPr>
        <p:spPr>
          <a:xfrm>
            <a:off x="6126480" y="5605272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FF5C6C"/>
          </a:solidFill>
          <a:ln w="12700">
            <a:solidFill>
              <a:srgbClr val="FF5C6C"/>
            </a:solidFill>
            <a:prstDash val="solid"/>
          </a:ln>
        </p:spPr>
      </p:sp>
      <p:sp>
        <p:nvSpPr>
          <p:cNvPr id="50" name="a7_v"/>
          <p:cNvSpPr txBox="1"/>
          <p:nvPr/>
        </p:nvSpPr>
        <p:spPr>
          <a:xfrm>
            <a:off x="6126480" y="56052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2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s-ES" sz="1200" dirty="0"/>
          </a:p>
        </p:txBody>
      </p:sp>
      <p:sp>
        <p:nvSpPr>
          <p:cNvPr id="51" name="a7_x"/>
          <p:cNvSpPr txBox="1"/>
          <p:nvPr/>
        </p:nvSpPr>
        <p:spPr>
          <a:xfrm>
            <a:off x="7909560" y="551383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53/47, y el reparto cambió el 8 de mayo</a:t>
            </a:r>
            <a:endParaRPr lang="es-E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18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2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75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7" grpId="0" animBg="1"/>
      <p:bldP spid="48" grpId="0" animBg="1"/>
      <p:bldP spid="50" grpId="0" animBg="1"/>
      <p:bldP spid="5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Tableau: el test por grupo, edad y género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351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0175" y="384048"/>
            <a:ext cx="146304" cy="146304"/>
          </a:xfrm>
          <a:prstGeom prst="ellipse">
            <a:avLst/>
          </a:prstGeom>
          <a:solidFill>
            <a:srgbClr val="2A3B57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STEP_3 · ¿ES REAL?</a:t>
            </a:r>
            <a:endParaRPr lang="es-ES" sz="1200" dirty="0"/>
          </a:p>
        </p:txBody>
      </p:sp>
      <p:sp>
        <p:nvSpPr>
          <p:cNvPr id="10" name="a1_f"/>
          <p:cNvSpPr/>
          <p:nvPr/>
        </p:nvSpPr>
        <p:spPr>
          <a:xfrm>
            <a:off x="548640" y="1691640"/>
            <a:ext cx="3611880" cy="3154680"/>
          </a:xfrm>
          <a:prstGeom prst="roundRect">
            <a:avLst>
              <a:gd name="adj" fmla="val 8372"/>
            </a:avLst>
          </a:prstGeom>
          <a:blipFill>
            <a:blip r:embed="rIdTab1"/>
            <a:stretch>
              <a:fillRect/>
            </a:stretch>
          </a:blipFill>
          <a:ln w="12700">
            <a:solidFill>
              <a:srgbClr val="F5F7FA"/>
            </a:solidFill>
            <a:prstDash val="solid"/>
          </a:ln>
        </p:spPr>
      </p:sp>
      <p:sp>
        <p:nvSpPr>
          <p:cNvPr id="11" name="a1_t"/>
          <p:cNvSpPr txBox="1"/>
          <p:nvPr/>
        </p:nvSpPr>
        <p:spPr>
          <a:xfrm>
            <a:off x="685800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Embudo: clientes en cada paso</a:t>
            </a:r>
          </a:p>
        </p:txBody>
      </p:sp>
      <p:sp>
        <p:nvSpPr>
          <p:cNvPr id="12" name="a2_f"/>
          <p:cNvSpPr/>
          <p:nvPr/>
        </p:nvSpPr>
        <p:spPr>
          <a:xfrm>
            <a:off x="4306824" y="1691640"/>
            <a:ext cx="3611880" cy="3154680"/>
          </a:xfrm>
          <a:prstGeom prst="roundRect">
            <a:avLst>
              <a:gd name="adj" fmla="val 8372"/>
            </a:avLst>
          </a:prstGeom>
          <a:blipFill>
            <a:blip r:embed="rIdTab2"/>
            <a:stretch>
              <a:fillRect/>
            </a:stretch>
          </a:blipFill>
          <a:ln w="12700">
            <a:solidFill>
              <a:srgbClr val="F5F7FA"/>
            </a:solidFill>
            <a:prstDash val="solid"/>
          </a:ln>
        </p:spPr>
      </p:sp>
      <p:sp>
        <p:nvSpPr>
          <p:cNvPr id="13" name="a2_t"/>
          <p:cNvSpPr txBox="1"/>
          <p:nvPr/>
        </p:nvSpPr>
        <p:spPr>
          <a:xfrm>
            <a:off x="4443984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por tramo de edad</a:t>
            </a:r>
          </a:p>
        </p:txBody>
      </p:sp>
      <p:sp>
        <p:nvSpPr>
          <p:cNvPr id="14" name="a3_f"/>
          <p:cNvSpPr/>
          <p:nvPr/>
        </p:nvSpPr>
        <p:spPr>
          <a:xfrm>
            <a:off x="8065008" y="1691640"/>
            <a:ext cx="3611880" cy="3154680"/>
          </a:xfrm>
          <a:prstGeom prst="roundRect">
            <a:avLst>
              <a:gd name="adj" fmla="val 8372"/>
            </a:avLst>
          </a:prstGeom>
          <a:blipFill>
            <a:blip r:embed="rIdTab3"/>
            <a:stretch>
              <a:fillRect/>
            </a:stretch>
          </a:blipFill>
          <a:ln w="12700">
            <a:solidFill>
              <a:srgbClr val="F5F7FA"/>
            </a:solidFill>
            <a:prstDash val="solid"/>
          </a:ln>
        </p:spPr>
      </p:sp>
      <p:sp>
        <p:nvSpPr>
          <p:cNvPr id="15" name="a3_t"/>
          <p:cNvSpPr txBox="1"/>
          <p:nvPr/>
        </p:nvSpPr>
        <p:spPr>
          <a:xfrm>
            <a:off x="8202168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por género</a:t>
            </a:r>
          </a:p>
        </p:txBody>
      </p:sp>
      <p:sp>
        <p:nvSpPr>
          <p:cNvPr id="16" name="a4_f"/>
          <p:cNvSpPr/>
          <p:nvPr/>
        </p:nvSpPr>
        <p:spPr>
          <a:xfrm>
            <a:off x="548640" y="4983480"/>
            <a:ext cx="5468112" cy="914400"/>
          </a:xfrm>
          <a:prstGeom prst="roundRect">
            <a:avLst>
              <a:gd name="adj" fmla="val 8372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a4_t"/>
          <p:cNvSpPr txBox="1"/>
          <p:nvPr/>
        </p:nvSpPr>
        <p:spPr>
          <a:xfrm>
            <a:off x="777240" y="5029200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de finalización   </a:t>
            </a:r>
            <a:r>
              <a:rPr lang="es-ES" sz="1700" b="1" dirty="0">
                <a:solidFill>
                  <a:srgbClr val="4E7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66 %</a:t>
            </a:r>
            <a:r>
              <a:rPr lang="es-ES" sz="17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→  </a:t>
            </a:r>
            <a:r>
              <a:rPr lang="es-ES" sz="1700" b="1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70 %</a:t>
            </a:r>
          </a:p>
          <a:p>
            <a:pPr algn="ctr" indent="0" marL="0">
              <a:buNone/>
            </a:pPr>
            <a:r>
              <a:rPr lang="es-E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los clientes que empiezan</a:t>
            </a:r>
          </a:p>
        </p:txBody>
      </p:sp>
      <p:sp>
        <p:nvSpPr>
          <p:cNvPr id="18" name="a5_f"/>
          <p:cNvSpPr/>
          <p:nvPr/>
        </p:nvSpPr>
        <p:spPr>
          <a:xfrm>
            <a:off x="6172200" y="4983480"/>
            <a:ext cx="5468112" cy="914400"/>
          </a:xfrm>
          <a:prstGeom prst="roundRect">
            <a:avLst>
              <a:gd name="adj" fmla="val 8372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a5_t"/>
          <p:cNvSpPr txBox="1"/>
          <p:nvPr/>
        </p:nvSpPr>
        <p:spPr>
          <a:xfrm>
            <a:off x="6400800" y="5029200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Porcentaje de errores   </a:t>
            </a:r>
            <a:r>
              <a:rPr lang="es-ES" sz="1700" b="1" dirty="0">
                <a:solidFill>
                  <a:srgbClr val="4E79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7 %</a:t>
            </a:r>
            <a:r>
              <a:rPr lang="es-ES" sz="17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→  </a:t>
            </a:r>
            <a:r>
              <a:rPr lang="es-ES" sz="1700" b="1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9 %</a:t>
            </a:r>
          </a:p>
          <a:p>
            <a:pPr algn="ctr" indent="0" marL="0">
              <a:buNone/>
            </a:pPr>
            <a:r>
              <a:rPr lang="es-E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pasos hacia atrás sobre el total de pasos</a:t>
            </a:r>
          </a:p>
        </p:txBody>
      </p:sp>
      <p:sp>
        <p:nvSpPr>
          <p:cNvPr id="22" name="a7_p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b="1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Hecho por Emmanuel en Tableau. </a:t>
            </a:r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tiempo en cada paso y las pruebas estadísticas se hicieron con Python.</a:t>
            </a:r>
            <a:endParaRPr lang="es-E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19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/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7" grpId="0" animBg="1"/>
      <p:bldP spid="19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D97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23599" y="347472"/>
            <a:ext cx="219456" cy="219456"/>
          </a:xfrm>
          <a:prstGeom prst="ellipse">
            <a:avLst/>
          </a:prstGeom>
          <a:solidFill>
            <a:srgbClr val="0B1424"/>
          </a:solidFill>
          <a:ln w="19050">
            <a:solidFill>
              <a:srgbClr val="F28E2B"/>
            </a:solidFill>
            <a:prstDash val="solid"/>
          </a:ln>
        </p:spPr>
      </p:sp>
      <p:sp>
        <p:nvSpPr>
          <p:cNvPr id="8" name="a1_paso"/>
          <p:cNvSpPr txBox="1"/>
          <p:nvPr/>
        </p:nvSpPr>
        <p:spPr>
          <a:xfrm>
            <a:off x="457200" y="1097280"/>
            <a:ext cx="11430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0" b="1" dirty="0">
                <a:solidFill>
                  <a:srgbClr val="FFB4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</a:t>
            </a:r>
            <a:endParaRPr lang="es-ES" sz="15000" dirty="0"/>
          </a:p>
        </p:txBody>
      </p:sp>
      <p:sp>
        <p:nvSpPr>
          <p:cNvPr id="9" name="a2_eti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spc="300" kern="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5 DE 5 · QUÉ HACER</a:t>
            </a:r>
            <a:endParaRPr lang="es-ES" sz="1500" dirty="0"/>
          </a:p>
        </p:txBody>
      </p:sp>
      <p:sp>
        <p:nvSpPr>
          <p:cNvPr id="10" name="a2_q"/>
          <p:cNvSpPr txBox="1"/>
          <p:nvPr/>
        </p:nvSpPr>
        <p:spPr>
          <a:xfrm>
            <a:off x="548640" y="4343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44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¿Y ahora qué hacemos?</a:t>
            </a:r>
            <a:endParaRPr lang="es-E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B1424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20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significan 3,7 puntos para Vanguard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2359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· QUÉ HACER</a:t>
            </a:r>
            <a:endParaRPr lang="es-ES" sz="1200" dirty="0"/>
          </a:p>
        </p:txBody>
      </p:sp>
      <p:sp>
        <p:nvSpPr>
          <p:cNvPr id="10" name="a1_c"/>
          <p:cNvSpPr/>
          <p:nvPr/>
        </p:nvSpPr>
        <p:spPr>
          <a:xfrm>
            <a:off x="548640" y="1783080"/>
            <a:ext cx="5486400" cy="4343400"/>
          </a:xfrm>
          <a:prstGeom prst="roundRect">
            <a:avLst>
              <a:gd name="adj" fmla="val 3789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a1_n"/>
          <p:cNvSpPr txBox="1"/>
          <p:nvPr/>
        </p:nvSpPr>
        <p:spPr>
          <a:xfrm>
            <a:off x="960120" y="21031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80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1.000</a:t>
            </a:r>
            <a:endParaRPr lang="es-ES" sz="8000" dirty="0"/>
          </a:p>
        </p:txBody>
      </p:sp>
      <p:sp>
        <p:nvSpPr>
          <p:cNvPr id="12" name="a1_l"/>
          <p:cNvSpPr txBox="1"/>
          <p:nvPr/>
        </p:nvSpPr>
        <p:spPr>
          <a:xfrm>
            <a:off x="960120" y="3474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20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clientes más terminaron el proceso durante el test gracias al nuevo diseño</a:t>
            </a:r>
            <a:endParaRPr lang="es-ES" sz="2000" dirty="0"/>
          </a:p>
        </p:txBody>
      </p:sp>
      <p:sp>
        <p:nvSpPr>
          <p:cNvPr id="13" name="a1_s"/>
          <p:cNvSpPr txBox="1"/>
          <p:nvPr/>
        </p:nvSpPr>
        <p:spPr>
          <a:xfrm>
            <a:off x="960120" y="5349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400" dirty="0">
                <a:solidFill>
                  <a:srgbClr val="0B14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27.000 clientes del Test × 3,7 puntos de ventaja</a:t>
            </a:r>
            <a:endParaRPr lang="es-ES" sz="1400" dirty="0"/>
          </a:p>
        </p:txBody>
      </p:sp>
      <p:sp>
        <p:nvSpPr>
          <p:cNvPr id="14" name="a2_c"/>
          <p:cNvSpPr/>
          <p:nvPr/>
        </p:nvSpPr>
        <p:spPr>
          <a:xfrm>
            <a:off x="6263640" y="1783080"/>
            <a:ext cx="5376672" cy="2057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5" name="a2_n"/>
          <p:cNvSpPr txBox="1"/>
          <p:nvPr/>
        </p:nvSpPr>
        <p:spPr>
          <a:xfrm>
            <a:off x="6583680" y="19659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48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3.700</a:t>
            </a:r>
            <a:endParaRPr lang="es-ES" sz="4800" dirty="0"/>
          </a:p>
        </p:txBody>
      </p:sp>
      <p:sp>
        <p:nvSpPr>
          <p:cNvPr id="16" name="a2_l"/>
          <p:cNvSpPr txBox="1"/>
          <p:nvPr/>
        </p:nvSpPr>
        <p:spPr>
          <a:xfrm>
            <a:off x="658368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6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procesos más por cada 100.000 clientes que empiezan</a:t>
            </a:r>
            <a:endParaRPr lang="es-ES" sz="1600" dirty="0"/>
          </a:p>
        </p:txBody>
      </p:sp>
      <p:sp>
        <p:nvSpPr>
          <p:cNvPr id="17" name="a3_c"/>
          <p:cNvSpPr/>
          <p:nvPr/>
        </p:nvSpPr>
        <p:spPr>
          <a:xfrm>
            <a:off x="6263640" y="4069080"/>
            <a:ext cx="5376672" cy="2057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8" name="a3_t"/>
          <p:cNvSpPr txBox="1"/>
          <p:nvPr/>
        </p:nvSpPr>
        <p:spPr>
          <a:xfrm>
            <a:off x="6583680" y="42519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6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rediseño se paga si cuesta menos de </a:t>
            </a:r>
            <a:pPr indent="0" marL="0">
              <a:buNone/>
            </a:pPr>
            <a:r>
              <a:rPr lang="es-ES" sz="1600" b="1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3.700 × V</a:t>
            </a:r>
            <a:pPr indent="0" marL="0">
              <a:buNone/>
            </a:pPr>
            <a:r>
              <a:rPr lang="es-ES" sz="16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por cada 100.000 clientes, siendo V lo que vale para Vanguard un proceso completado.</a:t>
            </a:r>
            <a:endParaRPr lang="es-ES" sz="1600" dirty="0"/>
          </a:p>
        </p:txBody>
      </p:sp>
      <p:sp>
        <p:nvSpPr>
          <p:cNvPr id="19" name="a3_s"/>
          <p:cNvSpPr txBox="1"/>
          <p:nvPr/>
        </p:nvSpPr>
        <p:spPr>
          <a:xfrm>
            <a:off x="6583680" y="5486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 no está en los datos: es la pregunta que hay que hacer a Vanguard.</a:t>
            </a:r>
            <a:endParaRPr lang="es-E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21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Arreglar antes de lanzar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2359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· QUÉ HACER</a:t>
            </a:r>
            <a:endParaRPr lang="es-ES" sz="1200" dirty="0"/>
          </a:p>
        </p:txBody>
      </p:sp>
      <p:sp>
        <p:nvSpPr>
          <p:cNvPr id="10" name="a1_c"/>
          <p:cNvSpPr/>
          <p:nvPr/>
        </p:nvSpPr>
        <p:spPr>
          <a:xfrm>
            <a:off x="548640" y="1783080"/>
            <a:ext cx="2606040" cy="4343400"/>
          </a:xfrm>
          <a:prstGeom prst="roundRect">
            <a:avLst>
              <a:gd name="adj" fmla="val 6316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1" name="a1_n"/>
          <p:cNvSpPr txBox="1"/>
          <p:nvPr/>
        </p:nvSpPr>
        <p:spPr>
          <a:xfrm>
            <a:off x="822960" y="19659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48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s-ES" sz="4800" dirty="0"/>
          </a:p>
        </p:txBody>
      </p:sp>
      <p:sp>
        <p:nvSpPr>
          <p:cNvPr id="12" name="a1_d_c"/>
          <p:cNvSpPr/>
          <p:nvPr/>
        </p:nvSpPr>
        <p:spPr>
          <a:xfrm>
            <a:off x="2240280" y="2103120"/>
            <a:ext cx="640080" cy="64008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pic>
        <p:nvPicPr>
          <p:cNvPr id="13" name="a1_d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701" y="2269541"/>
            <a:ext cx="307238" cy="307238"/>
          </a:xfrm>
          <a:prstGeom prst="rect">
            <a:avLst/>
          </a:prstGeom>
        </p:spPr>
      </p:pic>
      <p:sp>
        <p:nvSpPr>
          <p:cNvPr id="14" name="a1_t"/>
          <p:cNvSpPr txBox="1"/>
          <p:nvPr/>
        </p:nvSpPr>
        <p:spPr>
          <a:xfrm>
            <a:off x="822960" y="30632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21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Arreglar step_1</a:t>
            </a:r>
            <a:endParaRPr lang="es-ES" sz="2100" dirty="0"/>
          </a:p>
        </p:txBody>
      </p:sp>
      <p:sp>
        <p:nvSpPr>
          <p:cNvPr id="15" name="a1_x"/>
          <p:cNvSpPr txBox="1"/>
          <p:nvPr/>
        </p:nvSpPr>
        <p:spPr>
          <a:xfrm>
            <a:off x="822960" y="40233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único paso más lento, y desde donde se vuelve a start más del doble</a:t>
            </a:r>
            <a:endParaRPr lang="es-ES" sz="1400" dirty="0"/>
          </a:p>
        </p:txBody>
      </p:sp>
      <p:sp>
        <p:nvSpPr>
          <p:cNvPr id="16" name="a2_c"/>
          <p:cNvSpPr/>
          <p:nvPr/>
        </p:nvSpPr>
        <p:spPr>
          <a:xfrm>
            <a:off x="3355848" y="1783080"/>
            <a:ext cx="2606040" cy="4343400"/>
          </a:xfrm>
          <a:prstGeom prst="roundRect">
            <a:avLst>
              <a:gd name="adj" fmla="val 6316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7" name="a2_n"/>
          <p:cNvSpPr txBox="1"/>
          <p:nvPr/>
        </p:nvSpPr>
        <p:spPr>
          <a:xfrm>
            <a:off x="3630168" y="19659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48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s-ES" sz="4800" dirty="0"/>
          </a:p>
        </p:txBody>
      </p:sp>
      <p:sp>
        <p:nvSpPr>
          <p:cNvPr id="18" name="a2_d_c"/>
          <p:cNvSpPr/>
          <p:nvPr/>
        </p:nvSpPr>
        <p:spPr>
          <a:xfrm>
            <a:off x="5047488" y="2103120"/>
            <a:ext cx="640080" cy="64008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pic>
        <p:nvPicPr>
          <p:cNvPr id="19" name="a2_d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909" y="2269541"/>
            <a:ext cx="307238" cy="307238"/>
          </a:xfrm>
          <a:prstGeom prst="rect">
            <a:avLst/>
          </a:prstGeom>
        </p:spPr>
      </p:pic>
      <p:sp>
        <p:nvSpPr>
          <p:cNvPr id="20" name="a2_t"/>
          <p:cNvSpPr txBox="1"/>
          <p:nvPr/>
        </p:nvSpPr>
        <p:spPr>
          <a:xfrm>
            <a:off x="3630168" y="30632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21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Ayudar a los mayores</a:t>
            </a:r>
            <a:endParaRPr lang="es-ES" sz="2100" dirty="0"/>
          </a:p>
        </p:txBody>
      </p:sp>
      <p:sp>
        <p:nvSpPr>
          <p:cNvPr id="21" name="a2_x"/>
          <p:cNvSpPr txBox="1"/>
          <p:nvPr/>
        </p:nvSpPr>
        <p:spPr>
          <a:xfrm>
            <a:off x="3630168" y="40233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guía en step_1 para los mayores de 45: son el 56 % y los que más se pierden</a:t>
            </a:r>
            <a:endParaRPr lang="es-ES" sz="1400" dirty="0"/>
          </a:p>
        </p:txBody>
      </p:sp>
      <p:sp>
        <p:nvSpPr>
          <p:cNvPr id="22" name="a3_c"/>
          <p:cNvSpPr/>
          <p:nvPr/>
        </p:nvSpPr>
        <p:spPr>
          <a:xfrm>
            <a:off x="6163056" y="1783080"/>
            <a:ext cx="2606040" cy="4343400"/>
          </a:xfrm>
          <a:prstGeom prst="roundRect">
            <a:avLst>
              <a:gd name="adj" fmla="val 6316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3" name="a3_n"/>
          <p:cNvSpPr txBox="1"/>
          <p:nvPr/>
        </p:nvSpPr>
        <p:spPr>
          <a:xfrm>
            <a:off x="6437376" y="19659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4800" b="1" dirty="0">
                <a:solidFill>
                  <a:srgbClr val="6C9B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s-ES" sz="4800" dirty="0"/>
          </a:p>
        </p:txBody>
      </p:sp>
      <p:sp>
        <p:nvSpPr>
          <p:cNvPr id="24" name="a3_d_c"/>
          <p:cNvSpPr/>
          <p:nvPr/>
        </p:nvSpPr>
        <p:spPr>
          <a:xfrm>
            <a:off x="7854696" y="2103120"/>
            <a:ext cx="640080" cy="640080"/>
          </a:xfrm>
          <a:prstGeom prst="ellipse">
            <a:avLst/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pic>
        <p:nvPicPr>
          <p:cNvPr id="25" name="a3_d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117" y="2269541"/>
            <a:ext cx="307238" cy="307238"/>
          </a:xfrm>
          <a:prstGeom prst="rect">
            <a:avLst/>
          </a:prstGeom>
        </p:spPr>
      </p:pic>
      <p:sp>
        <p:nvSpPr>
          <p:cNvPr id="26" name="a3_t"/>
          <p:cNvSpPr txBox="1"/>
          <p:nvPr/>
        </p:nvSpPr>
        <p:spPr>
          <a:xfrm>
            <a:off x="6437376" y="30632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21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Definir el 5 %</a:t>
            </a:r>
            <a:endParaRPr lang="es-ES" sz="2100" dirty="0"/>
          </a:p>
        </p:txBody>
      </p:sp>
      <p:sp>
        <p:nvSpPr>
          <p:cNvPr id="27" name="a3_x"/>
          <p:cNvSpPr txBox="1"/>
          <p:nvPr/>
        </p:nvSpPr>
        <p:spPr>
          <a:xfrm>
            <a:off x="6437376" y="40233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puntos o relativo, y en dinero: valor de cada proceso frente al coste</a:t>
            </a:r>
            <a:endParaRPr lang="es-ES" sz="1400" dirty="0"/>
          </a:p>
        </p:txBody>
      </p:sp>
      <p:sp>
        <p:nvSpPr>
          <p:cNvPr id="28" name="a4_c"/>
          <p:cNvSpPr/>
          <p:nvPr/>
        </p:nvSpPr>
        <p:spPr>
          <a:xfrm>
            <a:off x="8970264" y="1783080"/>
            <a:ext cx="2606040" cy="4343400"/>
          </a:xfrm>
          <a:prstGeom prst="roundRect">
            <a:avLst>
              <a:gd name="adj" fmla="val 6316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9" name="a4_n"/>
          <p:cNvSpPr txBox="1"/>
          <p:nvPr/>
        </p:nvSpPr>
        <p:spPr>
          <a:xfrm>
            <a:off x="9244584" y="19659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4800" b="1" dirty="0">
                <a:solidFill>
                  <a:srgbClr val="6C9B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s-ES" sz="4800" dirty="0"/>
          </a:p>
        </p:txBody>
      </p:sp>
      <p:sp>
        <p:nvSpPr>
          <p:cNvPr id="30" name="a4_d_c"/>
          <p:cNvSpPr/>
          <p:nvPr/>
        </p:nvSpPr>
        <p:spPr>
          <a:xfrm>
            <a:off x="10661904" y="2103120"/>
            <a:ext cx="640080" cy="640080"/>
          </a:xfrm>
          <a:prstGeom prst="ellipse">
            <a:avLst/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pic>
        <p:nvPicPr>
          <p:cNvPr id="31" name="a4_d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8325" y="2269541"/>
            <a:ext cx="307238" cy="307238"/>
          </a:xfrm>
          <a:prstGeom prst="rect">
            <a:avLst/>
          </a:prstGeom>
        </p:spPr>
      </p:pic>
      <p:sp>
        <p:nvSpPr>
          <p:cNvPr id="32" name="a4_t"/>
          <p:cNvSpPr txBox="1"/>
          <p:nvPr/>
        </p:nvSpPr>
        <p:spPr>
          <a:xfrm>
            <a:off x="9244584" y="30632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21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Repetir un test corto</a:t>
            </a:r>
            <a:endParaRPr lang="es-ES" sz="2100" dirty="0"/>
          </a:p>
        </p:txBody>
      </p:sp>
      <p:sp>
        <p:nvSpPr>
          <p:cNvPr id="33" name="a4_x"/>
          <p:cNvSpPr txBox="1"/>
          <p:nvPr/>
        </p:nvSpPr>
        <p:spPr>
          <a:xfrm>
            <a:off x="9244584" y="40233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4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reparto 50/50 estable y más semanas, para ver si la ventaja dura</a:t>
            </a:r>
            <a:endParaRPr lang="es-E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22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2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7" grpId="0" animBg="1"/>
      <p:bldP spid="20" grpId="0" animBg="1"/>
      <p:bldP spid="21" grpId="0" animBg="1"/>
      <p:bldP spid="23" grpId="0" animBg="1"/>
      <p:bldP spid="26" grpId="0" animBg="1"/>
      <p:bldP spid="27" grpId="0" animBg="1"/>
      <p:bldP spid="29" grpId="0" animBg="1"/>
      <p:bldP spid="32" grpId="0" animBg="1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trabajamos y qué aprendimos</a:t>
            </a:r>
            <a:endParaRPr lang="es-ES" sz="3400" dirty="0"/>
          </a:p>
        </p:txBody>
      </p:sp>
      <p:sp>
        <p:nvSpPr>
          <p:cNvPr id="3" name="Shape 1"/>
          <p:cNvSpPr/>
          <p:nvPr/>
        </p:nvSpPr>
        <p:spPr>
          <a:xfrm>
            <a:off x="8973007" y="457200"/>
            <a:ext cx="2560320" cy="0"/>
          </a:xfrm>
          <a:prstGeom prst="line">
            <a:avLst/>
          </a:prstGeom>
          <a:noFill/>
          <a:ln w="19050">
            <a:solidFill>
              <a:srgbClr val="2A3B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993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01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20095" y="384048"/>
            <a:ext cx="146304" cy="146304"/>
          </a:xfrm>
          <a:prstGeom prst="ellipse">
            <a:avLst/>
          </a:prstGeom>
          <a:solidFill>
            <a:srgbClr val="6C9BD2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23599" y="347472"/>
            <a:ext cx="219456" cy="219456"/>
          </a:xfrm>
          <a:prstGeom prst="ellipse">
            <a:avLst/>
          </a:prstGeom>
          <a:solidFill>
            <a:srgbClr val="F28E2B"/>
          </a:solidFill>
          <a:ln w="19050">
            <a:solidFill>
              <a:srgbClr val="0B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· QUÉ HACER</a:t>
            </a:r>
            <a:endParaRPr lang="es-ES" sz="1200" dirty="0"/>
          </a:p>
        </p:txBody>
      </p:sp>
      <p:sp>
        <p:nvSpPr>
          <p:cNvPr id="10" name="a1_c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3789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11" name="a1_t"/>
          <p:cNvSpPr txBox="1"/>
          <p:nvPr/>
        </p:nvSpPr>
        <p:spPr>
          <a:xfrm>
            <a:off x="8686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2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EQUIPO</a:t>
            </a:r>
            <a:endParaRPr lang="es-ES" sz="1200" dirty="0"/>
          </a:p>
        </p:txBody>
      </p:sp>
      <p:sp>
        <p:nvSpPr>
          <p:cNvPr id="12" name="a1_av0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a1_in0"/>
          <p:cNvSpPr txBox="1"/>
          <p:nvPr/>
        </p:nvSpPr>
        <p:spPr>
          <a:xfrm>
            <a:off x="868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6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</a:t>
            </a:r>
            <a:endParaRPr lang="es-ES" sz="1600" dirty="0"/>
          </a:p>
        </p:txBody>
      </p:sp>
      <p:sp>
        <p:nvSpPr>
          <p:cNvPr id="14" name="a1_tx0"/>
          <p:cNvSpPr txBox="1"/>
          <p:nvPr/>
        </p:nvSpPr>
        <p:spPr>
          <a:xfrm>
            <a:off x="1508760" y="2331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João: </a:t>
            </a:r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limpieza, exploración, KPI y contrastes ampliados</a:t>
            </a:r>
            <a:endParaRPr lang="es-ES" sz="1300" dirty="0"/>
          </a:p>
        </p:txBody>
      </p:sp>
      <p:sp>
        <p:nvSpPr>
          <p:cNvPr id="15" name="a1_av1"/>
          <p:cNvSpPr/>
          <p:nvPr/>
        </p:nvSpPr>
        <p:spPr>
          <a:xfrm>
            <a:off x="868680" y="3154680"/>
            <a:ext cx="502920" cy="502920"/>
          </a:xfrm>
          <a:prstGeom prst="ellipse">
            <a:avLst/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6" name="a1_in1"/>
          <p:cNvSpPr txBox="1"/>
          <p:nvPr/>
        </p:nvSpPr>
        <p:spPr>
          <a:xfrm>
            <a:off x="8686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6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s-ES" sz="1600" dirty="0"/>
          </a:p>
        </p:txBody>
      </p:sp>
      <p:sp>
        <p:nvSpPr>
          <p:cNvPr id="17" name="a1_tx1"/>
          <p:cNvSpPr txBox="1"/>
          <p:nvPr/>
        </p:nvSpPr>
        <p:spPr>
          <a:xfrm>
            <a:off x="1508760" y="31089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Emmanuel: </a:t>
            </a:r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base de la prueba de hipótesis (H1, H2 y la edad), la primera evaluación y el Tableau</a:t>
            </a:r>
            <a:endParaRPr lang="es-ES" sz="1300" dirty="0"/>
          </a:p>
        </p:txBody>
      </p:sp>
      <p:sp>
        <p:nvSpPr>
          <p:cNvPr id="18" name="a2_k"/>
          <p:cNvSpPr/>
          <p:nvPr/>
        </p:nvSpPr>
        <p:spPr>
          <a:xfrm>
            <a:off x="868680" y="4023360"/>
            <a:ext cx="4754880" cy="1874520"/>
          </a:xfrm>
          <a:prstGeom prst="roundRect">
            <a:avLst>
              <a:gd name="adj" fmla="val 5854"/>
            </a:avLst>
          </a:prstGeom>
          <a:solidFill>
            <a:srgbClr val="0B1424"/>
          </a:solidFill>
          <a:ln w="12700">
            <a:solidFill>
              <a:srgbClr val="0B1424"/>
            </a:solidFill>
            <a:prstDash val="solid"/>
          </a:ln>
        </p:spPr>
      </p:sp>
      <p:sp>
        <p:nvSpPr>
          <p:cNvPr id="19" name="a2_kt"/>
          <p:cNvSpPr txBox="1"/>
          <p:nvPr/>
        </p:nvSpPr>
        <p:spPr>
          <a:xfrm>
            <a:off x="1051560" y="411480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s-ES" sz="1300" b="1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NOS ORGANIZAMOS</a:t>
            </a:r>
            <a:endParaRPr lang="es-E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uno una parte del análisis, todo junto en un solo notebook</a:t>
            </a:r>
            <a:endParaRPr lang="es-E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 explicamos el uno al otro lo que hacía cada uno</a:t>
            </a:r>
            <a:endParaRPr lang="es-E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no vimos en clase, lo rehicimos con lo que sí</a:t>
            </a:r>
            <a:endParaRPr lang="es-ES" sz="1300" dirty="0"/>
          </a:p>
        </p:txBody>
      </p:sp>
      <p:sp>
        <p:nvSpPr>
          <p:cNvPr id="20" name="a3_t"/>
          <p:cNvSpPr txBox="1"/>
          <p:nvPr/>
        </p:nvSpPr>
        <p:spPr>
          <a:xfrm>
            <a:off x="626364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2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RETOS Y CÓMO LOS RESOLVIMOS</a:t>
            </a:r>
            <a:endParaRPr lang="es-ES" sz="1200" dirty="0"/>
          </a:p>
        </p:txBody>
      </p:sp>
      <p:sp>
        <p:nvSpPr>
          <p:cNvPr id="21" name="a4_c"/>
          <p:cNvSpPr/>
          <p:nvPr/>
        </p:nvSpPr>
        <p:spPr>
          <a:xfrm>
            <a:off x="6263640" y="2148840"/>
            <a:ext cx="5376672" cy="804672"/>
          </a:xfrm>
          <a:prstGeom prst="roundRect">
            <a:avLst>
              <a:gd name="adj" fmla="val 2045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2" name="a4_t"/>
          <p:cNvSpPr txBox="1"/>
          <p:nvPr/>
        </p:nvSpPr>
        <p:spPr>
          <a:xfrm>
            <a:off x="6492240" y="2148840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umbral del 5 % era ambiguo</a:t>
            </a:r>
            <a:endParaRPr lang="es-ES" sz="1300" dirty="0"/>
          </a:p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contrastamos las dos lecturas: 5 puntos y 5 % relativo</a:t>
            </a:r>
            <a:endParaRPr lang="es-ES" sz="1300" dirty="0"/>
          </a:p>
        </p:txBody>
      </p:sp>
      <p:sp>
        <p:nvSpPr>
          <p:cNvPr id="23" name="a5_c"/>
          <p:cNvSpPr/>
          <p:nvPr/>
        </p:nvSpPr>
        <p:spPr>
          <a:xfrm>
            <a:off x="6263640" y="3063240"/>
            <a:ext cx="5376672" cy="804672"/>
          </a:xfrm>
          <a:prstGeom prst="roundRect">
            <a:avLst>
              <a:gd name="adj" fmla="val 2045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4" name="a5_t"/>
          <p:cNvSpPr txBox="1"/>
          <p:nvPr/>
        </p:nvSpPr>
        <p:spPr>
          <a:xfrm>
            <a:off x="6492240" y="3063240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reparto cambió a mitad del test</a:t>
            </a:r>
            <a:endParaRPr lang="es-ES" sz="1300" dirty="0"/>
          </a:p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separamos el análisis antes y después del 8 de mayo</a:t>
            </a:r>
            <a:endParaRPr lang="es-ES" sz="1300" dirty="0"/>
          </a:p>
        </p:txBody>
      </p:sp>
      <p:sp>
        <p:nvSpPr>
          <p:cNvPr id="25" name="a6_c"/>
          <p:cNvSpPr/>
          <p:nvPr/>
        </p:nvSpPr>
        <p:spPr>
          <a:xfrm>
            <a:off x="6263640" y="3977640"/>
            <a:ext cx="5376672" cy="804672"/>
          </a:xfrm>
          <a:prstGeom prst="roundRect">
            <a:avLst>
              <a:gd name="adj" fmla="val 20455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26" name="a6_t"/>
          <p:cNvSpPr txBox="1"/>
          <p:nvPr/>
        </p:nvSpPr>
        <p:spPr>
          <a:xfrm>
            <a:off x="6492240" y="3977640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primera prueba usaba una librería que no vimos</a:t>
            </a:r>
            <a:endParaRPr lang="es-ES" sz="1300" dirty="0"/>
          </a:p>
          <a:p>
            <a:pPr indent="0" marL="0">
              <a:buNone/>
            </a:pPr>
            <a:r>
              <a:rPr lang="es-ES" sz="1300" dirty="0">
                <a:solidFill>
                  <a:srgbClr val="9A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la rehicimos con lo visto en clase: da lo mismo</a:t>
            </a:r>
            <a:endParaRPr lang="es-ES" sz="1300" dirty="0"/>
          </a:p>
        </p:txBody>
      </p:sp>
      <p:sp>
        <p:nvSpPr>
          <p:cNvPr id="27" name="a7_c"/>
          <p:cNvSpPr/>
          <p:nvPr/>
        </p:nvSpPr>
        <p:spPr>
          <a:xfrm>
            <a:off x="6263640" y="4937760"/>
            <a:ext cx="5376672" cy="1188720"/>
          </a:xfrm>
          <a:prstGeom prst="roundRect">
            <a:avLst>
              <a:gd name="adj" fmla="val 1384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8" name="a7_t"/>
          <p:cNvSpPr txBox="1"/>
          <p:nvPr/>
        </p:nvSpPr>
        <p:spPr>
          <a:xfrm>
            <a:off x="6492240" y="493776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b="1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aprendimos: </a:t>
            </a:r>
            <a:pPr indent="0" marL="0">
              <a:buNone/>
            </a:pPr>
            <a:r>
              <a:rPr lang="es-ES" sz="1500" dirty="0">
                <a:solidFill>
                  <a:srgbClr val="0B14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significativo no es lo mismo que suficiente. Hay que mirar el tamaño de la diferencia y lo que cuesta.</a:t>
            </a:r>
            <a:endParaRPr lang="es-E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23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4" grpId="0" animBg="1"/>
      <p:bldP spid="26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2194560"/>
            <a:ext cx="6949440" cy="6949440"/>
          </a:xfrm>
          <a:prstGeom prst="ellipse">
            <a:avLst/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pic>
        <p:nvPicPr>
          <p:cNvPr id="3" name="a1_q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594360" cy="594360"/>
          </a:xfrm>
          <a:prstGeom prst="rect">
            <a:avLst/>
          </a:prstGeom>
        </p:spPr>
      </p:pic>
      <p:sp>
        <p:nvSpPr>
          <p:cNvPr id="4" name="a1_l1"/>
          <p:cNvSpPr txBox="1"/>
          <p:nvPr/>
        </p:nvSpPr>
        <p:spPr>
          <a:xfrm>
            <a:off x="548640" y="1600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6600" b="1" dirty="0">
                <a:solidFill>
                  <a:srgbClr val="F28E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+3,7 puntos reales.</a:t>
            </a:r>
            <a:endParaRPr lang="es-ES" sz="6600" dirty="0"/>
          </a:p>
        </p:txBody>
      </p:sp>
      <p:sp>
        <p:nvSpPr>
          <p:cNvPr id="5" name="a2_l2"/>
          <p:cNvSpPr txBox="1"/>
          <p:nvPr/>
        </p:nvSpPr>
        <p:spPr>
          <a:xfrm>
            <a:off x="548640" y="28346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36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que paguen el rediseño: arreglar step_1 y volver a medir.</a:t>
            </a:r>
            <a:endParaRPr lang="es-ES" sz="3600" dirty="0"/>
          </a:p>
        </p:txBody>
      </p:sp>
      <p:sp>
        <p:nvSpPr>
          <p:cNvPr id="6" name="a3_p0"/>
          <p:cNvSpPr/>
          <p:nvPr/>
        </p:nvSpPr>
        <p:spPr>
          <a:xfrm>
            <a:off x="548640" y="4709160"/>
            <a:ext cx="219456" cy="21945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" name="a3_p1"/>
          <p:cNvSpPr/>
          <p:nvPr/>
        </p:nvSpPr>
        <p:spPr>
          <a:xfrm>
            <a:off x="932688" y="4709160"/>
            <a:ext cx="219456" cy="21945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8" name="a3_p2"/>
          <p:cNvSpPr/>
          <p:nvPr/>
        </p:nvSpPr>
        <p:spPr>
          <a:xfrm>
            <a:off x="1316736" y="4709160"/>
            <a:ext cx="219456" cy="21945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a3_p3"/>
          <p:cNvSpPr/>
          <p:nvPr/>
        </p:nvSpPr>
        <p:spPr>
          <a:xfrm>
            <a:off x="1700784" y="4709160"/>
            <a:ext cx="219456" cy="21945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a3_p4"/>
          <p:cNvSpPr/>
          <p:nvPr/>
        </p:nvSpPr>
        <p:spPr>
          <a:xfrm>
            <a:off x="2084832" y="4709160"/>
            <a:ext cx="219456" cy="21945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a3_g"/>
          <p:cNvSpPr txBox="1"/>
          <p:nvPr/>
        </p:nvSpPr>
        <p:spPr>
          <a:xfrm>
            <a:off x="548640" y="5074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800" dirty="0">
                <a:solidFill>
                  <a:srgbClr val="9AA8B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Gracias. ¿Preguntas?</a:t>
            </a:r>
            <a:endParaRPr lang="es-ES" sz="2800" dirty="0"/>
          </a:p>
        </p:txBody>
      </p:sp>
      <p:sp>
        <p:nvSpPr>
          <p:cNvPr id="12" name="a3_n"/>
          <p:cNvSpPr txBox="1"/>
          <p:nvPr/>
        </p:nvSpPr>
        <p:spPr>
          <a:xfrm>
            <a:off x="54864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500" dirty="0">
                <a:solidFill>
                  <a:srgbClr val="6B7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João Miguel Pais  ·  Emmanuel Chukwuemeka Amadi Agebi</a:t>
            </a:r>
            <a:endParaRPr lang="es-E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24</a:t>
            </a:fld>
            <a:endParaRPr lang="es-E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Todos los contrastes (α = 0,05)</a:t>
            </a:r>
            <a:endParaRPr lang="es-E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ANEXO</a:t>
            </a:r>
            <a:endParaRPr lang="es-E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017520"/>
                <a:gridCol w="2286000"/>
                <a:gridCol w="3291840"/>
                <a:gridCol w="15819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0B14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E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0B14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Hipótesis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E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0B14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Contraste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E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0B14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Resultado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E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0B14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Conclusión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E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H1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 tasa de finalización es distinta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 de Welch y chi-cuadrado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+3,7 pts, p &lt; 0,0001; V de Cramér 0,04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Sí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H2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 mejora llega a 5 puntos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 de Welch, una cola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 ≈ 1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H2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 mejora llega al 5 % relativo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 de Welch, una cola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casi 6 % observado, p = 0,16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demostrado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H3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 ventaja cambia con la edad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 de Welch por tramo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+7 / +3 / +2 / +5 pts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Ventaja en todos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H4 · E3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Los grupos tienen el mismo perfil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 de Welch y chi-cuadrado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Diferencias mínimas (0,3 años de edad)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Equivalentes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H5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Más clientes con errores en el Test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 de Welch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33 % frente a 26 %, p &lt; 0,0001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Sí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H6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 ventaja se mantiene en el tiempo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 de Welch por mes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+5 → casi 0 (junio, p = 0,77)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Baja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H7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Más errores en los mayores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 de Welch por tramo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+3 / +5 / +10 / +11 pts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Crece con la edad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H8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 tiempo por paso es distinto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 de Welch por paso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 más rápido salvo en step_1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Sí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H9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Más clics por cliente en el Test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 de Welch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6,6 frente a 6,0, p &lt; 0,0001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Sí: más vueltas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E1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Reparto 50/50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Binomial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53 % en el Test, p &lt; 0,0001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fue 50/50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E2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Reparto igual cada semana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Chi-cuadrado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Cambio el 8 de mayo, p &lt; 0,0001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s-ES" sz="1200" b="1" dirty="0">
                          <a:solidFill>
                            <a:srgbClr val="F5F7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s-E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25</a:t>
            </a:fld>
            <a:endParaRPr lang="es-ES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s-ES" sz="3400" b="1" dirty="0">
                <a:solidFill>
                  <a:srgbClr val="F5F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Limitaciones y datos que faltan</a:t>
            </a:r>
            <a:endParaRPr lang="es-E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spc="300" kern="0" dirty="0">
                <a:solidFill>
                  <a:srgbClr val="F28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ANEXO</a:t>
            </a:r>
            <a:endParaRPr lang="es-E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3789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2011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100" b="1" dirty="0">
                <a:solidFill>
                  <a:srgbClr val="FF5C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Limitaciones</a:t>
            </a:r>
            <a:endParaRPr lang="es-E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8803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reparto no fue 50/50 y cambió el 8 de mayo</a:t>
            </a:r>
            <a:endParaRPr lang="es-E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ventaja baja con el tiempo; junio tiene pocos días</a:t>
            </a:r>
            <a:endParaRPr lang="es-E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«Error» = paso hacia atrás, sin mensajes de error reales</a:t>
            </a:r>
            <a:endParaRPr lang="es-E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34 % de clientes sin género; los accesos parecen tener un tope en 9</a:t>
            </a:r>
            <a:endParaRPr lang="es-ES" sz="1500" dirty="0"/>
          </a:p>
        </p:txBody>
      </p:sp>
      <p:sp>
        <p:nvSpPr>
          <p:cNvPr id="8" name="Shape 5"/>
          <p:cNvSpPr/>
          <p:nvPr/>
        </p:nvSpPr>
        <p:spPr>
          <a:xfrm>
            <a:off x="6245352" y="1783080"/>
            <a:ext cx="5394960" cy="4343400"/>
          </a:xfrm>
          <a:prstGeom prst="roundRect">
            <a:avLst>
              <a:gd name="adj" fmla="val 3789"/>
            </a:avLst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0574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96912" y="2011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100" b="1" dirty="0">
                <a:solidFill>
                  <a:srgbClr val="6C9B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Datos que pediríamos</a:t>
            </a:r>
            <a:endParaRPr lang="es-E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6656832" y="28803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de cada proceso completado y coste del diseño</a:t>
            </a:r>
            <a:endParaRPr lang="es-E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Dispositivo (móvil u ordenador) y mensajes de error</a:t>
            </a:r>
            <a:endParaRPr lang="es-E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Campañas de cada semana (¿por qué los miércoles?)</a:t>
            </a:r>
            <a:endParaRPr lang="es-E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S" sz="1500" dirty="0">
                <a:solidFill>
                  <a:srgbClr val="F5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Motivo del cambio de reparto del 8 de mayo</a:t>
            </a:r>
            <a:endParaRPr lang="es-E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s-ES"/>
              <a:t>26</a:t>
            </a:fld>
            <a:endParaRPr lang="es-ES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Vanguard AB v3">
  <a:themeElements>
    <a:clrScheme name="Vanguard AB v3">
      <a:dk1>
        <a:srgbClr val="0B1424"/>
      </a:dk1>
      <a:lt1>
        <a:srgbClr val="F5F7FA"/>
      </a:lt1>
      <a:dk2>
        <a:srgbClr val="15233A"/>
      </a:dk2>
      <a:lt2>
        <a:srgbClr val="E8EDF4"/>
      </a:lt2>
      <a:accent1>
        <a:srgbClr val="6C9BD2"/>
      </a:accent1>
      <a:accent2>
        <a:srgbClr val="F28E2B"/>
      </a:accent2>
      <a:accent3>
        <a:srgbClr val="FF5C6C"/>
      </a:accent3>
      <a:accent4>
        <a:srgbClr val="3DD68C"/>
      </a:accent4>
      <a:accent5>
        <a:srgbClr val="76B7B2"/>
      </a:accent5>
      <a:accent6>
        <a:srgbClr val="B07AA1"/>
      </a:accent6>
      <a:hlink>
        <a:srgbClr val="6C9BD2"/>
      </a:hlink>
      <a:folHlink>
        <a:srgbClr val="9AA8BD"/>
      </a:folHlink>
    </a:clrScheme>
    <a:fontScheme name="Vanguard AB v3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Vanguard · ¿Vale lo que cuesta?</dc:title>
  <dc:subject>PptxGenJS Presentation</dc:subject>
  <dc:creator>João Miguel Pais y Emmanuel Chukwuemeka Amadi Agebi</dc:creator>
  <cp:lastModifiedBy>João Miguel Pais y Emmanuel Chukwuemeka Amadi Agebi</cp:lastModifiedBy>
  <cp:revision>1</cp:revision>
  <dcterms:created xsi:type="dcterms:W3CDTF">2026-10-28T09:15:50Z</dcterms:created>
  <dcterms:modified xsi:type="dcterms:W3CDTF">2026-10-28T09:15:50Z</dcterms:modified>
</cp:coreProperties>
</file>